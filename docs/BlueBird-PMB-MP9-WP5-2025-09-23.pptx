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10" r:id="rId4"/>
  </p:sldMasterIdLst>
  <p:notesMasterIdLst>
    <p:notesMasterId r:id="rId28"/>
  </p:notesMasterIdLst>
  <p:handoutMasterIdLst>
    <p:handoutMasterId r:id="rId29"/>
  </p:handoutMasterIdLst>
  <p:sldIdLst>
    <p:sldId id="441" r:id="rId5"/>
    <p:sldId id="2145705491" r:id="rId6"/>
    <p:sldId id="2145705489" r:id="rId7"/>
    <p:sldId id="2145705493" r:id="rId8"/>
    <p:sldId id="2145705505" r:id="rId9"/>
    <p:sldId id="2145705506" r:id="rId10"/>
    <p:sldId id="2145705472" r:id="rId11"/>
    <p:sldId id="2145705429" r:id="rId12"/>
    <p:sldId id="2145705431" r:id="rId13"/>
    <p:sldId id="2145705471" r:id="rId14"/>
    <p:sldId id="2145705469" r:id="rId15"/>
    <p:sldId id="2145705470" r:id="rId16"/>
    <p:sldId id="2145705507" r:id="rId17"/>
    <p:sldId id="2145705501" r:id="rId18"/>
    <p:sldId id="2145705495" r:id="rId19"/>
    <p:sldId id="2145705496" r:id="rId20"/>
    <p:sldId id="2145705500" r:id="rId21"/>
    <p:sldId id="2145705502" r:id="rId22"/>
    <p:sldId id="2145705503" r:id="rId23"/>
    <p:sldId id="2145705485" r:id="rId24"/>
    <p:sldId id="2145705487" r:id="rId25"/>
    <p:sldId id="2145705488" r:id="rId26"/>
    <p:sldId id="2145705468" r:id="rId27"/>
  </p:sldIdLst>
  <p:sldSz cx="12192000" cy="6858000"/>
  <p:notesSz cx="7315200" cy="9601200"/>
  <p:defaultTextStyle>
    <a:defPPr>
      <a:defRPr lang="en-US"/>
    </a:defPPr>
    <a:lvl1pPr algn="l" rtl="0" fontAlgn="base">
      <a:spcBef>
        <a:spcPct val="0"/>
      </a:spcBef>
      <a:spcAft>
        <a:spcPct val="0"/>
      </a:spcAft>
      <a:defRPr sz="1600" kern="1200">
        <a:solidFill>
          <a:schemeClr val="tx1"/>
        </a:solidFill>
        <a:latin typeface="Arial" charset="0"/>
        <a:ea typeface="+mn-ea"/>
        <a:cs typeface="Arial" charset="0"/>
      </a:defRPr>
    </a:lvl1pPr>
    <a:lvl2pPr marL="457200" algn="l" rtl="0" fontAlgn="base">
      <a:spcBef>
        <a:spcPct val="0"/>
      </a:spcBef>
      <a:spcAft>
        <a:spcPct val="0"/>
      </a:spcAft>
      <a:defRPr sz="1600" kern="1200">
        <a:solidFill>
          <a:schemeClr val="tx1"/>
        </a:solidFill>
        <a:latin typeface="Arial" charset="0"/>
        <a:ea typeface="+mn-ea"/>
        <a:cs typeface="Arial" charset="0"/>
      </a:defRPr>
    </a:lvl2pPr>
    <a:lvl3pPr marL="914400" algn="l" rtl="0" fontAlgn="base">
      <a:spcBef>
        <a:spcPct val="0"/>
      </a:spcBef>
      <a:spcAft>
        <a:spcPct val="0"/>
      </a:spcAft>
      <a:defRPr sz="1600" kern="1200">
        <a:solidFill>
          <a:schemeClr val="tx1"/>
        </a:solidFill>
        <a:latin typeface="Arial" charset="0"/>
        <a:ea typeface="+mn-ea"/>
        <a:cs typeface="Arial" charset="0"/>
      </a:defRPr>
    </a:lvl3pPr>
    <a:lvl4pPr marL="1371600" algn="l" rtl="0" fontAlgn="base">
      <a:spcBef>
        <a:spcPct val="0"/>
      </a:spcBef>
      <a:spcAft>
        <a:spcPct val="0"/>
      </a:spcAft>
      <a:defRPr sz="1600" kern="1200">
        <a:solidFill>
          <a:schemeClr val="tx1"/>
        </a:solidFill>
        <a:latin typeface="Arial" charset="0"/>
        <a:ea typeface="+mn-ea"/>
        <a:cs typeface="Arial" charset="0"/>
      </a:defRPr>
    </a:lvl4pPr>
    <a:lvl5pPr marL="1828800" algn="l" rtl="0" fontAlgn="base">
      <a:spcBef>
        <a:spcPct val="0"/>
      </a:spcBef>
      <a:spcAft>
        <a:spcPct val="0"/>
      </a:spcAft>
      <a:defRPr sz="1600" kern="1200">
        <a:solidFill>
          <a:schemeClr val="tx1"/>
        </a:solidFill>
        <a:latin typeface="Arial" charset="0"/>
        <a:ea typeface="+mn-ea"/>
        <a:cs typeface="Arial" charset="0"/>
      </a:defRPr>
    </a:lvl5pPr>
    <a:lvl6pPr marL="2286000" algn="l" defTabSz="914400" rtl="0" eaLnBrk="1" latinLnBrk="0" hangingPunct="1">
      <a:defRPr sz="1600" kern="1200">
        <a:solidFill>
          <a:schemeClr val="tx1"/>
        </a:solidFill>
        <a:latin typeface="Arial" charset="0"/>
        <a:ea typeface="+mn-ea"/>
        <a:cs typeface="Arial" charset="0"/>
      </a:defRPr>
    </a:lvl6pPr>
    <a:lvl7pPr marL="2743200" algn="l" defTabSz="914400" rtl="0" eaLnBrk="1" latinLnBrk="0" hangingPunct="1">
      <a:defRPr sz="1600" kern="1200">
        <a:solidFill>
          <a:schemeClr val="tx1"/>
        </a:solidFill>
        <a:latin typeface="Arial" charset="0"/>
        <a:ea typeface="+mn-ea"/>
        <a:cs typeface="Arial" charset="0"/>
      </a:defRPr>
    </a:lvl7pPr>
    <a:lvl8pPr marL="3200400" algn="l" defTabSz="914400" rtl="0" eaLnBrk="1" latinLnBrk="0" hangingPunct="1">
      <a:defRPr sz="1600" kern="1200">
        <a:solidFill>
          <a:schemeClr val="tx1"/>
        </a:solidFill>
        <a:latin typeface="Arial" charset="0"/>
        <a:ea typeface="+mn-ea"/>
        <a:cs typeface="Arial" charset="0"/>
      </a:defRPr>
    </a:lvl8pPr>
    <a:lvl9pPr marL="3657600" algn="l" defTabSz="914400" rtl="0" eaLnBrk="1" latinLnBrk="0" hangingPunct="1">
      <a:defRPr sz="16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D2F0"/>
    <a:srgbClr val="D9D9D9"/>
    <a:srgbClr val="E6E6E6"/>
    <a:srgbClr val="00CC99"/>
    <a:srgbClr val="354691"/>
    <a:srgbClr val="00166A"/>
    <a:srgbClr val="1643A5"/>
    <a:srgbClr val="FFFFFF"/>
    <a:srgbClr val="F66C41"/>
    <a:srgbClr val="0066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DC2DFA-7724-5757-D4EB-F0DBF8977842}" v="37" dt="2025-09-23T11:29:16.122"/>
    <p1510:client id="{39761F01-8500-2494-A428-F9D9EE309FE0}" v="10" dt="2025-09-23T11:44:54.440"/>
  </p1510:revLst>
</p1510:revInfo>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8514" name="Rectangle 2"/>
          <p:cNvSpPr>
            <a:spLocks noGrp="1" noChangeArrowheads="1"/>
          </p:cNvSpPr>
          <p:nvPr>
            <p:ph type="hdr" sz="quarter"/>
          </p:nvPr>
        </p:nvSpPr>
        <p:spPr bwMode="auto">
          <a:xfrm>
            <a:off x="0"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defRPr sz="1300"/>
            </a:lvl1pPr>
          </a:lstStyle>
          <a:p>
            <a:pPr>
              <a:defRPr/>
            </a:pPr>
            <a:endParaRPr lang="en-US"/>
          </a:p>
        </p:txBody>
      </p:sp>
      <p:sp>
        <p:nvSpPr>
          <p:cNvPr id="448515" name="Rectangle 3"/>
          <p:cNvSpPr>
            <a:spLocks noGrp="1" noChangeArrowheads="1"/>
          </p:cNvSpPr>
          <p:nvPr>
            <p:ph type="dt" sz="quarter" idx="1"/>
          </p:nvPr>
        </p:nvSpPr>
        <p:spPr bwMode="auto">
          <a:xfrm>
            <a:off x="4143213"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lgn="r">
              <a:defRPr sz="1300"/>
            </a:lvl1pPr>
          </a:lstStyle>
          <a:p>
            <a:pPr>
              <a:defRPr/>
            </a:pPr>
            <a:endParaRPr lang="en-US"/>
          </a:p>
        </p:txBody>
      </p:sp>
      <p:sp>
        <p:nvSpPr>
          <p:cNvPr id="448516" name="Rectangle 4"/>
          <p:cNvSpPr>
            <a:spLocks noGrp="1" noChangeArrowheads="1"/>
          </p:cNvSpPr>
          <p:nvPr>
            <p:ph type="ftr" sz="quarter" idx="2"/>
          </p:nvPr>
        </p:nvSpPr>
        <p:spPr bwMode="auto">
          <a:xfrm>
            <a:off x="0"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defRPr sz="1300"/>
            </a:lvl1pPr>
          </a:lstStyle>
          <a:p>
            <a:pPr>
              <a:defRPr/>
            </a:pPr>
            <a:endParaRPr lang="en-US"/>
          </a:p>
        </p:txBody>
      </p:sp>
      <p:sp>
        <p:nvSpPr>
          <p:cNvPr id="448517" name="Rectangle 5"/>
          <p:cNvSpPr>
            <a:spLocks noGrp="1" noChangeArrowheads="1"/>
          </p:cNvSpPr>
          <p:nvPr>
            <p:ph type="sldNum" sz="quarter" idx="3"/>
          </p:nvPr>
        </p:nvSpPr>
        <p:spPr bwMode="auto">
          <a:xfrm>
            <a:off x="4143213"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lgn="r">
              <a:defRPr sz="1300"/>
            </a:lvl1pPr>
          </a:lstStyle>
          <a:p>
            <a:pPr>
              <a:defRPr/>
            </a:pPr>
            <a:fld id="{3995E533-E32F-4BB7-A2C7-95796231553E}" type="slidenum">
              <a:rPr lang="en-US"/>
              <a:pPr>
                <a:defRPr/>
              </a:pPr>
              <a:t>‹#›</a:t>
            </a:fld>
            <a:endParaRPr lang="en-US"/>
          </a:p>
        </p:txBody>
      </p:sp>
    </p:spTree>
    <p:extLst>
      <p:ext uri="{BB962C8B-B14F-4D97-AF65-F5344CB8AC3E}">
        <p14:creationId xmlns:p14="http://schemas.microsoft.com/office/powerpoint/2010/main" val="343352339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50562" name="Rectangle 2"/>
          <p:cNvSpPr>
            <a:spLocks noGrp="1" noChangeArrowheads="1"/>
          </p:cNvSpPr>
          <p:nvPr>
            <p:ph type="hdr" sz="quarter"/>
          </p:nvPr>
        </p:nvSpPr>
        <p:spPr bwMode="auto">
          <a:xfrm>
            <a:off x="0"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defRPr sz="1300"/>
            </a:lvl1pPr>
          </a:lstStyle>
          <a:p>
            <a:pPr>
              <a:defRPr/>
            </a:pPr>
            <a:endParaRPr lang="en-US"/>
          </a:p>
        </p:txBody>
      </p:sp>
      <p:sp>
        <p:nvSpPr>
          <p:cNvPr id="450563" name="Rectangle 3"/>
          <p:cNvSpPr>
            <a:spLocks noGrp="1" noChangeArrowheads="1"/>
          </p:cNvSpPr>
          <p:nvPr>
            <p:ph type="dt" idx="1"/>
          </p:nvPr>
        </p:nvSpPr>
        <p:spPr bwMode="auto">
          <a:xfrm>
            <a:off x="4143213" y="1"/>
            <a:ext cx="3170265" cy="479752"/>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lvl1pPr algn="r">
              <a:defRPr sz="1300"/>
            </a:lvl1pPr>
          </a:lstStyle>
          <a:p>
            <a:pPr>
              <a:defRPr/>
            </a:pPr>
            <a:endParaRPr lang="en-US"/>
          </a:p>
        </p:txBody>
      </p:sp>
      <p:sp>
        <p:nvSpPr>
          <p:cNvPr id="20484" name="Rectangle 4"/>
          <p:cNvSpPr>
            <a:spLocks noGrp="1" noRot="1" noChangeAspect="1" noChangeArrowheads="1" noTextEdit="1"/>
          </p:cNvSpPr>
          <p:nvPr>
            <p:ph type="sldImg" idx="2"/>
          </p:nvPr>
        </p:nvSpPr>
        <p:spPr bwMode="auto">
          <a:xfrm>
            <a:off x="458788" y="720725"/>
            <a:ext cx="6400800" cy="3600450"/>
          </a:xfrm>
          <a:prstGeom prst="rect">
            <a:avLst/>
          </a:prstGeom>
          <a:noFill/>
          <a:ln w="9525">
            <a:solidFill>
              <a:srgbClr val="000000"/>
            </a:solidFill>
            <a:miter lim="800000"/>
            <a:headEnd/>
            <a:tailEnd/>
          </a:ln>
        </p:spPr>
      </p:sp>
      <p:sp>
        <p:nvSpPr>
          <p:cNvPr id="450565" name="Rectangle 5"/>
          <p:cNvSpPr>
            <a:spLocks noGrp="1" noChangeArrowheads="1"/>
          </p:cNvSpPr>
          <p:nvPr>
            <p:ph type="body" sz="quarter" idx="3"/>
          </p:nvPr>
        </p:nvSpPr>
        <p:spPr bwMode="auto">
          <a:xfrm>
            <a:off x="731866" y="4559956"/>
            <a:ext cx="5851471" cy="4320849"/>
          </a:xfrm>
          <a:prstGeom prst="rect">
            <a:avLst/>
          </a:prstGeom>
          <a:noFill/>
          <a:ln w="9525">
            <a:noFill/>
            <a:miter lim="800000"/>
            <a:headEnd/>
            <a:tailEnd/>
          </a:ln>
          <a:effectLst/>
        </p:spPr>
        <p:txBody>
          <a:bodyPr vert="horz" wrap="square" lIns="91670" tIns="45835" rIns="91670" bIns="45835"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50566" name="Rectangle 6"/>
          <p:cNvSpPr>
            <a:spLocks noGrp="1" noChangeArrowheads="1"/>
          </p:cNvSpPr>
          <p:nvPr>
            <p:ph type="ftr" sz="quarter" idx="4"/>
          </p:nvPr>
        </p:nvSpPr>
        <p:spPr bwMode="auto">
          <a:xfrm>
            <a:off x="0"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defRPr sz="1300"/>
            </a:lvl1pPr>
          </a:lstStyle>
          <a:p>
            <a:pPr>
              <a:defRPr/>
            </a:pPr>
            <a:endParaRPr lang="en-US"/>
          </a:p>
        </p:txBody>
      </p:sp>
      <p:sp>
        <p:nvSpPr>
          <p:cNvPr id="450567" name="Rectangle 7"/>
          <p:cNvSpPr>
            <a:spLocks noGrp="1" noChangeArrowheads="1"/>
          </p:cNvSpPr>
          <p:nvPr>
            <p:ph type="sldNum" sz="quarter" idx="5"/>
          </p:nvPr>
        </p:nvSpPr>
        <p:spPr bwMode="auto">
          <a:xfrm>
            <a:off x="4143213" y="9119908"/>
            <a:ext cx="3170265" cy="479752"/>
          </a:xfrm>
          <a:prstGeom prst="rect">
            <a:avLst/>
          </a:prstGeom>
          <a:noFill/>
          <a:ln w="9525">
            <a:noFill/>
            <a:miter lim="800000"/>
            <a:headEnd/>
            <a:tailEnd/>
          </a:ln>
          <a:effectLst/>
        </p:spPr>
        <p:txBody>
          <a:bodyPr vert="horz" wrap="square" lIns="91670" tIns="45835" rIns="91670" bIns="45835" numCol="1" anchor="b" anchorCtr="0" compatLnSpc="1">
            <a:prstTxWarp prst="textNoShape">
              <a:avLst/>
            </a:prstTxWarp>
          </a:bodyPr>
          <a:lstStyle>
            <a:lvl1pPr algn="r">
              <a:defRPr sz="1300"/>
            </a:lvl1pPr>
          </a:lstStyle>
          <a:p>
            <a:pPr>
              <a:defRPr/>
            </a:pPr>
            <a:fld id="{C47D07E1-450F-4D21-88F2-2F1F63C1D3B1}" type="slidenum">
              <a:rPr lang="en-US"/>
              <a:pPr>
                <a:defRPr/>
              </a:pPr>
              <a:t>‹#›</a:t>
            </a:fld>
            <a:endParaRPr lang="en-US"/>
          </a:p>
        </p:txBody>
      </p:sp>
    </p:spTree>
    <p:extLst>
      <p:ext uri="{BB962C8B-B14F-4D97-AF65-F5344CB8AC3E}">
        <p14:creationId xmlns:p14="http://schemas.microsoft.com/office/powerpoint/2010/main" val="454309037"/>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normAutofit/>
          </a:bodyPr>
          <a:lstStyle/>
          <a:p>
            <a:endParaRPr lang="nl-BE"/>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1</a:t>
            </a:fld>
            <a:endParaRPr lang="en-US"/>
          </a:p>
        </p:txBody>
      </p:sp>
    </p:spTree>
    <p:extLst>
      <p:ext uri="{BB962C8B-B14F-4D97-AF65-F5344CB8AC3E}">
        <p14:creationId xmlns:p14="http://schemas.microsoft.com/office/powerpoint/2010/main" val="23742366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obrazu slajdu 1"/>
          <p:cNvSpPr>
            <a:spLocks noGrp="1" noRot="1" noChangeAspect="1"/>
          </p:cNvSpPr>
          <p:nvPr>
            <p:ph type="sldImg"/>
          </p:nvPr>
        </p:nvSpPr>
        <p:spPr/>
      </p:sp>
      <p:sp>
        <p:nvSpPr>
          <p:cNvPr id="3" name="Symbol zastępczy notatek 2"/>
          <p:cNvSpPr>
            <a:spLocks noGrp="1"/>
          </p:cNvSpPr>
          <p:nvPr>
            <p:ph type="body" idx="1"/>
          </p:nvPr>
        </p:nvSpPr>
        <p:spPr/>
        <p:txBody>
          <a:bodyPr/>
          <a:lstStyle/>
          <a:p>
            <a:endParaRPr lang="pl-PL"/>
          </a:p>
        </p:txBody>
      </p:sp>
      <p:sp>
        <p:nvSpPr>
          <p:cNvPr id="4" name="Symbol zastępczy numeru slajdu 3"/>
          <p:cNvSpPr>
            <a:spLocks noGrp="1"/>
          </p:cNvSpPr>
          <p:nvPr>
            <p:ph type="sldNum" sz="quarter" idx="5"/>
          </p:nvPr>
        </p:nvSpPr>
        <p:spPr/>
        <p:txBody>
          <a:bodyPr/>
          <a:lstStyle/>
          <a:p>
            <a:pPr>
              <a:defRPr/>
            </a:pPr>
            <a:fld id="{C47D07E1-450F-4D21-88F2-2F1F63C1D3B1}" type="slidenum">
              <a:rPr lang="en-US" smtClean="0"/>
              <a:pPr>
                <a:defRPr/>
              </a:pPr>
              <a:t>2</a:t>
            </a:fld>
            <a:endParaRPr lang="en-US"/>
          </a:p>
        </p:txBody>
      </p:sp>
    </p:spTree>
    <p:extLst>
      <p:ext uri="{BB962C8B-B14F-4D97-AF65-F5344CB8AC3E}">
        <p14:creationId xmlns:p14="http://schemas.microsoft.com/office/powerpoint/2010/main" val="34023099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F1C2C-3E35-B58C-B6B7-93FE3904F453}"/>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A59286B4-96C4-4D9F-AEDF-CF5C71580F7C}"/>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AE301067-18E8-F00C-73B1-7CAA4378051D}"/>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35F15D1B-7AF7-2286-771B-A6F3B5EC8992}"/>
              </a:ext>
            </a:extLst>
          </p:cNvPr>
          <p:cNvSpPr>
            <a:spLocks noGrp="1"/>
          </p:cNvSpPr>
          <p:nvPr>
            <p:ph type="sldNum" sz="quarter" idx="5"/>
          </p:nvPr>
        </p:nvSpPr>
        <p:spPr/>
        <p:txBody>
          <a:bodyPr/>
          <a:lstStyle/>
          <a:p>
            <a:pPr>
              <a:defRPr/>
            </a:pPr>
            <a:fld id="{C47D07E1-450F-4D21-88F2-2F1F63C1D3B1}" type="slidenum">
              <a:rPr lang="en-US" smtClean="0"/>
              <a:pPr>
                <a:defRPr/>
              </a:pPr>
              <a:t>4</a:t>
            </a:fld>
            <a:endParaRPr lang="en-US"/>
          </a:p>
        </p:txBody>
      </p:sp>
    </p:spTree>
    <p:extLst>
      <p:ext uri="{BB962C8B-B14F-4D97-AF65-F5344CB8AC3E}">
        <p14:creationId xmlns:p14="http://schemas.microsoft.com/office/powerpoint/2010/main" val="16455205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normAutofit/>
          </a:bodyPr>
          <a:lstStyle/>
          <a:p>
            <a:endParaRPr lang="nl-BE"/>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5</a:t>
            </a:fld>
            <a:endParaRPr lang="en-US"/>
          </a:p>
        </p:txBody>
      </p:sp>
    </p:spTree>
    <p:extLst>
      <p:ext uri="{BB962C8B-B14F-4D97-AF65-F5344CB8AC3E}">
        <p14:creationId xmlns:p14="http://schemas.microsoft.com/office/powerpoint/2010/main" val="2374236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normAutofit/>
          </a:bodyPr>
          <a:lstStyle/>
          <a:p>
            <a:endParaRPr lang="nl-BE"/>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6</a:t>
            </a:fld>
            <a:endParaRPr lang="en-US"/>
          </a:p>
        </p:txBody>
      </p:sp>
    </p:spTree>
    <p:extLst>
      <p:ext uri="{BB962C8B-B14F-4D97-AF65-F5344CB8AC3E}">
        <p14:creationId xmlns:p14="http://schemas.microsoft.com/office/powerpoint/2010/main" val="1850294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5A83A9-5214-3054-9CAE-3298E0CFD1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26E1E-8BB6-30D1-7E55-68773F68EB67}"/>
              </a:ext>
            </a:extLst>
          </p:cNvPr>
          <p:cNvSpPr>
            <a:spLocks noGrp="1" noRot="1" noChangeAspect="1"/>
          </p:cNvSpPr>
          <p:nvPr>
            <p:ph type="sldImg"/>
          </p:nvPr>
        </p:nvSpPr>
        <p:spPr>
          <a:xfrm>
            <a:off x="458788" y="720725"/>
            <a:ext cx="6400800" cy="3600450"/>
          </a:xfrm>
        </p:spPr>
      </p:sp>
      <p:sp>
        <p:nvSpPr>
          <p:cNvPr id="3" name="Notes Placeholder 2">
            <a:extLst>
              <a:ext uri="{FF2B5EF4-FFF2-40B4-BE49-F238E27FC236}">
                <a16:creationId xmlns:a16="http://schemas.microsoft.com/office/drawing/2014/main" id="{AE5F3466-D9C7-FEDD-FC32-666259D0957D}"/>
              </a:ext>
            </a:extLst>
          </p:cNvPr>
          <p:cNvSpPr>
            <a:spLocks noGrp="1"/>
          </p:cNvSpPr>
          <p:nvPr>
            <p:ph type="body" idx="1"/>
          </p:nvPr>
        </p:nvSpPr>
        <p:spPr/>
        <p:txBody>
          <a:bodyPr>
            <a:normAutofit/>
          </a:bodyPr>
          <a:lstStyle/>
          <a:p>
            <a:endParaRPr lang="nl-BE"/>
          </a:p>
        </p:txBody>
      </p:sp>
      <p:sp>
        <p:nvSpPr>
          <p:cNvPr id="4" name="Slide Number Placeholder 3">
            <a:extLst>
              <a:ext uri="{FF2B5EF4-FFF2-40B4-BE49-F238E27FC236}">
                <a16:creationId xmlns:a16="http://schemas.microsoft.com/office/drawing/2014/main" id="{51B114C9-CEC5-7E6D-714D-4B042A7653C9}"/>
              </a:ext>
            </a:extLst>
          </p:cNvPr>
          <p:cNvSpPr>
            <a:spLocks noGrp="1"/>
          </p:cNvSpPr>
          <p:nvPr>
            <p:ph type="sldNum" sz="quarter" idx="10"/>
          </p:nvPr>
        </p:nvSpPr>
        <p:spPr/>
        <p:txBody>
          <a:bodyPr/>
          <a:lstStyle/>
          <a:p>
            <a:pPr>
              <a:defRPr/>
            </a:pPr>
            <a:fld id="{C47D07E1-450F-4D21-88F2-2F1F63C1D3B1}" type="slidenum">
              <a:rPr lang="en-US" smtClean="0"/>
              <a:pPr>
                <a:defRPr/>
              </a:pPr>
              <a:t>7</a:t>
            </a:fld>
            <a:endParaRPr lang="en-US"/>
          </a:p>
        </p:txBody>
      </p:sp>
    </p:spTree>
    <p:extLst>
      <p:ext uri="{BB962C8B-B14F-4D97-AF65-F5344CB8AC3E}">
        <p14:creationId xmlns:p14="http://schemas.microsoft.com/office/powerpoint/2010/main" val="3223099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9</a:t>
            </a:fld>
            <a:endParaRPr lang="en-US"/>
          </a:p>
        </p:txBody>
      </p:sp>
    </p:spTree>
    <p:extLst>
      <p:ext uri="{BB962C8B-B14F-4D97-AF65-F5344CB8AC3E}">
        <p14:creationId xmlns:p14="http://schemas.microsoft.com/office/powerpoint/2010/main" val="1738173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12</a:t>
            </a:fld>
            <a:endParaRPr lang="en-US"/>
          </a:p>
        </p:txBody>
      </p:sp>
    </p:spTree>
    <p:extLst>
      <p:ext uri="{BB962C8B-B14F-4D97-AF65-F5344CB8AC3E}">
        <p14:creationId xmlns:p14="http://schemas.microsoft.com/office/powerpoint/2010/main" val="27940040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13</a:t>
            </a:fld>
            <a:endParaRPr lang="en-US"/>
          </a:p>
        </p:txBody>
      </p:sp>
    </p:spTree>
    <p:extLst>
      <p:ext uri="{BB962C8B-B14F-4D97-AF65-F5344CB8AC3E}">
        <p14:creationId xmlns:p14="http://schemas.microsoft.com/office/powerpoint/2010/main" val="2821728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35B22-0087-A41D-A0D1-3484B806D6B4}"/>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ABAD4026-2A46-D1C3-538B-57816132FBBD}"/>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E7106813-201C-8E91-2154-C56187E5CF14}"/>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98ABC6A9-829F-786F-0AD3-3C50C5EB0801}"/>
              </a:ext>
            </a:extLst>
          </p:cNvPr>
          <p:cNvSpPr>
            <a:spLocks noGrp="1"/>
          </p:cNvSpPr>
          <p:nvPr>
            <p:ph type="sldNum" sz="quarter" idx="5"/>
          </p:nvPr>
        </p:nvSpPr>
        <p:spPr/>
        <p:txBody>
          <a:bodyPr/>
          <a:lstStyle/>
          <a:p>
            <a:pPr>
              <a:defRPr/>
            </a:pPr>
            <a:fld id="{C47D07E1-450F-4D21-88F2-2F1F63C1D3B1}" type="slidenum">
              <a:rPr lang="en-US" smtClean="0"/>
              <a:pPr>
                <a:defRPr/>
              </a:pPr>
              <a:t>15</a:t>
            </a:fld>
            <a:endParaRPr lang="en-US"/>
          </a:p>
        </p:txBody>
      </p:sp>
    </p:spTree>
    <p:extLst>
      <p:ext uri="{BB962C8B-B14F-4D97-AF65-F5344CB8AC3E}">
        <p14:creationId xmlns:p14="http://schemas.microsoft.com/office/powerpoint/2010/main" val="18421201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5452A-36AF-C756-E86C-9568999E34F0}"/>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D5DAA76E-5707-0F0F-E146-13B3D251FF87}"/>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917D55E4-2B64-E635-EB65-363242A277FC}"/>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7FBBC442-8968-AD0A-34FF-7FA608A6E161}"/>
              </a:ext>
            </a:extLst>
          </p:cNvPr>
          <p:cNvSpPr>
            <a:spLocks noGrp="1"/>
          </p:cNvSpPr>
          <p:nvPr>
            <p:ph type="sldNum" sz="quarter" idx="5"/>
          </p:nvPr>
        </p:nvSpPr>
        <p:spPr/>
        <p:txBody>
          <a:bodyPr/>
          <a:lstStyle/>
          <a:p>
            <a:pPr>
              <a:defRPr/>
            </a:pPr>
            <a:fld id="{C47D07E1-450F-4D21-88F2-2F1F63C1D3B1}" type="slidenum">
              <a:rPr lang="en-US" smtClean="0"/>
              <a:pPr>
                <a:defRPr/>
              </a:pPr>
              <a:t>16</a:t>
            </a:fld>
            <a:endParaRPr lang="en-US"/>
          </a:p>
        </p:txBody>
      </p:sp>
    </p:spTree>
    <p:extLst>
      <p:ext uri="{BB962C8B-B14F-4D97-AF65-F5344CB8AC3E}">
        <p14:creationId xmlns:p14="http://schemas.microsoft.com/office/powerpoint/2010/main" val="36406838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BE4B6-8B6E-F1E0-794E-47FC4F7A4ED5}"/>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CD2D2A3D-FD08-FCCE-E50D-F7BF3E79512F}"/>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4662EE24-52A2-2026-4230-2DCDFCF4EB1A}"/>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F9891939-3023-702E-D518-A3FF3A69CA4B}"/>
              </a:ext>
            </a:extLst>
          </p:cNvPr>
          <p:cNvSpPr>
            <a:spLocks noGrp="1"/>
          </p:cNvSpPr>
          <p:nvPr>
            <p:ph type="sldNum" sz="quarter" idx="5"/>
          </p:nvPr>
        </p:nvSpPr>
        <p:spPr/>
        <p:txBody>
          <a:bodyPr/>
          <a:lstStyle/>
          <a:p>
            <a:pPr>
              <a:defRPr/>
            </a:pPr>
            <a:fld id="{C47D07E1-450F-4D21-88F2-2F1F63C1D3B1}" type="slidenum">
              <a:rPr lang="en-US" smtClean="0"/>
              <a:pPr>
                <a:defRPr/>
              </a:pPr>
              <a:t>17</a:t>
            </a:fld>
            <a:endParaRPr lang="en-US"/>
          </a:p>
        </p:txBody>
      </p:sp>
    </p:spTree>
    <p:extLst>
      <p:ext uri="{BB962C8B-B14F-4D97-AF65-F5344CB8AC3E}">
        <p14:creationId xmlns:p14="http://schemas.microsoft.com/office/powerpoint/2010/main" val="2550368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D292D-F449-73F4-0AEA-28D3EBDAEA99}"/>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D168381B-C7CF-1837-39DB-26572B229220}"/>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36F808DC-24D0-87A8-EAFD-34DC8B45332E}"/>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3BB6CEA0-4DE9-6A37-1692-13332850C1B5}"/>
              </a:ext>
            </a:extLst>
          </p:cNvPr>
          <p:cNvSpPr>
            <a:spLocks noGrp="1"/>
          </p:cNvSpPr>
          <p:nvPr>
            <p:ph type="sldNum" sz="quarter" idx="5"/>
          </p:nvPr>
        </p:nvSpPr>
        <p:spPr/>
        <p:txBody>
          <a:bodyPr/>
          <a:lstStyle/>
          <a:p>
            <a:pPr>
              <a:defRPr/>
            </a:pPr>
            <a:fld id="{C47D07E1-450F-4D21-88F2-2F1F63C1D3B1}" type="slidenum">
              <a:rPr lang="en-US" smtClean="0"/>
              <a:pPr>
                <a:defRPr/>
              </a:pPr>
              <a:t>18</a:t>
            </a:fld>
            <a:endParaRPr lang="en-US"/>
          </a:p>
        </p:txBody>
      </p:sp>
    </p:spTree>
    <p:extLst>
      <p:ext uri="{BB962C8B-B14F-4D97-AF65-F5344CB8AC3E}">
        <p14:creationId xmlns:p14="http://schemas.microsoft.com/office/powerpoint/2010/main" val="28872431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C24D3-D108-8E1A-D17B-5B43A9985218}"/>
            </a:ext>
          </a:extLst>
        </p:cNvPr>
        <p:cNvGrpSpPr/>
        <p:nvPr/>
      </p:nvGrpSpPr>
      <p:grpSpPr>
        <a:xfrm>
          <a:off x="0" y="0"/>
          <a:ext cx="0" cy="0"/>
          <a:chOff x="0" y="0"/>
          <a:chExt cx="0" cy="0"/>
        </a:xfrm>
      </p:grpSpPr>
      <p:sp>
        <p:nvSpPr>
          <p:cNvPr id="2" name="Symbol zastępczy obrazu slajdu 1">
            <a:extLst>
              <a:ext uri="{FF2B5EF4-FFF2-40B4-BE49-F238E27FC236}">
                <a16:creationId xmlns:a16="http://schemas.microsoft.com/office/drawing/2014/main" id="{1A44D9B7-7852-C570-8EED-4CAAC0B4B535}"/>
              </a:ext>
            </a:extLst>
          </p:cNvPr>
          <p:cNvSpPr>
            <a:spLocks noGrp="1" noRot="1" noChangeAspect="1"/>
          </p:cNvSpPr>
          <p:nvPr>
            <p:ph type="sldImg"/>
          </p:nvPr>
        </p:nvSpPr>
        <p:spPr/>
      </p:sp>
      <p:sp>
        <p:nvSpPr>
          <p:cNvPr id="3" name="Symbol zastępczy notatek 2">
            <a:extLst>
              <a:ext uri="{FF2B5EF4-FFF2-40B4-BE49-F238E27FC236}">
                <a16:creationId xmlns:a16="http://schemas.microsoft.com/office/drawing/2014/main" id="{8445BF26-7D0F-ECE0-EFDA-CD40958D2D60}"/>
              </a:ext>
            </a:extLst>
          </p:cNvPr>
          <p:cNvSpPr>
            <a:spLocks noGrp="1"/>
          </p:cNvSpPr>
          <p:nvPr>
            <p:ph type="body" idx="1"/>
          </p:nvPr>
        </p:nvSpPr>
        <p:spPr/>
        <p:txBody>
          <a:bodyPr/>
          <a:lstStyle/>
          <a:p>
            <a:endParaRPr lang="pl-PL"/>
          </a:p>
        </p:txBody>
      </p:sp>
      <p:sp>
        <p:nvSpPr>
          <p:cNvPr id="4" name="Symbol zastępczy numeru slajdu 3">
            <a:extLst>
              <a:ext uri="{FF2B5EF4-FFF2-40B4-BE49-F238E27FC236}">
                <a16:creationId xmlns:a16="http://schemas.microsoft.com/office/drawing/2014/main" id="{A54158E8-E262-4C77-F7AF-8E420FD64362}"/>
              </a:ext>
            </a:extLst>
          </p:cNvPr>
          <p:cNvSpPr>
            <a:spLocks noGrp="1"/>
          </p:cNvSpPr>
          <p:nvPr>
            <p:ph type="sldNum" sz="quarter" idx="5"/>
          </p:nvPr>
        </p:nvSpPr>
        <p:spPr/>
        <p:txBody>
          <a:bodyPr/>
          <a:lstStyle/>
          <a:p>
            <a:pPr>
              <a:defRPr/>
            </a:pPr>
            <a:fld id="{C47D07E1-450F-4D21-88F2-2F1F63C1D3B1}" type="slidenum">
              <a:rPr lang="en-US" smtClean="0"/>
              <a:pPr>
                <a:defRPr/>
              </a:pPr>
              <a:t>19</a:t>
            </a:fld>
            <a:endParaRPr lang="en-US"/>
          </a:p>
        </p:txBody>
      </p:sp>
    </p:spTree>
    <p:extLst>
      <p:ext uri="{BB962C8B-B14F-4D97-AF65-F5344CB8AC3E}">
        <p14:creationId xmlns:p14="http://schemas.microsoft.com/office/powerpoint/2010/main" val="26722283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L"/>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20</a:t>
            </a:fld>
            <a:endParaRPr lang="en-US"/>
          </a:p>
        </p:txBody>
      </p:sp>
    </p:spTree>
    <p:extLst>
      <p:ext uri="{BB962C8B-B14F-4D97-AF65-F5344CB8AC3E}">
        <p14:creationId xmlns:p14="http://schemas.microsoft.com/office/powerpoint/2010/main" val="6392605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L"/>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21</a:t>
            </a:fld>
            <a:endParaRPr lang="en-US"/>
          </a:p>
        </p:txBody>
      </p:sp>
    </p:spTree>
    <p:extLst>
      <p:ext uri="{BB962C8B-B14F-4D97-AF65-F5344CB8AC3E}">
        <p14:creationId xmlns:p14="http://schemas.microsoft.com/office/powerpoint/2010/main" val="29575942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L"/>
          </a:p>
        </p:txBody>
      </p:sp>
      <p:sp>
        <p:nvSpPr>
          <p:cNvPr id="4" name="Slide Number Placeholder 3"/>
          <p:cNvSpPr>
            <a:spLocks noGrp="1"/>
          </p:cNvSpPr>
          <p:nvPr>
            <p:ph type="sldNum" sz="quarter" idx="5"/>
          </p:nvPr>
        </p:nvSpPr>
        <p:spPr/>
        <p:txBody>
          <a:bodyPr/>
          <a:lstStyle/>
          <a:p>
            <a:pPr>
              <a:defRPr/>
            </a:pPr>
            <a:fld id="{C47D07E1-450F-4D21-88F2-2F1F63C1D3B1}" type="slidenum">
              <a:rPr lang="en-US" smtClean="0"/>
              <a:pPr>
                <a:defRPr/>
              </a:pPr>
              <a:t>22</a:t>
            </a:fld>
            <a:endParaRPr lang="en-US"/>
          </a:p>
        </p:txBody>
      </p:sp>
    </p:spTree>
    <p:extLst>
      <p:ext uri="{BB962C8B-B14F-4D97-AF65-F5344CB8AC3E}">
        <p14:creationId xmlns:p14="http://schemas.microsoft.com/office/powerpoint/2010/main" val="20350699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8788" y="720725"/>
            <a:ext cx="6400800" cy="36004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C47D07E1-450F-4D21-88F2-2F1F63C1D3B1}" type="slidenum">
              <a:rPr lang="en-US" smtClean="0"/>
              <a:pPr>
                <a:defRPr/>
              </a:pPr>
              <a:t>23</a:t>
            </a:fld>
            <a:endParaRPr lang="en-US"/>
          </a:p>
        </p:txBody>
      </p:sp>
    </p:spTree>
    <p:extLst>
      <p:ext uri="{BB962C8B-B14F-4D97-AF65-F5344CB8AC3E}">
        <p14:creationId xmlns:p14="http://schemas.microsoft.com/office/powerpoint/2010/main" val="28217280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9" name="Rectangle 18"/>
          <p:cNvSpPr/>
          <p:nvPr userDrawn="1"/>
        </p:nvSpPr>
        <p:spPr>
          <a:xfrm>
            <a:off x="3975258" y="2"/>
            <a:ext cx="8216744" cy="684166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53998" tIns="26999" rIns="53998" bIns="26999" rtlCol="0" anchor="ctr"/>
          <a:lstStyle/>
          <a:p>
            <a:pPr algn="ctr"/>
            <a:endParaRPr lang="en-GB" sz="1600"/>
          </a:p>
        </p:txBody>
      </p:sp>
      <p:sp>
        <p:nvSpPr>
          <p:cNvPr id="41" name="Rectangle 15"/>
          <p:cNvSpPr>
            <a:spLocks noGrp="1" noChangeArrowheads="1"/>
          </p:cNvSpPr>
          <p:nvPr>
            <p:ph type="ftr" sz="quarter" idx="10"/>
          </p:nvPr>
        </p:nvSpPr>
        <p:spPr>
          <a:xfrm>
            <a:off x="4253593" y="6198698"/>
            <a:ext cx="6822924" cy="406400"/>
          </a:xfrm>
        </p:spPr>
        <p:txBody>
          <a:bodyPr/>
          <a:lstStyle>
            <a:lvl1pPr algn="l">
              <a:defRPr i="0" smtClean="0">
                <a:solidFill>
                  <a:schemeClr val="accent2">
                    <a:lumMod val="60000"/>
                    <a:lumOff val="40000"/>
                  </a:schemeClr>
                </a:solidFill>
              </a:defRPr>
            </a:lvl1pPr>
          </a:lstStyle>
          <a:p>
            <a:pPr>
              <a:defRPr/>
            </a:pPr>
            <a:r>
              <a:rPr lang="nl-BE"/>
              <a:t>C. Develder, et al., "Home Energy Management in the context of consumer-centric power systems", Daikin TIC, Osaka, Japan, 30 Oct. 2024</a:t>
            </a:r>
            <a:endParaRPr lang="nl-NL"/>
          </a:p>
        </p:txBody>
      </p:sp>
      <p:sp>
        <p:nvSpPr>
          <p:cNvPr id="21" name="Rectangle 2"/>
          <p:cNvSpPr>
            <a:spLocks noGrp="1" noChangeArrowheads="1"/>
          </p:cNvSpPr>
          <p:nvPr>
            <p:ph type="ctrTitle" hasCustomPrompt="1"/>
          </p:nvPr>
        </p:nvSpPr>
        <p:spPr>
          <a:xfrm>
            <a:off x="4253593" y="1593520"/>
            <a:ext cx="6906776" cy="1719263"/>
          </a:xfrm>
          <a:noFill/>
        </p:spPr>
        <p:txBody>
          <a:bodyPr anchor="b"/>
          <a:lstStyle>
            <a:lvl1pPr marL="354013" indent="0">
              <a:defRPr sz="4400" b="1" u="none">
                <a:solidFill>
                  <a:schemeClr val="bg1"/>
                </a:solidFill>
              </a:defRPr>
            </a:lvl1pPr>
          </a:lstStyle>
          <a:p>
            <a:r>
              <a:rPr lang="nl-NL"/>
              <a:t>KLIK OM HET OPMAAKPROFIEL VAN DE MODELTITEL TE BEWERKEN</a:t>
            </a:r>
          </a:p>
        </p:txBody>
      </p:sp>
      <p:sp>
        <p:nvSpPr>
          <p:cNvPr id="22" name="Rectangle 3"/>
          <p:cNvSpPr>
            <a:spLocks noGrp="1" noChangeArrowheads="1"/>
          </p:cNvSpPr>
          <p:nvPr>
            <p:ph type="subTitle" idx="1" hasCustomPrompt="1"/>
          </p:nvPr>
        </p:nvSpPr>
        <p:spPr>
          <a:xfrm>
            <a:off x="4253593" y="3454767"/>
            <a:ext cx="6906776" cy="1152622"/>
          </a:xfrm>
          <a:prstGeom prst="rect">
            <a:avLst/>
          </a:prstGeom>
          <a:noFill/>
        </p:spPr>
        <p:txBody>
          <a:bodyPr anchor="t"/>
          <a:lstStyle>
            <a:lvl1pPr marL="354013" indent="0">
              <a:buFont typeface="Wingdings" pitchFamily="2" charset="2"/>
              <a:buNone/>
              <a:defRPr sz="3200" b="0">
                <a:solidFill>
                  <a:schemeClr val="accent2">
                    <a:lumMod val="20000"/>
                    <a:lumOff val="80000"/>
                  </a:schemeClr>
                </a:solidFill>
              </a:defRPr>
            </a:lvl1pPr>
          </a:lstStyle>
          <a:p>
            <a:r>
              <a:rPr lang="nl-NL"/>
              <a:t>KLIK OM HET OPMAAKPROFIEL VAN DE MODELONDERTITEL TE BEWERKEN</a:t>
            </a:r>
          </a:p>
        </p:txBody>
      </p:sp>
      <p:sp>
        <p:nvSpPr>
          <p:cNvPr id="3" name="Slide Number Placeholder 2">
            <a:extLst>
              <a:ext uri="{FF2B5EF4-FFF2-40B4-BE49-F238E27FC236}">
                <a16:creationId xmlns:a16="http://schemas.microsoft.com/office/drawing/2014/main" id="{1E451B97-BE37-CA47-9D14-29C8740A6874}"/>
              </a:ext>
            </a:extLst>
          </p:cNvPr>
          <p:cNvSpPr>
            <a:spLocks noGrp="1"/>
          </p:cNvSpPr>
          <p:nvPr>
            <p:ph type="sldNum" sz="quarter" idx="11"/>
          </p:nvPr>
        </p:nvSpPr>
        <p:spPr>
          <a:xfrm>
            <a:off x="11087100" y="6198698"/>
            <a:ext cx="789517" cy="406400"/>
          </a:xfrm>
        </p:spPr>
        <p:txBody>
          <a:bodyPr/>
          <a:lstStyle>
            <a:lvl1pPr>
              <a:defRPr>
                <a:solidFill>
                  <a:schemeClr val="accent2">
                    <a:lumMod val="60000"/>
                    <a:lumOff val="40000"/>
                  </a:schemeClr>
                </a:solidFill>
              </a:defRPr>
            </a:lvl1pPr>
          </a:lstStyle>
          <a:p>
            <a:pPr>
              <a:defRPr/>
            </a:pPr>
            <a:fld id="{9979E472-F673-4ED4-A86E-D1C34A0AEC76}" type="slidenum">
              <a:rPr lang="en-US" smtClean="0"/>
              <a:pPr>
                <a:defRPr/>
              </a:pPr>
              <a:t>‹#›</a:t>
            </a:fld>
            <a:endParaRPr lang="en-US"/>
          </a:p>
        </p:txBody>
      </p:sp>
      <p:pic>
        <p:nvPicPr>
          <p:cNvPr id="4" name="Picture 3">
            <a:extLst>
              <a:ext uri="{FF2B5EF4-FFF2-40B4-BE49-F238E27FC236}">
                <a16:creationId xmlns:a16="http://schemas.microsoft.com/office/drawing/2014/main" id="{D6436B5D-EA41-E856-70A4-4511E159140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28377" y="772628"/>
            <a:ext cx="3846880" cy="492998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6213" y="332879"/>
            <a:ext cx="11430079" cy="836613"/>
          </a:xfrm>
        </p:spPr>
        <p:txBody>
          <a:bodyPr/>
          <a:lstStyle>
            <a:lvl1pPr>
              <a:defRPr>
                <a:solidFill>
                  <a:schemeClr val="accent2"/>
                </a:solidFill>
              </a:defRPr>
            </a:lvl1pPr>
          </a:lstStyle>
          <a:p>
            <a:r>
              <a:rPr lang="en-US"/>
              <a:t>CLICK TO EDIT MASTER TITLE STYLE</a:t>
            </a:r>
            <a:br>
              <a:rPr lang="en-US"/>
            </a:br>
            <a:r>
              <a:rPr lang="en-US"/>
              <a:t>2 LINES</a:t>
            </a:r>
            <a:endParaRPr lang="nl-BE"/>
          </a:p>
        </p:txBody>
      </p:sp>
      <p:sp>
        <p:nvSpPr>
          <p:cNvPr id="3" name="Content Placeholder 2"/>
          <p:cNvSpPr>
            <a:spLocks noGrp="1"/>
          </p:cNvSpPr>
          <p:nvPr>
            <p:ph idx="1"/>
          </p:nvPr>
        </p:nvSpPr>
        <p:spPr>
          <a:xfrm>
            <a:off x="476211" y="1359878"/>
            <a:ext cx="11400407" cy="4594873"/>
          </a:xfrm>
          <a:prstGeom prst="rect">
            <a:avLst/>
          </a:prstGeo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Rectangle 33"/>
          <p:cNvSpPr>
            <a:spLocks noGrp="1" noChangeArrowheads="1"/>
          </p:cNvSpPr>
          <p:nvPr>
            <p:ph type="ftr" sz="quarter" idx="10"/>
          </p:nvPr>
        </p:nvSpPr>
        <p:spPr>
          <a:ln/>
        </p:spPr>
        <p:txBody>
          <a:bodyPr wrap="none"/>
          <a:lstStyle>
            <a:lvl1pPr>
              <a:defRPr/>
            </a:lvl1pPr>
          </a:lstStyle>
          <a:p>
            <a:pPr>
              <a:defRPr/>
            </a:pPr>
            <a:r>
              <a:rPr lang="nl-BE"/>
              <a:t>C. Develder, et al., "Home Energy Management in the context of consumer-centric power systems", Daikin TIC, Osaka, Japan, 30 Oct. 2024</a:t>
            </a: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968663A2-1950-48E6-8399-8A0176E7D7D3}"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52464" y="1514805"/>
            <a:ext cx="10363200" cy="1362075"/>
          </a:xfrm>
        </p:spPr>
        <p:txBody>
          <a:bodyPr anchor="b"/>
          <a:lstStyle>
            <a:lvl1pPr algn="ctr">
              <a:defRPr sz="4000" b="1" cap="none">
                <a:solidFill>
                  <a:schemeClr val="accent2"/>
                </a:solidFill>
              </a:defRPr>
            </a:lvl1pPr>
          </a:lstStyle>
          <a:p>
            <a:r>
              <a:rPr lang="en-US"/>
              <a:t>CLICK TO EDIT MASTER TITLE STYLE</a:t>
            </a:r>
            <a:endParaRPr lang="nl-BE"/>
          </a:p>
        </p:txBody>
      </p:sp>
      <p:sp>
        <p:nvSpPr>
          <p:cNvPr id="3" name="Text Placeholder 2"/>
          <p:cNvSpPr>
            <a:spLocks noGrp="1"/>
          </p:cNvSpPr>
          <p:nvPr>
            <p:ph type="body" idx="1"/>
          </p:nvPr>
        </p:nvSpPr>
        <p:spPr>
          <a:xfrm>
            <a:off x="952464" y="2872126"/>
            <a:ext cx="10363200" cy="1263652"/>
          </a:xfrm>
          <a:prstGeom prst="rect">
            <a:avLst/>
          </a:prstGeom>
        </p:spPr>
        <p:txBody>
          <a:bodyPr anchor="ctr"/>
          <a:lstStyle>
            <a:lvl1pPr marL="0" indent="0" algn="ctr">
              <a:buNone/>
              <a:defRPr sz="3200">
                <a:solidFill>
                  <a:schemeClr val="accent2">
                    <a:lumMod val="60000"/>
                    <a:lumOff val="4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3"/>
          <p:cNvSpPr>
            <a:spLocks noGrp="1" noChangeArrowheads="1"/>
          </p:cNvSpPr>
          <p:nvPr>
            <p:ph type="ftr" sz="quarter" idx="10"/>
          </p:nvPr>
        </p:nvSpPr>
        <p:spPr>
          <a:ln/>
        </p:spPr>
        <p:txBody>
          <a:bodyPr/>
          <a:lstStyle>
            <a:lvl1pPr>
              <a:defRPr/>
            </a:lvl1pPr>
          </a:lstStyle>
          <a:p>
            <a:pPr>
              <a:defRPr/>
            </a:pPr>
            <a:r>
              <a:rPr lang="nl-BE"/>
              <a:t>C. Develder, et al., "Home Energy Management in the context of consumer-centric power systems", Daikin TIC, Osaka, Japan, 30 Oct. 2024</a:t>
            </a: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837B71E7-1BA8-4BCA-B4F0-4746BEDF418B}"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Section Header">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52464" y="1514805"/>
            <a:ext cx="10363200" cy="1362075"/>
          </a:xfrm>
        </p:spPr>
        <p:txBody>
          <a:bodyPr anchor="b"/>
          <a:lstStyle>
            <a:lvl1pPr algn="ctr">
              <a:defRPr sz="4000" b="1" cap="none">
                <a:solidFill>
                  <a:schemeClr val="accent2"/>
                </a:solidFill>
              </a:defRPr>
            </a:lvl1pPr>
          </a:lstStyle>
          <a:p>
            <a:r>
              <a:rPr lang="en-US"/>
              <a:t>CLICK TO EDIT MASTER TITLE STYLE</a:t>
            </a:r>
            <a:endParaRPr lang="nl-BE"/>
          </a:p>
        </p:txBody>
      </p:sp>
      <p:sp>
        <p:nvSpPr>
          <p:cNvPr id="3" name="Text Placeholder 2"/>
          <p:cNvSpPr>
            <a:spLocks noGrp="1"/>
          </p:cNvSpPr>
          <p:nvPr>
            <p:ph type="body" idx="1"/>
          </p:nvPr>
        </p:nvSpPr>
        <p:spPr>
          <a:xfrm>
            <a:off x="952464" y="2872126"/>
            <a:ext cx="10363200" cy="1263652"/>
          </a:xfrm>
          <a:prstGeom prst="rect">
            <a:avLst/>
          </a:prstGeom>
        </p:spPr>
        <p:txBody>
          <a:bodyPr anchor="ctr"/>
          <a:lstStyle>
            <a:lvl1pPr marL="0" indent="0" algn="ctr">
              <a:buNone/>
              <a:defRPr sz="3200">
                <a:solidFill>
                  <a:schemeClr val="accent2">
                    <a:lumMod val="40000"/>
                    <a:lumOff val="60000"/>
                  </a:schemeClr>
                </a:solidFill>
                <a:latin typeface="+mj-lt"/>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33"/>
          <p:cNvSpPr>
            <a:spLocks noGrp="1" noChangeArrowheads="1"/>
          </p:cNvSpPr>
          <p:nvPr>
            <p:ph type="ftr" sz="quarter" idx="10"/>
          </p:nvPr>
        </p:nvSpPr>
        <p:spPr>
          <a:ln/>
        </p:spPr>
        <p:txBody>
          <a:bodyPr/>
          <a:lstStyle>
            <a:lvl1pPr>
              <a:defRPr/>
            </a:lvl1pPr>
          </a:lstStyle>
          <a:p>
            <a:pPr>
              <a:defRPr/>
            </a:pPr>
            <a:r>
              <a:rPr lang="nl-BE"/>
              <a:t>C. Develder, et al., "Home Energy Management in the context of consumer-centric power systems", Daikin TIC, Osaka, Japan, 30 Oct. 2024</a:t>
            </a: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837B71E7-1BA8-4BCA-B4F0-4746BEDF418B}" type="slidenum">
              <a:rPr lang="en-US"/>
              <a:pPr>
                <a:defRPr/>
              </a:pPr>
              <a:t>‹#›</a:t>
            </a:fld>
            <a:endParaRPr lang="en-US"/>
          </a:p>
        </p:txBody>
      </p:sp>
    </p:spTree>
    <p:extLst>
      <p:ext uri="{BB962C8B-B14F-4D97-AF65-F5344CB8AC3E}">
        <p14:creationId xmlns:p14="http://schemas.microsoft.com/office/powerpoint/2010/main" val="1664805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6213" y="332879"/>
            <a:ext cx="11430079" cy="836613"/>
          </a:xfrm>
        </p:spPr>
        <p:txBody>
          <a:bodyPr/>
          <a:lstStyle>
            <a:lvl1pPr>
              <a:defRPr>
                <a:solidFill>
                  <a:schemeClr val="accent2"/>
                </a:solidFill>
              </a:defRPr>
            </a:lvl1pPr>
          </a:lstStyle>
          <a:p>
            <a:r>
              <a:rPr lang="en-US"/>
              <a:t>CLICK TO EDIT MASTER TITLE STYLE</a:t>
            </a:r>
            <a:br>
              <a:rPr lang="en-US"/>
            </a:br>
            <a:r>
              <a:rPr lang="en-US"/>
              <a:t>2 LINES</a:t>
            </a:r>
            <a:endParaRPr lang="nl-BE"/>
          </a:p>
        </p:txBody>
      </p:sp>
      <p:sp>
        <p:nvSpPr>
          <p:cNvPr id="3" name="Content Placeholder 2"/>
          <p:cNvSpPr>
            <a:spLocks noGrp="1"/>
          </p:cNvSpPr>
          <p:nvPr>
            <p:ph idx="1"/>
          </p:nvPr>
        </p:nvSpPr>
        <p:spPr>
          <a:xfrm>
            <a:off x="476211" y="1359878"/>
            <a:ext cx="11400407" cy="4731847"/>
          </a:xfrm>
          <a:prstGeom prst="rect">
            <a:avLst/>
          </a:prstGeom>
        </p:spPr>
        <p:txBody>
          <a:bodyPr/>
          <a:lstStyle>
            <a:lvl1pPr>
              <a:buClr>
                <a:schemeClr val="accent2"/>
              </a:buClr>
              <a:defRPr/>
            </a:lvl1pPr>
            <a:lvl2pPr>
              <a:buClr>
                <a:schemeClr val="accent2"/>
              </a:buClr>
              <a:defRPr/>
            </a:lvl2pPr>
            <a:lvl3pPr>
              <a:buClr>
                <a:schemeClr val="accent2"/>
              </a:buClr>
              <a:defRPr/>
            </a:lvl3pPr>
            <a:lvl4pPr>
              <a:buClr>
                <a:schemeClr val="accent2"/>
              </a:buClr>
              <a:defRPr/>
            </a:lvl4pPr>
            <a:lvl5pPr>
              <a:buClr>
                <a:schemeClr val="accent2"/>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Rectangle 33"/>
          <p:cNvSpPr>
            <a:spLocks noGrp="1" noChangeArrowheads="1"/>
          </p:cNvSpPr>
          <p:nvPr>
            <p:ph type="ftr" sz="quarter" idx="10"/>
          </p:nvPr>
        </p:nvSpPr>
        <p:spPr>
          <a:ln/>
        </p:spPr>
        <p:txBody>
          <a:bodyPr/>
          <a:lstStyle>
            <a:lvl1pPr>
              <a:defRPr/>
            </a:lvl1pPr>
          </a:lstStyle>
          <a:p>
            <a:pPr>
              <a:defRPr/>
            </a:pPr>
            <a:r>
              <a:rPr lang="nl-BE"/>
              <a:t>C. Develder, et al., "Home Energy Management in the context of consumer-centric power systems", Daikin TIC, Osaka, Japan, 30 Oct. 2024</a:t>
            </a:r>
            <a:endParaRPr lang="en-US"/>
          </a:p>
        </p:txBody>
      </p:sp>
      <p:sp>
        <p:nvSpPr>
          <p:cNvPr id="5" name="Rectangle 34"/>
          <p:cNvSpPr>
            <a:spLocks noGrp="1" noChangeArrowheads="1"/>
          </p:cNvSpPr>
          <p:nvPr>
            <p:ph type="sldNum" sz="quarter" idx="11"/>
          </p:nvPr>
        </p:nvSpPr>
        <p:spPr>
          <a:ln/>
        </p:spPr>
        <p:txBody>
          <a:bodyPr/>
          <a:lstStyle>
            <a:lvl1pPr>
              <a:defRPr/>
            </a:lvl1pPr>
          </a:lstStyle>
          <a:p>
            <a:pPr>
              <a:defRPr/>
            </a:pPr>
            <a:fld id="{968663A2-1950-48E6-8399-8A0176E7D7D3}" type="slidenum">
              <a:rPr lang="en-US"/>
              <a:pPr>
                <a:defRPr/>
              </a:pPr>
              <a:t>‹#›</a:t>
            </a:fld>
            <a:endParaRPr lang="en-US"/>
          </a:p>
        </p:txBody>
      </p:sp>
    </p:spTree>
    <p:extLst>
      <p:ext uri="{BB962C8B-B14F-4D97-AF65-F5344CB8AC3E}">
        <p14:creationId xmlns:p14="http://schemas.microsoft.com/office/powerpoint/2010/main" val="233015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52464" y="1514805"/>
            <a:ext cx="10363200" cy="1362075"/>
          </a:xfrm>
        </p:spPr>
        <p:txBody>
          <a:bodyPr anchor="b"/>
          <a:lstStyle>
            <a:lvl1pPr algn="ctr">
              <a:defRPr sz="4000" b="1" cap="none">
                <a:solidFill>
                  <a:schemeClr val="bg1"/>
                </a:solidFill>
              </a:defRPr>
            </a:lvl1pPr>
          </a:lstStyle>
          <a:p>
            <a:r>
              <a:rPr lang="en-US"/>
              <a:t>CLICK TO EDIT MASTER TITLE STYLE</a:t>
            </a:r>
            <a:endParaRPr lang="nl-BE"/>
          </a:p>
        </p:txBody>
      </p:sp>
      <p:sp>
        <p:nvSpPr>
          <p:cNvPr id="3" name="Text Placeholder 2"/>
          <p:cNvSpPr>
            <a:spLocks noGrp="1"/>
          </p:cNvSpPr>
          <p:nvPr>
            <p:ph type="body" idx="1"/>
          </p:nvPr>
        </p:nvSpPr>
        <p:spPr>
          <a:xfrm>
            <a:off x="952464" y="2872126"/>
            <a:ext cx="10363200" cy="1263652"/>
          </a:xfrm>
          <a:prstGeom prst="rect">
            <a:avLst/>
          </a:prstGeom>
        </p:spPr>
        <p:txBody>
          <a:bodyPr anchor="ctr"/>
          <a:lstStyle>
            <a:lvl1pPr marL="0" indent="0" algn="ctr">
              <a:buNone/>
              <a:defRPr sz="3200">
                <a:solidFill>
                  <a:schemeClr val="accent2">
                    <a:lumMod val="20000"/>
                    <a:lumOff val="80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13" name="Footer Placeholder 12">
            <a:extLst>
              <a:ext uri="{FF2B5EF4-FFF2-40B4-BE49-F238E27FC236}">
                <a16:creationId xmlns:a16="http://schemas.microsoft.com/office/drawing/2014/main" id="{0E5D30F3-6AFD-2F1B-EF7E-22D148E03E62}"/>
              </a:ext>
            </a:extLst>
          </p:cNvPr>
          <p:cNvSpPr>
            <a:spLocks noGrp="1"/>
          </p:cNvSpPr>
          <p:nvPr>
            <p:ph type="ftr" sz="quarter" idx="10"/>
          </p:nvPr>
        </p:nvSpPr>
        <p:spPr/>
        <p:txBody>
          <a:bodyPr/>
          <a:lstStyle/>
          <a:p>
            <a:pPr>
              <a:defRPr/>
            </a:pPr>
            <a:r>
              <a:rPr lang="nl-BE"/>
              <a:t>C. Develder, et al., "Home Energy Management in the context of consumer-centric power systems", Daikin TIC, Osaka, Japan, 30 Oct. 2024</a:t>
            </a:r>
            <a:endParaRPr lang="en-US"/>
          </a:p>
        </p:txBody>
      </p:sp>
      <p:sp>
        <p:nvSpPr>
          <p:cNvPr id="14" name="Slide Number Placeholder 13">
            <a:extLst>
              <a:ext uri="{FF2B5EF4-FFF2-40B4-BE49-F238E27FC236}">
                <a16:creationId xmlns:a16="http://schemas.microsoft.com/office/drawing/2014/main" id="{BA244D97-09DD-FD23-E513-6CB85FD28E54}"/>
              </a:ext>
            </a:extLst>
          </p:cNvPr>
          <p:cNvSpPr>
            <a:spLocks noGrp="1"/>
          </p:cNvSpPr>
          <p:nvPr>
            <p:ph type="sldNum" sz="quarter" idx="11"/>
          </p:nvPr>
        </p:nvSpPr>
        <p:spPr/>
        <p:txBody>
          <a:bodyPr/>
          <a:lstStyle/>
          <a:p>
            <a:pPr>
              <a:defRPr/>
            </a:pPr>
            <a:fld id="{9979E472-F673-4ED4-A86E-D1C34A0AEC76}" type="slidenum">
              <a:rPr lang="en-US" smtClean="0"/>
              <a:pPr>
                <a:defRPr/>
              </a:pPr>
              <a:t>‹#›</a:t>
            </a:fld>
            <a:endParaRPr lang="en-US"/>
          </a:p>
        </p:txBody>
      </p:sp>
      <p:sp>
        <p:nvSpPr>
          <p:cNvPr id="5" name="Rectangle 4">
            <a:extLst>
              <a:ext uri="{FF2B5EF4-FFF2-40B4-BE49-F238E27FC236}">
                <a16:creationId xmlns:a16="http://schemas.microsoft.com/office/drawing/2014/main" id="{F7301184-B8B2-89EE-6327-8149C07E8EE3}"/>
              </a:ext>
            </a:extLst>
          </p:cNvPr>
          <p:cNvSpPr/>
          <p:nvPr userDrawn="1"/>
        </p:nvSpPr>
        <p:spPr>
          <a:xfrm>
            <a:off x="0" y="6089227"/>
            <a:ext cx="1692993" cy="76877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a:p>
        </p:txBody>
      </p:sp>
      <p:pic>
        <p:nvPicPr>
          <p:cNvPr id="4" name="Picture 3">
            <a:extLst>
              <a:ext uri="{FF2B5EF4-FFF2-40B4-BE49-F238E27FC236}">
                <a16:creationId xmlns:a16="http://schemas.microsoft.com/office/drawing/2014/main" id="{777B3331-C82D-A304-578D-0C4710F5BCA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03316" y="6201530"/>
            <a:ext cx="1068646" cy="505233"/>
          </a:xfrm>
          <a:prstGeom prst="rect">
            <a:avLst/>
          </a:prstGeom>
        </p:spPr>
      </p:pic>
    </p:spTree>
    <p:extLst>
      <p:ext uri="{BB962C8B-B14F-4D97-AF65-F5344CB8AC3E}">
        <p14:creationId xmlns:p14="http://schemas.microsoft.com/office/powerpoint/2010/main" val="1065136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6213" y="332879"/>
            <a:ext cx="11430079" cy="836613"/>
          </a:xfrm>
        </p:spPr>
        <p:txBody>
          <a:bodyPr/>
          <a:lstStyle>
            <a:lvl1pPr>
              <a:defRPr>
                <a:solidFill>
                  <a:schemeClr val="accent2"/>
                </a:solidFill>
              </a:defRPr>
            </a:lvl1pPr>
          </a:lstStyle>
          <a:p>
            <a:r>
              <a:rPr lang="en-US"/>
              <a:t>CLICK TO EDIT MASTER TITLE STYLE</a:t>
            </a:r>
            <a:endParaRPr lang="nl-BE"/>
          </a:p>
        </p:txBody>
      </p:sp>
      <p:sp>
        <p:nvSpPr>
          <p:cNvPr id="3" name="Content Placeholder 2"/>
          <p:cNvSpPr>
            <a:spLocks noGrp="1"/>
          </p:cNvSpPr>
          <p:nvPr>
            <p:ph sz="half" idx="1"/>
          </p:nvPr>
        </p:nvSpPr>
        <p:spPr>
          <a:xfrm>
            <a:off x="476213" y="1359878"/>
            <a:ext cx="5619788" cy="4661781"/>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6286502" y="1359878"/>
            <a:ext cx="5590116" cy="4661781"/>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Rectangle 33"/>
          <p:cNvSpPr>
            <a:spLocks noGrp="1" noChangeArrowheads="1"/>
          </p:cNvSpPr>
          <p:nvPr>
            <p:ph type="ftr" sz="quarter" idx="10"/>
          </p:nvPr>
        </p:nvSpPr>
        <p:spPr>
          <a:ln/>
        </p:spPr>
        <p:txBody>
          <a:bodyPr/>
          <a:lstStyle>
            <a:lvl1pPr>
              <a:defRPr/>
            </a:lvl1pPr>
          </a:lstStyle>
          <a:p>
            <a:pPr>
              <a:defRPr/>
            </a:pPr>
            <a:r>
              <a:rPr lang="nl-BE"/>
              <a:t>C. Develder, et al., "Home Energy Management in the context of consumer-centric power systems", Daikin TIC, Osaka, Japan, 30 Oct. 2024</a:t>
            </a:r>
            <a:endParaRPr lang="en-US"/>
          </a:p>
        </p:txBody>
      </p:sp>
      <p:sp>
        <p:nvSpPr>
          <p:cNvPr id="6" name="Rectangle 34"/>
          <p:cNvSpPr>
            <a:spLocks noGrp="1" noChangeArrowheads="1"/>
          </p:cNvSpPr>
          <p:nvPr>
            <p:ph type="sldNum" sz="quarter" idx="11"/>
          </p:nvPr>
        </p:nvSpPr>
        <p:spPr>
          <a:ln/>
        </p:spPr>
        <p:txBody>
          <a:bodyPr/>
          <a:lstStyle>
            <a:lvl1pPr>
              <a:defRPr/>
            </a:lvl1pPr>
          </a:lstStyle>
          <a:p>
            <a:pPr>
              <a:defRPr/>
            </a:pPr>
            <a:fld id="{DB7F45D9-E598-4F34-9900-AF01B7BBB3E9}"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6211" y="312236"/>
            <a:ext cx="11334829" cy="857256"/>
          </a:xfrm>
        </p:spPr>
        <p:txBody>
          <a:bodyPr/>
          <a:lstStyle>
            <a:lvl1pPr>
              <a:defRPr/>
            </a:lvl1pPr>
          </a:lstStyle>
          <a:p>
            <a:r>
              <a:rPr lang="en-US"/>
              <a:t>CLICK TO EDIT MASTER TITLE STYLE</a:t>
            </a:r>
            <a:endParaRPr lang="nl-BE"/>
          </a:p>
        </p:txBody>
      </p:sp>
      <p:sp>
        <p:nvSpPr>
          <p:cNvPr id="3" name="Text Placeholder 2"/>
          <p:cNvSpPr>
            <a:spLocks noGrp="1"/>
          </p:cNvSpPr>
          <p:nvPr>
            <p:ph type="body" idx="1"/>
          </p:nvPr>
        </p:nvSpPr>
        <p:spPr>
          <a:xfrm>
            <a:off x="476211" y="1192224"/>
            <a:ext cx="5524538" cy="639762"/>
          </a:xfrm>
          <a:prstGeom prst="rect">
            <a:avLst/>
          </a:prstGeom>
        </p:spPr>
        <p:txBody>
          <a:bodyPr anchor="b"/>
          <a:lstStyle>
            <a:lvl1pPr marL="0" indent="0">
              <a:buNone/>
              <a:defRPr sz="2400" b="1">
                <a:solidFill>
                  <a:schemeClr val="accent2">
                    <a:lumMod val="60000"/>
                    <a:lumOff val="40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76211" y="1978041"/>
            <a:ext cx="5543512" cy="4113683"/>
          </a:xfrm>
          <a:prstGeom prst="rect">
            <a:avLst/>
          </a:prstGeom>
        </p:spPr>
        <p:txBody>
          <a:bodyPr/>
          <a:lstStyle>
            <a:lvl1pPr>
              <a:buClr>
                <a:schemeClr val="accent2"/>
              </a:buClr>
              <a:defRPr sz="2400"/>
            </a:lvl1pPr>
            <a:lvl2pPr>
              <a:buClr>
                <a:schemeClr val="accent2"/>
              </a:buClr>
              <a:defRPr sz="2000"/>
            </a:lvl2pPr>
            <a:lvl3pPr>
              <a:buClr>
                <a:schemeClr val="accent2"/>
              </a:buClr>
              <a:defRPr sz="1800"/>
            </a:lvl3pPr>
            <a:lvl4pPr>
              <a:buClr>
                <a:schemeClr val="accent2"/>
              </a:buClr>
              <a:defRPr sz="1600"/>
            </a:lvl4pPr>
            <a:lvl5pPr>
              <a:buClr>
                <a:schemeClr val="accent2"/>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6286503" y="1192224"/>
            <a:ext cx="5505565" cy="639762"/>
          </a:xfrm>
          <a:prstGeom prst="rect">
            <a:avLst/>
          </a:prstGeom>
        </p:spPr>
        <p:txBody>
          <a:bodyPr anchor="b"/>
          <a:lstStyle>
            <a:lvl1pPr marL="0" indent="0">
              <a:buNone/>
              <a:defRPr sz="2400" b="1">
                <a:solidFill>
                  <a:schemeClr val="accent2">
                    <a:lumMod val="60000"/>
                    <a:lumOff val="40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05476" y="1978041"/>
            <a:ext cx="5505565" cy="4113683"/>
          </a:xfrm>
          <a:prstGeom prst="rect">
            <a:avLst/>
          </a:prstGeom>
        </p:spPr>
        <p:txBody>
          <a:bodyPr/>
          <a:lstStyle>
            <a:lvl1pPr>
              <a:buClr>
                <a:schemeClr val="accent2"/>
              </a:buClr>
              <a:defRPr sz="2400"/>
            </a:lvl1pPr>
            <a:lvl2pPr>
              <a:buClr>
                <a:schemeClr val="accent2"/>
              </a:buClr>
              <a:defRPr sz="2000"/>
            </a:lvl2pPr>
            <a:lvl3pPr>
              <a:buClr>
                <a:schemeClr val="accent2"/>
              </a:buClr>
              <a:defRPr sz="1800"/>
            </a:lvl3pPr>
            <a:lvl4pPr>
              <a:buClr>
                <a:schemeClr val="accent2"/>
              </a:buClr>
              <a:defRPr sz="1600"/>
            </a:lvl4pPr>
            <a:lvl5pPr>
              <a:buClr>
                <a:schemeClr val="accent2"/>
              </a:buCl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Rectangle 33"/>
          <p:cNvSpPr>
            <a:spLocks noGrp="1" noChangeArrowheads="1"/>
          </p:cNvSpPr>
          <p:nvPr>
            <p:ph type="ftr" sz="quarter" idx="10"/>
          </p:nvPr>
        </p:nvSpPr>
        <p:spPr>
          <a:ln/>
        </p:spPr>
        <p:txBody>
          <a:bodyPr/>
          <a:lstStyle>
            <a:lvl1pPr>
              <a:defRPr/>
            </a:lvl1pPr>
          </a:lstStyle>
          <a:p>
            <a:pPr>
              <a:defRPr/>
            </a:pPr>
            <a:r>
              <a:rPr lang="nl-BE"/>
              <a:t>C. Develder, et al., "Home Energy Management in the context of consumer-centric power systems", Daikin TIC, Osaka, Japan, 30 Oct. 2024</a:t>
            </a:r>
            <a:endParaRPr lang="en-US"/>
          </a:p>
        </p:txBody>
      </p:sp>
      <p:sp>
        <p:nvSpPr>
          <p:cNvPr id="8" name="Rectangle 34"/>
          <p:cNvSpPr>
            <a:spLocks noGrp="1" noChangeArrowheads="1"/>
          </p:cNvSpPr>
          <p:nvPr>
            <p:ph type="sldNum" sz="quarter" idx="11"/>
          </p:nvPr>
        </p:nvSpPr>
        <p:spPr>
          <a:ln/>
        </p:spPr>
        <p:txBody>
          <a:bodyPr/>
          <a:lstStyle>
            <a:lvl1pPr>
              <a:defRPr/>
            </a:lvl1pPr>
          </a:lstStyle>
          <a:p>
            <a:pPr>
              <a:defRPr/>
            </a:pPr>
            <a:fld id="{DF8CFEE2-7314-4064-B1F3-191E675A531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endParaRPr lang="nl-BE"/>
          </a:p>
        </p:txBody>
      </p:sp>
      <p:sp>
        <p:nvSpPr>
          <p:cNvPr id="3" name="Rectangle 33"/>
          <p:cNvSpPr>
            <a:spLocks noGrp="1" noChangeArrowheads="1"/>
          </p:cNvSpPr>
          <p:nvPr>
            <p:ph type="ftr" sz="quarter" idx="10"/>
          </p:nvPr>
        </p:nvSpPr>
        <p:spPr>
          <a:ln/>
        </p:spPr>
        <p:txBody>
          <a:bodyPr/>
          <a:lstStyle>
            <a:lvl1pPr>
              <a:defRPr/>
            </a:lvl1pPr>
          </a:lstStyle>
          <a:p>
            <a:pPr>
              <a:defRPr/>
            </a:pPr>
            <a:r>
              <a:rPr lang="nl-BE"/>
              <a:t>C. Develder, et al., "Home Energy Management in the context of consumer-centric power systems", Daikin TIC, Osaka, Japan, 30 Oct. 2024</a:t>
            </a:r>
            <a:endParaRPr lang="en-US"/>
          </a:p>
        </p:txBody>
      </p:sp>
      <p:sp>
        <p:nvSpPr>
          <p:cNvPr id="4" name="Rectangle 34"/>
          <p:cNvSpPr>
            <a:spLocks noGrp="1" noChangeArrowheads="1"/>
          </p:cNvSpPr>
          <p:nvPr>
            <p:ph type="sldNum" sz="quarter" idx="11"/>
          </p:nvPr>
        </p:nvSpPr>
        <p:spPr>
          <a:ln/>
        </p:spPr>
        <p:txBody>
          <a:bodyPr/>
          <a:lstStyle>
            <a:lvl1pPr>
              <a:defRPr/>
            </a:lvl1pPr>
          </a:lstStyle>
          <a:p>
            <a:pPr>
              <a:defRPr/>
            </a:pPr>
            <a:fld id="{4908A2AA-746C-4DBB-9102-670E2680A299}"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3"/>
          <p:cNvSpPr>
            <a:spLocks noGrp="1" noChangeArrowheads="1"/>
          </p:cNvSpPr>
          <p:nvPr>
            <p:ph type="ftr" sz="quarter" idx="10"/>
          </p:nvPr>
        </p:nvSpPr>
        <p:spPr>
          <a:ln/>
        </p:spPr>
        <p:txBody>
          <a:bodyPr/>
          <a:lstStyle>
            <a:lvl1pPr>
              <a:defRPr/>
            </a:lvl1pPr>
          </a:lstStyle>
          <a:p>
            <a:pPr>
              <a:defRPr/>
            </a:pPr>
            <a:r>
              <a:rPr lang="nl-BE"/>
              <a:t>C. Develder, et al., "Home Energy Management in the context of consumer-centric power systems", Daikin TIC, Osaka, Japan, 30 Oct. 2024</a:t>
            </a:r>
            <a:endParaRPr lang="en-US"/>
          </a:p>
        </p:txBody>
      </p:sp>
      <p:sp>
        <p:nvSpPr>
          <p:cNvPr id="3" name="Rectangle 34"/>
          <p:cNvSpPr>
            <a:spLocks noGrp="1" noChangeArrowheads="1"/>
          </p:cNvSpPr>
          <p:nvPr>
            <p:ph type="sldNum" sz="quarter" idx="11"/>
          </p:nvPr>
        </p:nvSpPr>
        <p:spPr>
          <a:ln/>
        </p:spPr>
        <p:txBody>
          <a:bodyPr/>
          <a:lstStyle>
            <a:lvl1pPr>
              <a:defRPr/>
            </a:lvl1pPr>
          </a:lstStyle>
          <a:p>
            <a:pPr>
              <a:defRPr/>
            </a:pPr>
            <a:fld id="{5ABA5276-E6AF-4E3A-BCFF-83BFC6014A2A}"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ullet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
        <p:nvSpPr>
          <p:cNvPr id="3" name="Content Placeholder 2"/>
          <p:cNvSpPr>
            <a:spLocks noGrp="1"/>
          </p:cNvSpPr>
          <p:nvPr>
            <p:ph idx="1"/>
          </p:nvPr>
        </p:nvSpPr>
        <p:spPr>
          <a:xfrm>
            <a:off x="476211" y="1729212"/>
            <a:ext cx="11400407" cy="42589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13" hasCustomPrompt="1"/>
          </p:nvPr>
        </p:nvSpPr>
        <p:spPr>
          <a:xfrm>
            <a:off x="461373" y="1184329"/>
            <a:ext cx="11430081" cy="369332"/>
          </a:xfrm>
        </p:spPr>
        <p:txBody>
          <a:bodyPr wrap="square" anchor="t">
            <a:spAutoFit/>
          </a:bodyPr>
          <a:lstStyle>
            <a:lvl1pPr marL="0" indent="0">
              <a:buFont typeface="Arial"/>
              <a:buNone/>
              <a:defRPr cap="none" baseline="0">
                <a:solidFill>
                  <a:schemeClr val="accent2">
                    <a:lumMod val="60000"/>
                    <a:lumOff val="40000"/>
                  </a:schemeClr>
                </a:solidFill>
                <a:latin typeface="+mj-lt"/>
              </a:defRPr>
            </a:lvl1pPr>
          </a:lstStyle>
          <a:p>
            <a:pPr lvl="0"/>
            <a:r>
              <a:rPr lang="nl-BE"/>
              <a:t>Click To Edit Master Subtitle Style</a:t>
            </a:r>
            <a:endParaRPr lang="en-US"/>
          </a:p>
        </p:txBody>
      </p:sp>
      <p:sp>
        <p:nvSpPr>
          <p:cNvPr id="4" name="Footer Placeholder 3">
            <a:extLst>
              <a:ext uri="{FF2B5EF4-FFF2-40B4-BE49-F238E27FC236}">
                <a16:creationId xmlns:a16="http://schemas.microsoft.com/office/drawing/2014/main" id="{A971AB82-D72D-E71A-6ECD-1B90538CBB23}"/>
              </a:ext>
            </a:extLst>
          </p:cNvPr>
          <p:cNvSpPr>
            <a:spLocks noGrp="1"/>
          </p:cNvSpPr>
          <p:nvPr>
            <p:ph type="ftr" sz="quarter" idx="14"/>
          </p:nvPr>
        </p:nvSpPr>
        <p:spPr/>
        <p:txBody>
          <a:bodyPr/>
          <a:lstStyle/>
          <a:p>
            <a:pPr>
              <a:defRPr/>
            </a:pPr>
            <a:r>
              <a:rPr lang="nl-BE"/>
              <a:t>C. Develder, et al., "Home Energy Management in the context of consumer-centric power systems", Daikin TIC, Osaka, Japan, 30 Oct. 2024</a:t>
            </a:r>
            <a:endParaRPr lang="en-US"/>
          </a:p>
        </p:txBody>
      </p:sp>
      <p:sp>
        <p:nvSpPr>
          <p:cNvPr id="6" name="Slide Number Placeholder 5">
            <a:extLst>
              <a:ext uri="{FF2B5EF4-FFF2-40B4-BE49-F238E27FC236}">
                <a16:creationId xmlns:a16="http://schemas.microsoft.com/office/drawing/2014/main" id="{E2CAF2EF-95F1-31AE-CCEA-F43696447D96}"/>
              </a:ext>
            </a:extLst>
          </p:cNvPr>
          <p:cNvSpPr>
            <a:spLocks noGrp="1"/>
          </p:cNvSpPr>
          <p:nvPr>
            <p:ph type="sldNum" sz="quarter" idx="15"/>
          </p:nvPr>
        </p:nvSpPr>
        <p:spPr/>
        <p:txBody>
          <a:bodyPr/>
          <a:lstStyle/>
          <a:p>
            <a:pPr>
              <a:defRPr/>
            </a:pPr>
            <a:fld id="{9979E472-F673-4ED4-A86E-D1C34A0AEC76}" type="slidenum">
              <a:rPr lang="en-US" smtClean="0"/>
              <a:pPr>
                <a:defRPr/>
              </a:pPr>
              <a:t>‹#›</a:t>
            </a:fld>
            <a:endParaRPr lang="en-US"/>
          </a:p>
        </p:txBody>
      </p:sp>
    </p:spTree>
    <p:extLst>
      <p:ext uri="{BB962C8B-B14F-4D97-AF65-F5344CB8AC3E}">
        <p14:creationId xmlns:p14="http://schemas.microsoft.com/office/powerpoint/2010/main" val="3165900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76212" y="332879"/>
            <a:ext cx="11299476" cy="836613"/>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p>
            <a:pPr lvl="0"/>
            <a:r>
              <a:rPr lang="en-US"/>
              <a:t>CLICK TO EDIT MASTER TITLE STYLE </a:t>
            </a:r>
          </a:p>
        </p:txBody>
      </p:sp>
      <p:sp>
        <p:nvSpPr>
          <p:cNvPr id="1027" name="Rectangle 3"/>
          <p:cNvSpPr>
            <a:spLocks noGrp="1" noChangeArrowheads="1"/>
          </p:cNvSpPr>
          <p:nvPr>
            <p:ph type="body" idx="1"/>
          </p:nvPr>
        </p:nvSpPr>
        <p:spPr bwMode="auto">
          <a:xfrm>
            <a:off x="476212" y="1359878"/>
            <a:ext cx="11299476" cy="462832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4513" name="Rectangle 33"/>
          <p:cNvSpPr>
            <a:spLocks noGrp="1" noChangeArrowheads="1"/>
          </p:cNvSpPr>
          <p:nvPr>
            <p:ph type="ftr" sz="quarter" idx="3"/>
          </p:nvPr>
        </p:nvSpPr>
        <p:spPr bwMode="auto">
          <a:xfrm>
            <a:off x="1773043" y="6198698"/>
            <a:ext cx="9043639" cy="406400"/>
          </a:xfrm>
          <a:prstGeom prst="rect">
            <a:avLst/>
          </a:prstGeom>
          <a:noFill/>
          <a:ln w="9525">
            <a:noFill/>
            <a:miter lim="800000"/>
            <a:headEnd/>
            <a:tailEnd/>
          </a:ln>
          <a:effectLst/>
        </p:spPr>
        <p:txBody>
          <a:bodyPr vert="horz" wrap="square" lIns="0" tIns="0" rIns="0" bIns="0" numCol="1" anchor="ctr" anchorCtr="1" compatLnSpc="1">
            <a:prstTxWarp prst="textNoShape">
              <a:avLst/>
            </a:prstTxWarp>
          </a:bodyPr>
          <a:lstStyle>
            <a:lvl1pPr algn="ctr">
              <a:defRPr sz="1000" b="0" i="0">
                <a:solidFill>
                  <a:schemeClr val="accent2">
                    <a:lumMod val="60000"/>
                    <a:lumOff val="40000"/>
                  </a:schemeClr>
                </a:solidFill>
                <a:latin typeface="+mn-lt"/>
                <a:ea typeface="UGent Panno Text" charset="0"/>
                <a:cs typeface="UGent Panno Text" charset="0"/>
              </a:defRPr>
            </a:lvl1pPr>
          </a:lstStyle>
          <a:p>
            <a:pPr>
              <a:defRPr/>
            </a:pPr>
            <a:r>
              <a:rPr lang="nl-BE"/>
              <a:t>C. Develder, et al., "Home Energy Management in the context of consumer-centric power systems", Daikin TIC, Osaka, Japan, 30 Oct. 2024</a:t>
            </a:r>
            <a:endParaRPr lang="en-US"/>
          </a:p>
        </p:txBody>
      </p:sp>
      <p:sp>
        <p:nvSpPr>
          <p:cNvPr id="404514" name="Rectangle 34"/>
          <p:cNvSpPr>
            <a:spLocks noGrp="1" noChangeArrowheads="1"/>
          </p:cNvSpPr>
          <p:nvPr>
            <p:ph type="sldNum" sz="quarter" idx="4"/>
          </p:nvPr>
        </p:nvSpPr>
        <p:spPr bwMode="auto">
          <a:xfrm>
            <a:off x="10986171" y="6198698"/>
            <a:ext cx="789517" cy="406400"/>
          </a:xfrm>
          <a:prstGeom prst="rect">
            <a:avLst/>
          </a:prstGeom>
          <a:noFill/>
          <a:ln w="9525">
            <a:noFill/>
            <a:miter lim="800000"/>
            <a:headEnd/>
            <a:tailEnd/>
          </a:ln>
          <a:effectLst/>
        </p:spPr>
        <p:txBody>
          <a:bodyPr vert="horz" wrap="square" lIns="0" tIns="0" rIns="0" bIns="0" numCol="1" anchor="ctr" anchorCtr="1" compatLnSpc="1">
            <a:prstTxWarp prst="textNoShape">
              <a:avLst/>
            </a:prstTxWarp>
          </a:bodyPr>
          <a:lstStyle>
            <a:lvl1pPr algn="r">
              <a:defRPr sz="1000" b="0">
                <a:solidFill>
                  <a:schemeClr val="accent2">
                    <a:lumMod val="60000"/>
                    <a:lumOff val="40000"/>
                  </a:schemeClr>
                </a:solidFill>
                <a:latin typeface="+mn-lt"/>
                <a:ea typeface="UGent Panno Text" charset="0"/>
                <a:cs typeface="UGent Panno Text" charset="0"/>
              </a:defRPr>
            </a:lvl1pPr>
          </a:lstStyle>
          <a:p>
            <a:pPr>
              <a:defRPr/>
            </a:pPr>
            <a:fld id="{9979E472-F673-4ED4-A86E-D1C34A0AEC76}" type="slidenum">
              <a:rPr lang="en-US" smtClean="0"/>
              <a:pPr>
                <a:defRPr/>
              </a:pPr>
              <a:t>‹#›</a:t>
            </a:fld>
            <a:endParaRPr lang="en-US"/>
          </a:p>
        </p:txBody>
      </p:sp>
      <p:pic>
        <p:nvPicPr>
          <p:cNvPr id="2" name="Picture 1">
            <a:extLst>
              <a:ext uri="{FF2B5EF4-FFF2-40B4-BE49-F238E27FC236}">
                <a16:creationId xmlns:a16="http://schemas.microsoft.com/office/drawing/2014/main" id="{C9FE7289-D1A0-BB2C-587D-71CB42592900}"/>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03316" y="6201530"/>
            <a:ext cx="1068646" cy="505233"/>
          </a:xfrm>
          <a:prstGeom prst="rect">
            <a:avLst/>
          </a:prstGeom>
        </p:spPr>
      </p:pic>
    </p:spTree>
  </p:cSld>
  <p:clrMap bg1="lt1" tx1="dk1" bg2="lt2" tx2="dk2" accent1="accent1" accent2="accent2" accent3="accent3" accent4="accent4" accent5="accent5" accent6="accent6" hlink="hlink" folHlink="folHlink"/>
  <p:sldLayoutIdLst>
    <p:sldLayoutId id="2147483945" r:id="rId1"/>
    <p:sldLayoutId id="2147483935" r:id="rId2"/>
    <p:sldLayoutId id="2147483936" r:id="rId3"/>
    <p:sldLayoutId id="2147483947" r:id="rId4"/>
    <p:sldLayoutId id="2147483948" r:id="rId5"/>
    <p:sldLayoutId id="2147483946" r:id="rId6"/>
    <p:sldLayoutId id="2147483937" r:id="rId7"/>
    <p:sldLayoutId id="2147483938" r:id="rId8"/>
    <p:sldLayoutId id="2147483939" r:id="rId9"/>
    <p:sldLayoutId id="2147483940" r:id="rId10"/>
    <p:sldLayoutId id="2147483949" r:id="rId11"/>
  </p:sldLayoutIdLst>
  <p:hf sldNum="0" hdr="0" dt="0"/>
  <p:txStyles>
    <p:titleStyle>
      <a:lvl1pPr algn="l" rtl="0" eaLnBrk="0" fontAlgn="base" hangingPunct="0">
        <a:spcBef>
          <a:spcPct val="0"/>
        </a:spcBef>
        <a:spcAft>
          <a:spcPct val="0"/>
        </a:spcAft>
        <a:defRPr sz="3200" b="1">
          <a:solidFill>
            <a:schemeClr val="accent2"/>
          </a:solidFill>
          <a:latin typeface="+mj-lt"/>
          <a:ea typeface="UGent Panno Text" charset="0"/>
          <a:cs typeface="UGent Panno Text" charset="0"/>
        </a:defRPr>
      </a:lvl1pPr>
      <a:lvl2pPr algn="l" rtl="0" eaLnBrk="0" fontAlgn="base" hangingPunct="0">
        <a:spcBef>
          <a:spcPct val="0"/>
        </a:spcBef>
        <a:spcAft>
          <a:spcPct val="0"/>
        </a:spcAft>
        <a:defRPr sz="2800" b="1">
          <a:solidFill>
            <a:schemeClr val="tx1"/>
          </a:solidFill>
          <a:latin typeface="Arial" charset="0"/>
          <a:cs typeface="Arial" charset="0"/>
        </a:defRPr>
      </a:lvl2pPr>
      <a:lvl3pPr algn="l" rtl="0" eaLnBrk="0" fontAlgn="base" hangingPunct="0">
        <a:spcBef>
          <a:spcPct val="0"/>
        </a:spcBef>
        <a:spcAft>
          <a:spcPct val="0"/>
        </a:spcAft>
        <a:defRPr sz="2800" b="1">
          <a:solidFill>
            <a:schemeClr val="tx1"/>
          </a:solidFill>
          <a:latin typeface="Arial" charset="0"/>
          <a:cs typeface="Arial" charset="0"/>
        </a:defRPr>
      </a:lvl3pPr>
      <a:lvl4pPr algn="l" rtl="0" eaLnBrk="0" fontAlgn="base" hangingPunct="0">
        <a:spcBef>
          <a:spcPct val="0"/>
        </a:spcBef>
        <a:spcAft>
          <a:spcPct val="0"/>
        </a:spcAft>
        <a:defRPr sz="2800" b="1">
          <a:solidFill>
            <a:schemeClr val="tx1"/>
          </a:solidFill>
          <a:latin typeface="Arial" charset="0"/>
          <a:cs typeface="Arial" charset="0"/>
        </a:defRPr>
      </a:lvl4pPr>
      <a:lvl5pPr algn="l" rtl="0" eaLnBrk="0" fontAlgn="base" hangingPunct="0">
        <a:spcBef>
          <a:spcPct val="0"/>
        </a:spcBef>
        <a:spcAft>
          <a:spcPct val="0"/>
        </a:spcAft>
        <a:defRPr sz="2800" b="1">
          <a:solidFill>
            <a:schemeClr val="tx1"/>
          </a:solidFill>
          <a:latin typeface="Arial" charset="0"/>
          <a:cs typeface="Arial" charset="0"/>
        </a:defRPr>
      </a:lvl5pPr>
      <a:lvl6pPr marL="457200" algn="l" rtl="0" fontAlgn="base">
        <a:spcBef>
          <a:spcPct val="0"/>
        </a:spcBef>
        <a:spcAft>
          <a:spcPct val="0"/>
        </a:spcAft>
        <a:defRPr sz="2800" b="1">
          <a:solidFill>
            <a:schemeClr val="tx1"/>
          </a:solidFill>
          <a:latin typeface="Arial" charset="0"/>
          <a:cs typeface="Arial" charset="0"/>
        </a:defRPr>
      </a:lvl6pPr>
      <a:lvl7pPr marL="914400" algn="l" rtl="0" fontAlgn="base">
        <a:spcBef>
          <a:spcPct val="0"/>
        </a:spcBef>
        <a:spcAft>
          <a:spcPct val="0"/>
        </a:spcAft>
        <a:defRPr sz="2800" b="1">
          <a:solidFill>
            <a:schemeClr val="tx1"/>
          </a:solidFill>
          <a:latin typeface="Arial" charset="0"/>
          <a:cs typeface="Arial" charset="0"/>
        </a:defRPr>
      </a:lvl7pPr>
      <a:lvl8pPr marL="1371600" algn="l" rtl="0" fontAlgn="base">
        <a:spcBef>
          <a:spcPct val="0"/>
        </a:spcBef>
        <a:spcAft>
          <a:spcPct val="0"/>
        </a:spcAft>
        <a:defRPr sz="2800" b="1">
          <a:solidFill>
            <a:schemeClr val="tx1"/>
          </a:solidFill>
          <a:latin typeface="Arial" charset="0"/>
          <a:cs typeface="Arial" charset="0"/>
        </a:defRPr>
      </a:lvl8pPr>
      <a:lvl9pPr marL="1828800" algn="l" rtl="0" fontAlgn="base">
        <a:spcBef>
          <a:spcPct val="0"/>
        </a:spcBef>
        <a:spcAft>
          <a:spcPct val="0"/>
        </a:spcAft>
        <a:defRPr sz="2800" b="1">
          <a:solidFill>
            <a:schemeClr val="tx1"/>
          </a:solidFill>
          <a:latin typeface="Arial" charset="0"/>
          <a:cs typeface="Arial" charset="0"/>
        </a:defRPr>
      </a:lvl9pPr>
    </p:titleStyle>
    <p:bodyStyle>
      <a:lvl1pPr marL="228600" indent="-228600" algn="l" rtl="0" eaLnBrk="0" fontAlgn="base" hangingPunct="0">
        <a:spcBef>
          <a:spcPct val="20000"/>
        </a:spcBef>
        <a:spcAft>
          <a:spcPct val="0"/>
        </a:spcAft>
        <a:buClr>
          <a:schemeClr val="accent2"/>
        </a:buClr>
        <a:buFont typeface="Wingdings" pitchFamily="2" charset="2"/>
        <a:buChar char="§"/>
        <a:defRPr sz="2400">
          <a:solidFill>
            <a:schemeClr val="tx1"/>
          </a:solidFill>
          <a:latin typeface="+mn-lt"/>
          <a:ea typeface="UGent Panno Text" charset="0"/>
          <a:cs typeface="UGent Panno Text" charset="0"/>
        </a:defRPr>
      </a:lvl1pPr>
      <a:lvl2pPr marL="685800" indent="-228600" algn="l" rtl="0" eaLnBrk="0" fontAlgn="base" hangingPunct="0">
        <a:spcBef>
          <a:spcPct val="20000"/>
        </a:spcBef>
        <a:spcAft>
          <a:spcPct val="0"/>
        </a:spcAft>
        <a:buClr>
          <a:schemeClr val="accent2"/>
        </a:buClr>
        <a:buSzPct val="110000"/>
        <a:buFont typeface="Calibri" pitchFamily="34" charset="0"/>
        <a:buChar char="•"/>
        <a:defRPr sz="2000">
          <a:solidFill>
            <a:schemeClr val="tx1"/>
          </a:solidFill>
          <a:latin typeface="+mn-lt"/>
          <a:ea typeface="UGent Panno Text" charset="0"/>
          <a:cs typeface="UGent Panno Text" charset="0"/>
        </a:defRPr>
      </a:lvl2pPr>
      <a:lvl3pPr marL="1104900" indent="-190500" algn="l" rtl="0" eaLnBrk="0" fontAlgn="base" hangingPunct="0">
        <a:spcBef>
          <a:spcPct val="20000"/>
        </a:spcBef>
        <a:spcAft>
          <a:spcPct val="0"/>
        </a:spcAft>
        <a:buClr>
          <a:schemeClr val="accent2"/>
        </a:buClr>
        <a:buFont typeface="Wingdings" pitchFamily="2" charset="2"/>
        <a:buChar char="§"/>
        <a:defRPr sz="2000">
          <a:solidFill>
            <a:schemeClr val="tx1"/>
          </a:solidFill>
          <a:latin typeface="+mn-lt"/>
          <a:ea typeface="UGent Panno Text" charset="0"/>
          <a:cs typeface="UGent Panno Text" charset="0"/>
        </a:defRPr>
      </a:lvl3pPr>
      <a:lvl4pPr marL="1562100" indent="-190500" algn="l" rtl="0" eaLnBrk="0" fontAlgn="base" hangingPunct="0">
        <a:spcBef>
          <a:spcPct val="20000"/>
        </a:spcBef>
        <a:spcAft>
          <a:spcPct val="0"/>
        </a:spcAft>
        <a:buClr>
          <a:schemeClr val="accent2"/>
        </a:buClr>
        <a:buFont typeface="Arial" pitchFamily="34" charset="0"/>
        <a:buChar char="•"/>
        <a:defRPr sz="1800">
          <a:solidFill>
            <a:schemeClr val="tx1"/>
          </a:solidFill>
          <a:latin typeface="+mn-lt"/>
          <a:ea typeface="UGent Panno Text" charset="0"/>
          <a:cs typeface="UGent Panno Text" charset="0"/>
        </a:defRPr>
      </a:lvl4pPr>
      <a:lvl5pPr marL="2019300" indent="-190500" algn="l" rtl="0" eaLnBrk="0" fontAlgn="base" hangingPunct="0">
        <a:spcBef>
          <a:spcPct val="20000"/>
        </a:spcBef>
        <a:spcAft>
          <a:spcPct val="0"/>
        </a:spcAft>
        <a:buClr>
          <a:schemeClr val="accent2"/>
        </a:buClr>
        <a:buFont typeface="Calibri" pitchFamily="34" charset="0"/>
        <a:buChar char="–"/>
        <a:defRPr sz="1800">
          <a:solidFill>
            <a:schemeClr val="tx1"/>
          </a:solidFill>
          <a:latin typeface="+mn-lt"/>
          <a:ea typeface="UGent Panno Text" charset="0"/>
          <a:cs typeface="UGent Panno Text" charset="0"/>
        </a:defRPr>
      </a:lvl5pPr>
      <a:lvl6pPr marL="24765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6pPr>
      <a:lvl7pPr marL="29337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7pPr>
      <a:lvl8pPr marL="33909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8pPr>
      <a:lvl9pPr marL="3848100" indent="-190500" algn="l" rtl="0" fontAlgn="base">
        <a:spcBef>
          <a:spcPct val="20000"/>
        </a:spcBef>
        <a:spcAft>
          <a:spcPct val="0"/>
        </a:spcAft>
        <a:buClr>
          <a:srgbClr val="CC0066"/>
        </a:buClr>
        <a:buFont typeface="Wingdings" pitchFamily="2" charset="2"/>
        <a:buChar char="§"/>
        <a:defRPr sz="2000">
          <a:solidFill>
            <a:schemeClr val="tx1"/>
          </a:solidFill>
          <a:latin typeface="+mn-lt"/>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253593" y="1357850"/>
            <a:ext cx="7124560" cy="1719263"/>
          </a:xfrm>
        </p:spPr>
        <p:txBody>
          <a:bodyPr anchor="ctr"/>
          <a:lstStyle/>
          <a:p>
            <a:pPr marL="353695"/>
            <a:r>
              <a:rPr lang="en-US" sz="3200" noProof="0"/>
              <a:t>WP5 – </a:t>
            </a:r>
            <a:r>
              <a:rPr lang="pl-PL" sz="3200" noProof="0" err="1"/>
              <a:t>meeting</a:t>
            </a:r>
            <a:endParaRPr lang="en-US" sz="2000" b="1" noProof="0"/>
          </a:p>
        </p:txBody>
      </p:sp>
      <p:sp>
        <p:nvSpPr>
          <p:cNvPr id="7" name="Subtitle 1">
            <a:extLst>
              <a:ext uri="{FF2B5EF4-FFF2-40B4-BE49-F238E27FC236}">
                <a16:creationId xmlns:a16="http://schemas.microsoft.com/office/drawing/2014/main" id="{E1E95BEC-40E5-44E0-B4C3-10120670BA06}"/>
              </a:ext>
            </a:extLst>
          </p:cNvPr>
          <p:cNvSpPr>
            <a:spLocks noGrp="1"/>
          </p:cNvSpPr>
          <p:nvPr>
            <p:ph type="subTitle" idx="1"/>
          </p:nvPr>
        </p:nvSpPr>
        <p:spPr>
          <a:xfrm>
            <a:off x="4253593" y="4313411"/>
            <a:ext cx="6906776" cy="1152622"/>
          </a:xfrm>
        </p:spPr>
        <p:txBody>
          <a:bodyPr anchor="ctr"/>
          <a:lstStyle/>
          <a:p>
            <a:r>
              <a:rPr lang="en-US" sz="2400" noProof="0"/>
              <a:t>Ariel Oleksiak, Marcin Adamski, Franciszek Sidorski</a:t>
            </a:r>
            <a:r>
              <a:rPr lang="pl-PL" sz="2400" noProof="0"/>
              <a:t>, Tomasz Ciesielczyk</a:t>
            </a:r>
            <a:endParaRPr lang="en-US" sz="2400" noProof="0"/>
          </a:p>
          <a:p>
            <a:r>
              <a:rPr lang="en-US" sz="2400" noProof="0"/>
              <a:t>PSNC</a:t>
            </a:r>
          </a:p>
        </p:txBody>
      </p:sp>
      <p:sp>
        <p:nvSpPr>
          <p:cNvPr id="3" name="Title 5">
            <a:extLst>
              <a:ext uri="{FF2B5EF4-FFF2-40B4-BE49-F238E27FC236}">
                <a16:creationId xmlns:a16="http://schemas.microsoft.com/office/drawing/2014/main" id="{F3477E23-4DB5-6672-796E-50398E60C336}"/>
              </a:ext>
            </a:extLst>
          </p:cNvPr>
          <p:cNvSpPr txBox="1">
            <a:spLocks/>
          </p:cNvSpPr>
          <p:nvPr/>
        </p:nvSpPr>
        <p:spPr bwMode="auto">
          <a:xfrm>
            <a:off x="4257310" y="2628724"/>
            <a:ext cx="6906776" cy="687776"/>
          </a:xfrm>
          <a:prstGeom prst="rect">
            <a:avLst/>
          </a:prstGeom>
          <a:noFill/>
          <a:ln w="9525">
            <a:noFill/>
            <a:miter lim="800000"/>
            <a:headEnd/>
            <a:tailEnd/>
          </a:ln>
        </p:spPr>
        <p:txBody>
          <a:bodyPr vert="horz" wrap="square" lIns="0" tIns="0" rIns="0" bIns="0" numCol="1" anchor="ctr" anchorCtr="0" compatLnSpc="1">
            <a:prstTxWarp prst="textNoShape">
              <a:avLst/>
            </a:prstTxWarp>
          </a:bodyPr>
          <a:lstStyle>
            <a:lvl1pPr marL="354013" indent="0" algn="l" rtl="0" eaLnBrk="0" fontAlgn="base" hangingPunct="0">
              <a:spcBef>
                <a:spcPct val="0"/>
              </a:spcBef>
              <a:spcAft>
                <a:spcPct val="0"/>
              </a:spcAft>
              <a:defRPr sz="4400" b="1" u="none">
                <a:solidFill>
                  <a:schemeClr val="bg1"/>
                </a:solidFill>
                <a:latin typeface="+mj-lt"/>
                <a:ea typeface="UGent Panno Text" charset="0"/>
                <a:cs typeface="UGent Panno Text" charset="0"/>
              </a:defRPr>
            </a:lvl1pPr>
            <a:lvl2pPr algn="l" rtl="0" eaLnBrk="0" fontAlgn="base" hangingPunct="0">
              <a:spcBef>
                <a:spcPct val="0"/>
              </a:spcBef>
              <a:spcAft>
                <a:spcPct val="0"/>
              </a:spcAft>
              <a:defRPr sz="2800" b="1">
                <a:solidFill>
                  <a:schemeClr val="tx1"/>
                </a:solidFill>
                <a:latin typeface="Arial" charset="0"/>
                <a:cs typeface="Arial" charset="0"/>
              </a:defRPr>
            </a:lvl2pPr>
            <a:lvl3pPr algn="l" rtl="0" eaLnBrk="0" fontAlgn="base" hangingPunct="0">
              <a:spcBef>
                <a:spcPct val="0"/>
              </a:spcBef>
              <a:spcAft>
                <a:spcPct val="0"/>
              </a:spcAft>
              <a:defRPr sz="2800" b="1">
                <a:solidFill>
                  <a:schemeClr val="tx1"/>
                </a:solidFill>
                <a:latin typeface="Arial" charset="0"/>
                <a:cs typeface="Arial" charset="0"/>
              </a:defRPr>
            </a:lvl3pPr>
            <a:lvl4pPr algn="l" rtl="0" eaLnBrk="0" fontAlgn="base" hangingPunct="0">
              <a:spcBef>
                <a:spcPct val="0"/>
              </a:spcBef>
              <a:spcAft>
                <a:spcPct val="0"/>
              </a:spcAft>
              <a:defRPr sz="2800" b="1">
                <a:solidFill>
                  <a:schemeClr val="tx1"/>
                </a:solidFill>
                <a:latin typeface="Arial" charset="0"/>
                <a:cs typeface="Arial" charset="0"/>
              </a:defRPr>
            </a:lvl4pPr>
            <a:lvl5pPr algn="l" rtl="0" eaLnBrk="0" fontAlgn="base" hangingPunct="0">
              <a:spcBef>
                <a:spcPct val="0"/>
              </a:spcBef>
              <a:spcAft>
                <a:spcPct val="0"/>
              </a:spcAft>
              <a:defRPr sz="2800" b="1">
                <a:solidFill>
                  <a:schemeClr val="tx1"/>
                </a:solidFill>
                <a:latin typeface="Arial" charset="0"/>
                <a:cs typeface="Arial" charset="0"/>
              </a:defRPr>
            </a:lvl5pPr>
            <a:lvl6pPr marL="457200" algn="l" rtl="0" fontAlgn="base">
              <a:spcBef>
                <a:spcPct val="0"/>
              </a:spcBef>
              <a:spcAft>
                <a:spcPct val="0"/>
              </a:spcAft>
              <a:defRPr sz="2800" b="1">
                <a:solidFill>
                  <a:schemeClr val="tx1"/>
                </a:solidFill>
                <a:latin typeface="Arial" charset="0"/>
                <a:cs typeface="Arial" charset="0"/>
              </a:defRPr>
            </a:lvl6pPr>
            <a:lvl7pPr marL="914400" algn="l" rtl="0" fontAlgn="base">
              <a:spcBef>
                <a:spcPct val="0"/>
              </a:spcBef>
              <a:spcAft>
                <a:spcPct val="0"/>
              </a:spcAft>
              <a:defRPr sz="2800" b="1">
                <a:solidFill>
                  <a:schemeClr val="tx1"/>
                </a:solidFill>
                <a:latin typeface="Arial" charset="0"/>
                <a:cs typeface="Arial" charset="0"/>
              </a:defRPr>
            </a:lvl7pPr>
            <a:lvl8pPr marL="1371600" algn="l" rtl="0" fontAlgn="base">
              <a:spcBef>
                <a:spcPct val="0"/>
              </a:spcBef>
              <a:spcAft>
                <a:spcPct val="0"/>
              </a:spcAft>
              <a:defRPr sz="2800" b="1">
                <a:solidFill>
                  <a:schemeClr val="tx1"/>
                </a:solidFill>
                <a:latin typeface="Arial" charset="0"/>
                <a:cs typeface="Arial" charset="0"/>
              </a:defRPr>
            </a:lvl8pPr>
            <a:lvl9pPr marL="1828800" algn="l" rtl="0" fontAlgn="base">
              <a:spcBef>
                <a:spcPct val="0"/>
              </a:spcBef>
              <a:spcAft>
                <a:spcPct val="0"/>
              </a:spcAft>
              <a:defRPr sz="2800" b="1">
                <a:solidFill>
                  <a:schemeClr val="tx1"/>
                </a:solidFill>
                <a:latin typeface="Arial" charset="0"/>
                <a:cs typeface="Arial" charset="0"/>
              </a:defRPr>
            </a:lvl9pPr>
          </a:lstStyle>
          <a:p>
            <a:pPr marL="353695"/>
            <a:r>
              <a:rPr lang="pl-PL" sz="2000" b="0" kern="0"/>
              <a:t>23 </a:t>
            </a:r>
            <a:r>
              <a:rPr lang="pl-PL" sz="2000" b="0" kern="0" err="1"/>
              <a:t>September</a:t>
            </a:r>
            <a:r>
              <a:rPr lang="pl-PL" sz="2000" b="0" kern="0"/>
              <a:t> 2025</a:t>
            </a:r>
            <a:endParaRPr lang="en-US" sz="2000" b="0" noProof="0"/>
          </a:p>
        </p:txBody>
      </p:sp>
    </p:spTree>
    <p:extLst>
      <p:ext uri="{BB962C8B-B14F-4D97-AF65-F5344CB8AC3E}">
        <p14:creationId xmlns:p14="http://schemas.microsoft.com/office/powerpoint/2010/main" val="3315600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170F23A-2D3F-D64B-8001-23FBA4BF3F5E}"/>
              </a:ext>
            </a:extLst>
          </p:cNvPr>
          <p:cNvSpPr>
            <a:spLocks noGrp="1"/>
          </p:cNvSpPr>
          <p:nvPr>
            <p:ph type="title"/>
          </p:nvPr>
        </p:nvSpPr>
        <p:spPr/>
        <p:txBody>
          <a:bodyPr/>
          <a:lstStyle/>
          <a:p>
            <a:r>
              <a:rPr lang="en-GB" noProof="0"/>
              <a:t>WP5 – </a:t>
            </a:r>
            <a:r>
              <a:rPr lang="pl-PL" noProof="0"/>
              <a:t>agenda</a:t>
            </a:r>
            <a:endParaRPr lang="en-GB" noProof="0"/>
          </a:p>
        </p:txBody>
      </p:sp>
      <p:sp>
        <p:nvSpPr>
          <p:cNvPr id="3" name="Symbol zastępczy zawartości 2">
            <a:extLst>
              <a:ext uri="{FF2B5EF4-FFF2-40B4-BE49-F238E27FC236}">
                <a16:creationId xmlns:a16="http://schemas.microsoft.com/office/drawing/2014/main" id="{4636B798-646A-A66C-1953-E04D67103EC3}"/>
              </a:ext>
            </a:extLst>
          </p:cNvPr>
          <p:cNvSpPr>
            <a:spLocks noGrp="1"/>
          </p:cNvSpPr>
          <p:nvPr>
            <p:ph idx="1"/>
          </p:nvPr>
        </p:nvSpPr>
        <p:spPr/>
        <p:txBody>
          <a:bodyPr/>
          <a:lstStyle/>
          <a:p>
            <a:pPr marL="971550" lvl="1" indent="-514350">
              <a:buFont typeface="+mj-lt"/>
              <a:buAutoNum type="arabicPeriod"/>
            </a:pPr>
            <a:r>
              <a:rPr lang="en-GB" sz="2800"/>
              <a:t>W</a:t>
            </a:r>
            <a:r>
              <a:rPr lang="pl-PL" sz="2800"/>
              <a:t>P5 work plan, status</a:t>
            </a:r>
            <a:endParaRPr lang="en-GB" sz="2800" noProof="0"/>
          </a:p>
          <a:p>
            <a:pPr marL="1390650" lvl="2" indent="-514350"/>
            <a:r>
              <a:rPr lang="pl-PL" sz="2800" noProof="0"/>
              <a:t>T5.1 - status</a:t>
            </a:r>
          </a:p>
          <a:p>
            <a:pPr lvl="3">
              <a:buFontTx/>
              <a:buChar char="-"/>
            </a:pPr>
            <a:r>
              <a:rPr lang="pl-PL" sz="2600"/>
              <a:t>„</a:t>
            </a:r>
            <a:r>
              <a:rPr lang="en-US" sz="2600" err="1"/>
              <a:t>InterConnect</a:t>
            </a:r>
            <a:r>
              <a:rPr lang="en-US" sz="2600"/>
              <a:t> DSO interface + </a:t>
            </a:r>
            <a:r>
              <a:rPr lang="en-US" sz="2600" err="1"/>
              <a:t>Intoduction</a:t>
            </a:r>
            <a:r>
              <a:rPr lang="en-US" sz="2600"/>
              <a:t> to the Knowledge Engine</a:t>
            </a:r>
            <a:r>
              <a:rPr lang="pl-PL" sz="2600"/>
              <a:t>” (</a:t>
            </a:r>
            <a:r>
              <a:rPr lang="pl-PL" sz="2600" err="1"/>
              <a:t>presentation</a:t>
            </a:r>
            <a:r>
              <a:rPr lang="pl-PL" sz="2600"/>
              <a:t> by Youssef)</a:t>
            </a:r>
          </a:p>
          <a:p>
            <a:pPr lvl="3">
              <a:buFontTx/>
              <a:buChar char="-"/>
            </a:pPr>
            <a:r>
              <a:rPr lang="en-US" sz="2600"/>
              <a:t>Knowledge Engine</a:t>
            </a:r>
            <a:r>
              <a:rPr lang="pl-PL" sz="2600"/>
              <a:t> in Enea Operator pilot</a:t>
            </a:r>
            <a:r>
              <a:rPr lang="pl-PL" sz="2600" noProof="0"/>
              <a:t> </a:t>
            </a:r>
          </a:p>
          <a:p>
            <a:pPr marL="1390650" lvl="2" indent="-514350"/>
            <a:r>
              <a:rPr lang="pl-PL" sz="2800"/>
              <a:t>T5.2 - status</a:t>
            </a:r>
          </a:p>
          <a:p>
            <a:pPr marL="1390650" lvl="2" indent="-514350"/>
            <a:r>
              <a:rPr lang="pl-PL" sz="2800" noProof="0"/>
              <a:t>T5.3 – status</a:t>
            </a:r>
          </a:p>
          <a:p>
            <a:pPr lvl="3">
              <a:buFontTx/>
              <a:buChar char="-"/>
            </a:pPr>
            <a:r>
              <a:rPr lang="pl-PL" sz="2600"/>
              <a:t>„</a:t>
            </a:r>
            <a:r>
              <a:rPr lang="en-US" sz="2600"/>
              <a:t>Provision of Flexibility Trade-off Services and Frameworks</a:t>
            </a:r>
            <a:r>
              <a:rPr lang="pl-PL" sz="2600"/>
              <a:t>” (</a:t>
            </a:r>
            <a:r>
              <a:rPr lang="pl-PL" sz="2600" err="1"/>
              <a:t>presentation</a:t>
            </a:r>
            <a:r>
              <a:rPr lang="pl-PL" sz="2600"/>
              <a:t> by Franek)</a:t>
            </a:r>
            <a:r>
              <a:rPr lang="pl-PL"/>
              <a:t> </a:t>
            </a:r>
          </a:p>
          <a:p>
            <a:pPr marL="0" indent="0">
              <a:buNone/>
            </a:pPr>
            <a:endParaRPr lang="en-GB" noProof="0"/>
          </a:p>
        </p:txBody>
      </p:sp>
    </p:spTree>
    <p:extLst>
      <p:ext uri="{BB962C8B-B14F-4D97-AF65-F5344CB8AC3E}">
        <p14:creationId xmlns:p14="http://schemas.microsoft.com/office/powerpoint/2010/main" val="1264723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02A74CF-618A-A66D-6B2E-57F5F8EF0B17}"/>
              </a:ext>
            </a:extLst>
          </p:cNvPr>
          <p:cNvSpPr>
            <a:spLocks noGrp="1"/>
          </p:cNvSpPr>
          <p:nvPr>
            <p:ph type="title"/>
          </p:nvPr>
        </p:nvSpPr>
        <p:spPr/>
        <p:txBody>
          <a:bodyPr/>
          <a:lstStyle/>
          <a:p>
            <a:r>
              <a:rPr lang="pl-PL"/>
              <a:t>WP5 - </a:t>
            </a:r>
            <a:r>
              <a:rPr lang="nl-BE"/>
              <a:t>Timing &amp; Efforts</a:t>
            </a:r>
          </a:p>
        </p:txBody>
      </p:sp>
      <p:graphicFrame>
        <p:nvGraphicFramePr>
          <p:cNvPr id="6" name="Tabel 5">
            <a:extLst>
              <a:ext uri="{FF2B5EF4-FFF2-40B4-BE49-F238E27FC236}">
                <a16:creationId xmlns:a16="http://schemas.microsoft.com/office/drawing/2014/main" id="{D4B5779F-47FD-4426-8732-DF0AE97B16E5}"/>
              </a:ext>
            </a:extLst>
          </p:cNvPr>
          <p:cNvGraphicFramePr>
            <a:graphicFrameLocks noGrp="1"/>
          </p:cNvGraphicFramePr>
          <p:nvPr>
            <p:extLst>
              <p:ext uri="{D42A27DB-BD31-4B8C-83A1-F6EECF244321}">
                <p14:modId xmlns:p14="http://schemas.microsoft.com/office/powerpoint/2010/main" val="1000310664"/>
              </p:ext>
            </p:extLst>
          </p:nvPr>
        </p:nvGraphicFramePr>
        <p:xfrm>
          <a:off x="0" y="1008907"/>
          <a:ext cx="12191987" cy="3200400"/>
        </p:xfrm>
        <a:graphic>
          <a:graphicData uri="http://schemas.openxmlformats.org/drawingml/2006/table">
            <a:tbl>
              <a:tblPr firstRow="1" bandRow="1">
                <a:tableStyleId>{21E4AEA4-8DFA-4A89-87EB-49C32662AFE0}</a:tableStyleId>
              </a:tblPr>
              <a:tblGrid>
                <a:gridCol w="3541550">
                  <a:extLst>
                    <a:ext uri="{9D8B030D-6E8A-4147-A177-3AD203B41FA5}">
                      <a16:colId xmlns:a16="http://schemas.microsoft.com/office/drawing/2014/main" val="3237656415"/>
                    </a:ext>
                  </a:extLst>
                </a:gridCol>
                <a:gridCol w="896937">
                  <a:extLst>
                    <a:ext uri="{9D8B030D-6E8A-4147-A177-3AD203B41FA5}">
                      <a16:colId xmlns:a16="http://schemas.microsoft.com/office/drawing/2014/main" val="3161350679"/>
                    </a:ext>
                  </a:extLst>
                </a:gridCol>
                <a:gridCol w="215375">
                  <a:extLst>
                    <a:ext uri="{9D8B030D-6E8A-4147-A177-3AD203B41FA5}">
                      <a16:colId xmlns:a16="http://schemas.microsoft.com/office/drawing/2014/main" val="1059601604"/>
                    </a:ext>
                  </a:extLst>
                </a:gridCol>
                <a:gridCol w="222470">
                  <a:extLst>
                    <a:ext uri="{9D8B030D-6E8A-4147-A177-3AD203B41FA5}">
                      <a16:colId xmlns:a16="http://schemas.microsoft.com/office/drawing/2014/main" val="3721517870"/>
                    </a:ext>
                  </a:extLst>
                </a:gridCol>
                <a:gridCol w="208280">
                  <a:extLst>
                    <a:ext uri="{9D8B030D-6E8A-4147-A177-3AD203B41FA5}">
                      <a16:colId xmlns:a16="http://schemas.microsoft.com/office/drawing/2014/main" val="215447637"/>
                    </a:ext>
                  </a:extLst>
                </a:gridCol>
                <a:gridCol w="215375">
                  <a:extLst>
                    <a:ext uri="{9D8B030D-6E8A-4147-A177-3AD203B41FA5}">
                      <a16:colId xmlns:a16="http://schemas.microsoft.com/office/drawing/2014/main" val="2415175967"/>
                    </a:ext>
                  </a:extLst>
                </a:gridCol>
                <a:gridCol w="215375">
                  <a:extLst>
                    <a:ext uri="{9D8B030D-6E8A-4147-A177-3AD203B41FA5}">
                      <a16:colId xmlns:a16="http://schemas.microsoft.com/office/drawing/2014/main" val="2969682544"/>
                    </a:ext>
                  </a:extLst>
                </a:gridCol>
                <a:gridCol w="215375">
                  <a:extLst>
                    <a:ext uri="{9D8B030D-6E8A-4147-A177-3AD203B41FA5}">
                      <a16:colId xmlns:a16="http://schemas.microsoft.com/office/drawing/2014/main" val="1079878974"/>
                    </a:ext>
                  </a:extLst>
                </a:gridCol>
                <a:gridCol w="215375">
                  <a:extLst>
                    <a:ext uri="{9D8B030D-6E8A-4147-A177-3AD203B41FA5}">
                      <a16:colId xmlns:a16="http://schemas.microsoft.com/office/drawing/2014/main" val="842003510"/>
                    </a:ext>
                  </a:extLst>
                </a:gridCol>
                <a:gridCol w="215375">
                  <a:extLst>
                    <a:ext uri="{9D8B030D-6E8A-4147-A177-3AD203B41FA5}">
                      <a16:colId xmlns:a16="http://schemas.microsoft.com/office/drawing/2014/main" val="3376441804"/>
                    </a:ext>
                  </a:extLst>
                </a:gridCol>
                <a:gridCol w="215375">
                  <a:extLst>
                    <a:ext uri="{9D8B030D-6E8A-4147-A177-3AD203B41FA5}">
                      <a16:colId xmlns:a16="http://schemas.microsoft.com/office/drawing/2014/main" val="2070216918"/>
                    </a:ext>
                  </a:extLst>
                </a:gridCol>
                <a:gridCol w="215375">
                  <a:extLst>
                    <a:ext uri="{9D8B030D-6E8A-4147-A177-3AD203B41FA5}">
                      <a16:colId xmlns:a16="http://schemas.microsoft.com/office/drawing/2014/main" val="1053325231"/>
                    </a:ext>
                  </a:extLst>
                </a:gridCol>
                <a:gridCol w="215375">
                  <a:extLst>
                    <a:ext uri="{9D8B030D-6E8A-4147-A177-3AD203B41FA5}">
                      <a16:colId xmlns:a16="http://schemas.microsoft.com/office/drawing/2014/main" val="2157999718"/>
                    </a:ext>
                  </a:extLst>
                </a:gridCol>
                <a:gridCol w="215375">
                  <a:extLst>
                    <a:ext uri="{9D8B030D-6E8A-4147-A177-3AD203B41FA5}">
                      <a16:colId xmlns:a16="http://schemas.microsoft.com/office/drawing/2014/main" val="1631435638"/>
                    </a:ext>
                  </a:extLst>
                </a:gridCol>
                <a:gridCol w="215375">
                  <a:extLst>
                    <a:ext uri="{9D8B030D-6E8A-4147-A177-3AD203B41FA5}">
                      <a16:colId xmlns:a16="http://schemas.microsoft.com/office/drawing/2014/main" val="3742649142"/>
                    </a:ext>
                  </a:extLst>
                </a:gridCol>
                <a:gridCol w="215375">
                  <a:extLst>
                    <a:ext uri="{9D8B030D-6E8A-4147-A177-3AD203B41FA5}">
                      <a16:colId xmlns:a16="http://schemas.microsoft.com/office/drawing/2014/main" val="3461055951"/>
                    </a:ext>
                  </a:extLst>
                </a:gridCol>
                <a:gridCol w="215375">
                  <a:extLst>
                    <a:ext uri="{9D8B030D-6E8A-4147-A177-3AD203B41FA5}">
                      <a16:colId xmlns:a16="http://schemas.microsoft.com/office/drawing/2014/main" val="3792505594"/>
                    </a:ext>
                  </a:extLst>
                </a:gridCol>
                <a:gridCol w="215375">
                  <a:extLst>
                    <a:ext uri="{9D8B030D-6E8A-4147-A177-3AD203B41FA5}">
                      <a16:colId xmlns:a16="http://schemas.microsoft.com/office/drawing/2014/main" val="1611889997"/>
                    </a:ext>
                  </a:extLst>
                </a:gridCol>
                <a:gridCol w="215375">
                  <a:extLst>
                    <a:ext uri="{9D8B030D-6E8A-4147-A177-3AD203B41FA5}">
                      <a16:colId xmlns:a16="http://schemas.microsoft.com/office/drawing/2014/main" val="3539588316"/>
                    </a:ext>
                  </a:extLst>
                </a:gridCol>
                <a:gridCol w="208280">
                  <a:extLst>
                    <a:ext uri="{9D8B030D-6E8A-4147-A177-3AD203B41FA5}">
                      <a16:colId xmlns:a16="http://schemas.microsoft.com/office/drawing/2014/main" val="1841611141"/>
                    </a:ext>
                  </a:extLst>
                </a:gridCol>
                <a:gridCol w="222470">
                  <a:extLst>
                    <a:ext uri="{9D8B030D-6E8A-4147-A177-3AD203B41FA5}">
                      <a16:colId xmlns:a16="http://schemas.microsoft.com/office/drawing/2014/main" val="39833593"/>
                    </a:ext>
                  </a:extLst>
                </a:gridCol>
                <a:gridCol w="215375">
                  <a:extLst>
                    <a:ext uri="{9D8B030D-6E8A-4147-A177-3AD203B41FA5}">
                      <a16:colId xmlns:a16="http://schemas.microsoft.com/office/drawing/2014/main" val="1782843234"/>
                    </a:ext>
                  </a:extLst>
                </a:gridCol>
                <a:gridCol w="215375">
                  <a:extLst>
                    <a:ext uri="{9D8B030D-6E8A-4147-A177-3AD203B41FA5}">
                      <a16:colId xmlns:a16="http://schemas.microsoft.com/office/drawing/2014/main" val="2386161984"/>
                    </a:ext>
                  </a:extLst>
                </a:gridCol>
                <a:gridCol w="215375">
                  <a:extLst>
                    <a:ext uri="{9D8B030D-6E8A-4147-A177-3AD203B41FA5}">
                      <a16:colId xmlns:a16="http://schemas.microsoft.com/office/drawing/2014/main" val="2379418486"/>
                    </a:ext>
                  </a:extLst>
                </a:gridCol>
                <a:gridCol w="215375">
                  <a:extLst>
                    <a:ext uri="{9D8B030D-6E8A-4147-A177-3AD203B41FA5}">
                      <a16:colId xmlns:a16="http://schemas.microsoft.com/office/drawing/2014/main" val="2785192137"/>
                    </a:ext>
                  </a:extLst>
                </a:gridCol>
                <a:gridCol w="215375">
                  <a:extLst>
                    <a:ext uri="{9D8B030D-6E8A-4147-A177-3AD203B41FA5}">
                      <a16:colId xmlns:a16="http://schemas.microsoft.com/office/drawing/2014/main" val="3500992768"/>
                    </a:ext>
                  </a:extLst>
                </a:gridCol>
                <a:gridCol w="215375">
                  <a:extLst>
                    <a:ext uri="{9D8B030D-6E8A-4147-A177-3AD203B41FA5}">
                      <a16:colId xmlns:a16="http://schemas.microsoft.com/office/drawing/2014/main" val="1020598516"/>
                    </a:ext>
                  </a:extLst>
                </a:gridCol>
                <a:gridCol w="215375">
                  <a:extLst>
                    <a:ext uri="{9D8B030D-6E8A-4147-A177-3AD203B41FA5}">
                      <a16:colId xmlns:a16="http://schemas.microsoft.com/office/drawing/2014/main" val="317048548"/>
                    </a:ext>
                  </a:extLst>
                </a:gridCol>
                <a:gridCol w="215375">
                  <a:extLst>
                    <a:ext uri="{9D8B030D-6E8A-4147-A177-3AD203B41FA5}">
                      <a16:colId xmlns:a16="http://schemas.microsoft.com/office/drawing/2014/main" val="1451858321"/>
                    </a:ext>
                  </a:extLst>
                </a:gridCol>
                <a:gridCol w="215375">
                  <a:extLst>
                    <a:ext uri="{9D8B030D-6E8A-4147-A177-3AD203B41FA5}">
                      <a16:colId xmlns:a16="http://schemas.microsoft.com/office/drawing/2014/main" val="884167682"/>
                    </a:ext>
                  </a:extLst>
                </a:gridCol>
                <a:gridCol w="215375">
                  <a:extLst>
                    <a:ext uri="{9D8B030D-6E8A-4147-A177-3AD203B41FA5}">
                      <a16:colId xmlns:a16="http://schemas.microsoft.com/office/drawing/2014/main" val="1993140052"/>
                    </a:ext>
                  </a:extLst>
                </a:gridCol>
                <a:gridCol w="215375">
                  <a:extLst>
                    <a:ext uri="{9D8B030D-6E8A-4147-A177-3AD203B41FA5}">
                      <a16:colId xmlns:a16="http://schemas.microsoft.com/office/drawing/2014/main" val="2145929365"/>
                    </a:ext>
                  </a:extLst>
                </a:gridCol>
                <a:gridCol w="215375">
                  <a:extLst>
                    <a:ext uri="{9D8B030D-6E8A-4147-A177-3AD203B41FA5}">
                      <a16:colId xmlns:a16="http://schemas.microsoft.com/office/drawing/2014/main" val="2199078539"/>
                    </a:ext>
                  </a:extLst>
                </a:gridCol>
                <a:gridCol w="215375">
                  <a:extLst>
                    <a:ext uri="{9D8B030D-6E8A-4147-A177-3AD203B41FA5}">
                      <a16:colId xmlns:a16="http://schemas.microsoft.com/office/drawing/2014/main" val="1241995169"/>
                    </a:ext>
                  </a:extLst>
                </a:gridCol>
                <a:gridCol w="215375">
                  <a:extLst>
                    <a:ext uri="{9D8B030D-6E8A-4147-A177-3AD203B41FA5}">
                      <a16:colId xmlns:a16="http://schemas.microsoft.com/office/drawing/2014/main" val="495419701"/>
                    </a:ext>
                  </a:extLst>
                </a:gridCol>
                <a:gridCol w="215375">
                  <a:extLst>
                    <a:ext uri="{9D8B030D-6E8A-4147-A177-3AD203B41FA5}">
                      <a16:colId xmlns:a16="http://schemas.microsoft.com/office/drawing/2014/main" val="3563666795"/>
                    </a:ext>
                  </a:extLst>
                </a:gridCol>
                <a:gridCol w="215375">
                  <a:extLst>
                    <a:ext uri="{9D8B030D-6E8A-4147-A177-3AD203B41FA5}">
                      <a16:colId xmlns:a16="http://schemas.microsoft.com/office/drawing/2014/main" val="3937552621"/>
                    </a:ext>
                  </a:extLst>
                </a:gridCol>
                <a:gridCol w="215375">
                  <a:extLst>
                    <a:ext uri="{9D8B030D-6E8A-4147-A177-3AD203B41FA5}">
                      <a16:colId xmlns:a16="http://schemas.microsoft.com/office/drawing/2014/main" val="855197814"/>
                    </a:ext>
                  </a:extLst>
                </a:gridCol>
              </a:tblGrid>
              <a:tr h="370840">
                <a:tc>
                  <a:txBody>
                    <a:bodyPr/>
                    <a:lstStyle/>
                    <a:p>
                      <a:endParaRPr lang="nl-BE" sz="1200"/>
                    </a:p>
                  </a:txBody>
                  <a:tcPr/>
                </a:tc>
                <a:tc>
                  <a:txBody>
                    <a:bodyPr/>
                    <a:lstStyle/>
                    <a:p>
                      <a:r>
                        <a:rPr lang="nl-BE" sz="1800" b="0"/>
                        <a:t>Leader</a:t>
                      </a:r>
                    </a:p>
                  </a:txBody>
                  <a:tcPr/>
                </a:tc>
                <a:tc>
                  <a:txBody>
                    <a:bodyPr/>
                    <a:lstStyle/>
                    <a:p>
                      <a:r>
                        <a:rPr lang="nl-BE" sz="1200" b="0"/>
                        <a:t>1</a:t>
                      </a:r>
                    </a:p>
                  </a:txBody>
                  <a:tcPr/>
                </a:tc>
                <a:tc>
                  <a:txBody>
                    <a:bodyPr/>
                    <a:lstStyle/>
                    <a:p>
                      <a:r>
                        <a:rPr lang="nl-BE" sz="1200" b="0"/>
                        <a:t>2</a:t>
                      </a:r>
                    </a:p>
                  </a:txBody>
                  <a:tcPr/>
                </a:tc>
                <a:tc>
                  <a:txBody>
                    <a:bodyPr/>
                    <a:lstStyle/>
                    <a:p>
                      <a:r>
                        <a:rPr lang="nl-BE" sz="1200" b="0"/>
                        <a:t>3</a:t>
                      </a:r>
                    </a:p>
                  </a:txBody>
                  <a:tcPr/>
                </a:tc>
                <a:tc>
                  <a:txBody>
                    <a:bodyPr/>
                    <a:lstStyle/>
                    <a:p>
                      <a:r>
                        <a:rPr lang="nl-BE" sz="1200" b="0"/>
                        <a:t>4</a:t>
                      </a:r>
                    </a:p>
                  </a:txBody>
                  <a:tcPr/>
                </a:tc>
                <a:tc>
                  <a:txBody>
                    <a:bodyPr/>
                    <a:lstStyle/>
                    <a:p>
                      <a:r>
                        <a:rPr lang="nl-BE" sz="1200" b="0"/>
                        <a:t>5</a:t>
                      </a:r>
                    </a:p>
                  </a:txBody>
                  <a:tcPr/>
                </a:tc>
                <a:tc>
                  <a:txBody>
                    <a:bodyPr/>
                    <a:lstStyle/>
                    <a:p>
                      <a:r>
                        <a:rPr lang="nl-BE" sz="1200" b="0"/>
                        <a:t>6</a:t>
                      </a:r>
                    </a:p>
                  </a:txBody>
                  <a:tcPr/>
                </a:tc>
                <a:tc>
                  <a:txBody>
                    <a:bodyPr/>
                    <a:lstStyle/>
                    <a:p>
                      <a:r>
                        <a:rPr lang="nl-BE" sz="1200" b="0"/>
                        <a:t>7</a:t>
                      </a:r>
                    </a:p>
                  </a:txBody>
                  <a:tcPr/>
                </a:tc>
                <a:tc>
                  <a:txBody>
                    <a:bodyPr/>
                    <a:lstStyle/>
                    <a:p>
                      <a:r>
                        <a:rPr lang="nl-BE" sz="1200" b="0"/>
                        <a:t>8</a:t>
                      </a:r>
                    </a:p>
                  </a:txBody>
                  <a:tcPr/>
                </a:tc>
                <a:tc>
                  <a:txBody>
                    <a:bodyPr/>
                    <a:lstStyle/>
                    <a:p>
                      <a:r>
                        <a:rPr lang="nl-BE" sz="1200" b="0"/>
                        <a:t>9</a:t>
                      </a:r>
                    </a:p>
                  </a:txBody>
                  <a:tcPr/>
                </a:tc>
                <a:tc>
                  <a:txBody>
                    <a:bodyPr/>
                    <a:lstStyle/>
                    <a:p>
                      <a:r>
                        <a:rPr lang="nl-BE" sz="1200" b="0"/>
                        <a:t>10</a:t>
                      </a:r>
                    </a:p>
                  </a:txBody>
                  <a:tcPr/>
                </a:tc>
                <a:tc>
                  <a:txBody>
                    <a:bodyPr/>
                    <a:lstStyle/>
                    <a:p>
                      <a:r>
                        <a:rPr lang="nl-BE" sz="1200" b="0"/>
                        <a:t>11</a:t>
                      </a:r>
                    </a:p>
                  </a:txBody>
                  <a:tcPr/>
                </a:tc>
                <a:tc>
                  <a:txBody>
                    <a:bodyPr/>
                    <a:lstStyle/>
                    <a:p>
                      <a:r>
                        <a:rPr lang="nl-BE" sz="1200" b="0"/>
                        <a:t>12</a:t>
                      </a:r>
                    </a:p>
                  </a:txBody>
                  <a:tcPr/>
                </a:tc>
                <a:tc>
                  <a:txBody>
                    <a:bodyPr/>
                    <a:lstStyle/>
                    <a:p>
                      <a:r>
                        <a:rPr lang="nl-BE" sz="1200" b="0"/>
                        <a:t>13</a:t>
                      </a:r>
                    </a:p>
                  </a:txBody>
                  <a:tcPr/>
                </a:tc>
                <a:tc>
                  <a:txBody>
                    <a:bodyPr/>
                    <a:lstStyle/>
                    <a:p>
                      <a:r>
                        <a:rPr lang="nl-BE" sz="1200" b="0"/>
                        <a:t>14</a:t>
                      </a:r>
                    </a:p>
                  </a:txBody>
                  <a:tcPr/>
                </a:tc>
                <a:tc>
                  <a:txBody>
                    <a:bodyPr/>
                    <a:lstStyle/>
                    <a:p>
                      <a:r>
                        <a:rPr lang="nl-BE" sz="1200" b="0"/>
                        <a:t>15</a:t>
                      </a:r>
                    </a:p>
                  </a:txBody>
                  <a:tcPr/>
                </a:tc>
                <a:tc>
                  <a:txBody>
                    <a:bodyPr/>
                    <a:lstStyle/>
                    <a:p>
                      <a:r>
                        <a:rPr lang="nl-BE" sz="1200" b="0"/>
                        <a:t>16</a:t>
                      </a:r>
                    </a:p>
                  </a:txBody>
                  <a:tcPr/>
                </a:tc>
                <a:tc>
                  <a:txBody>
                    <a:bodyPr/>
                    <a:lstStyle/>
                    <a:p>
                      <a:r>
                        <a:rPr lang="nl-BE" sz="1200" b="0"/>
                        <a:t>17</a:t>
                      </a:r>
                    </a:p>
                  </a:txBody>
                  <a:tcPr/>
                </a:tc>
                <a:tc>
                  <a:txBody>
                    <a:bodyPr/>
                    <a:lstStyle/>
                    <a:p>
                      <a:r>
                        <a:rPr lang="nl-BE" sz="1200" b="0"/>
                        <a:t>18</a:t>
                      </a:r>
                    </a:p>
                  </a:txBody>
                  <a:tcPr/>
                </a:tc>
                <a:tc>
                  <a:txBody>
                    <a:bodyPr/>
                    <a:lstStyle/>
                    <a:p>
                      <a:r>
                        <a:rPr lang="nl-BE" sz="1200" b="0"/>
                        <a:t>19</a:t>
                      </a:r>
                    </a:p>
                  </a:txBody>
                  <a:tcPr/>
                </a:tc>
                <a:tc>
                  <a:txBody>
                    <a:bodyPr/>
                    <a:lstStyle/>
                    <a:p>
                      <a:r>
                        <a:rPr lang="nl-BE" sz="1200" b="0"/>
                        <a:t>20</a:t>
                      </a:r>
                    </a:p>
                  </a:txBody>
                  <a:tcPr/>
                </a:tc>
                <a:tc>
                  <a:txBody>
                    <a:bodyPr/>
                    <a:lstStyle/>
                    <a:p>
                      <a:r>
                        <a:rPr lang="nl-BE" sz="1200" b="0"/>
                        <a:t>21</a:t>
                      </a:r>
                    </a:p>
                  </a:txBody>
                  <a:tcPr/>
                </a:tc>
                <a:tc>
                  <a:txBody>
                    <a:bodyPr/>
                    <a:lstStyle/>
                    <a:p>
                      <a:r>
                        <a:rPr lang="nl-BE" sz="1200" b="0"/>
                        <a:t>22</a:t>
                      </a:r>
                    </a:p>
                  </a:txBody>
                  <a:tcPr/>
                </a:tc>
                <a:tc>
                  <a:txBody>
                    <a:bodyPr/>
                    <a:lstStyle/>
                    <a:p>
                      <a:r>
                        <a:rPr lang="nl-BE" sz="1200" b="0"/>
                        <a:t>23</a:t>
                      </a:r>
                    </a:p>
                  </a:txBody>
                  <a:tcPr/>
                </a:tc>
                <a:tc>
                  <a:txBody>
                    <a:bodyPr/>
                    <a:lstStyle/>
                    <a:p>
                      <a:r>
                        <a:rPr lang="nl-BE" sz="1200" b="0"/>
                        <a:t>24</a:t>
                      </a:r>
                    </a:p>
                  </a:txBody>
                  <a:tcPr/>
                </a:tc>
                <a:tc>
                  <a:txBody>
                    <a:bodyPr/>
                    <a:lstStyle/>
                    <a:p>
                      <a:r>
                        <a:rPr lang="nl-BE" sz="1200" b="0"/>
                        <a:t>25</a:t>
                      </a:r>
                    </a:p>
                  </a:txBody>
                  <a:tcPr/>
                </a:tc>
                <a:tc>
                  <a:txBody>
                    <a:bodyPr/>
                    <a:lstStyle/>
                    <a:p>
                      <a:r>
                        <a:rPr lang="nl-BE" sz="1200" b="0"/>
                        <a:t>26</a:t>
                      </a:r>
                    </a:p>
                  </a:txBody>
                  <a:tcPr/>
                </a:tc>
                <a:tc>
                  <a:txBody>
                    <a:bodyPr/>
                    <a:lstStyle/>
                    <a:p>
                      <a:r>
                        <a:rPr lang="nl-BE" sz="1200" b="0"/>
                        <a:t>27</a:t>
                      </a:r>
                    </a:p>
                  </a:txBody>
                  <a:tcPr/>
                </a:tc>
                <a:tc>
                  <a:txBody>
                    <a:bodyPr/>
                    <a:lstStyle/>
                    <a:p>
                      <a:r>
                        <a:rPr lang="nl-BE" sz="1200" b="0"/>
                        <a:t>28</a:t>
                      </a:r>
                    </a:p>
                  </a:txBody>
                  <a:tcPr/>
                </a:tc>
                <a:tc>
                  <a:txBody>
                    <a:bodyPr/>
                    <a:lstStyle/>
                    <a:p>
                      <a:r>
                        <a:rPr lang="nl-BE" sz="1200" b="0"/>
                        <a:t>29</a:t>
                      </a:r>
                    </a:p>
                  </a:txBody>
                  <a:tcPr/>
                </a:tc>
                <a:tc>
                  <a:txBody>
                    <a:bodyPr/>
                    <a:lstStyle/>
                    <a:p>
                      <a:r>
                        <a:rPr lang="nl-BE" sz="1200" b="0"/>
                        <a:t>30</a:t>
                      </a:r>
                    </a:p>
                  </a:txBody>
                  <a:tcPr/>
                </a:tc>
                <a:tc>
                  <a:txBody>
                    <a:bodyPr/>
                    <a:lstStyle/>
                    <a:p>
                      <a:r>
                        <a:rPr lang="nl-BE" sz="1200" b="0"/>
                        <a:t>31</a:t>
                      </a:r>
                    </a:p>
                  </a:txBody>
                  <a:tcPr/>
                </a:tc>
                <a:tc>
                  <a:txBody>
                    <a:bodyPr/>
                    <a:lstStyle/>
                    <a:p>
                      <a:r>
                        <a:rPr lang="nl-BE" sz="1200" b="0"/>
                        <a:t>32</a:t>
                      </a:r>
                    </a:p>
                  </a:txBody>
                  <a:tcPr/>
                </a:tc>
                <a:tc>
                  <a:txBody>
                    <a:bodyPr/>
                    <a:lstStyle/>
                    <a:p>
                      <a:r>
                        <a:rPr lang="nl-BE" sz="1200" b="0"/>
                        <a:t>33</a:t>
                      </a:r>
                    </a:p>
                  </a:txBody>
                  <a:tcPr/>
                </a:tc>
                <a:tc>
                  <a:txBody>
                    <a:bodyPr/>
                    <a:lstStyle/>
                    <a:p>
                      <a:r>
                        <a:rPr lang="nl-BE" sz="1200" b="0"/>
                        <a:t>34</a:t>
                      </a:r>
                    </a:p>
                  </a:txBody>
                  <a:tcPr/>
                </a:tc>
                <a:tc>
                  <a:txBody>
                    <a:bodyPr/>
                    <a:lstStyle/>
                    <a:p>
                      <a:r>
                        <a:rPr lang="nl-BE" sz="1200" b="0"/>
                        <a:t>35</a:t>
                      </a:r>
                    </a:p>
                  </a:txBody>
                  <a:tcPr/>
                </a:tc>
                <a:tc>
                  <a:txBody>
                    <a:bodyPr/>
                    <a:lstStyle/>
                    <a:p>
                      <a:r>
                        <a:rPr lang="nl-BE" sz="1200" b="0"/>
                        <a:t>36</a:t>
                      </a:r>
                    </a:p>
                  </a:txBody>
                  <a:tcPr/>
                </a:tc>
                <a:extLst>
                  <a:ext uri="{0D108BD9-81ED-4DB2-BD59-A6C34878D82A}">
                    <a16:rowId xmlns:a16="http://schemas.microsoft.com/office/drawing/2014/main" val="9118810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a:t>T5.1 – Implementation of standardized flexibility frameworks and interfaces </a:t>
                      </a:r>
                    </a:p>
                  </a:txBody>
                  <a:tcPr>
                    <a:solidFill>
                      <a:schemeClr val="accent2">
                        <a:lumMod val="20000"/>
                        <a:lumOff val="80000"/>
                      </a:schemeClr>
                    </a:solidFill>
                  </a:tcPr>
                </a:tc>
                <a:tc>
                  <a:txBody>
                    <a:bodyPr/>
                    <a:lstStyle/>
                    <a:p>
                      <a:r>
                        <a:rPr lang="nl-BE"/>
                        <a:t>Inetum</a:t>
                      </a:r>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highlight>
                          <a:srgbClr val="00FF00"/>
                        </a:highlight>
                      </a:endParaRPr>
                    </a:p>
                  </a:txBody>
                  <a:tcPr>
                    <a:solidFill>
                      <a:srgbClr val="00CC99"/>
                    </a:solidFill>
                  </a:tcPr>
                </a:tc>
                <a:tc>
                  <a:txBody>
                    <a:bodyPr/>
                    <a:lstStyle/>
                    <a:p>
                      <a:endParaRPr lang="nl-BE"/>
                    </a:p>
                  </a:txBody>
                  <a:tcPr>
                    <a:solidFill>
                      <a:schemeClr val="accent2">
                        <a:lumMod val="20000"/>
                        <a:lumOff val="80000"/>
                      </a:schemeClr>
                    </a:solidFill>
                  </a:tcPr>
                </a:tc>
                <a:tc>
                  <a:txBody>
                    <a:bodyPr/>
                    <a:lstStyle/>
                    <a:p>
                      <a:endParaRPr lang="nl-BE" sz="1800" kern="1200">
                        <a:solidFill>
                          <a:schemeClr val="dk1"/>
                        </a:solidFill>
                        <a:latin typeface="+mn-lt"/>
                        <a:ea typeface="+mn-ea"/>
                        <a:cs typeface="+mn-cs"/>
                      </a:endParaRPr>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rgbClr val="00B0F0"/>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pPr marL="0" algn="l" defTabSz="914400" rtl="0" eaLnBrk="1" latinLnBrk="0" hangingPunct="1"/>
                      <a:endParaRPr lang="nl-BE" sz="1800" kern="1200">
                        <a:solidFill>
                          <a:schemeClr val="dk1"/>
                        </a:solidFill>
                        <a:highlight>
                          <a:srgbClr val="FFFF00"/>
                        </a:highlight>
                        <a:latin typeface="+mn-lt"/>
                        <a:ea typeface="+mn-ea"/>
                        <a:cs typeface="+mn-cs"/>
                      </a:endParaRPr>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nl-BE" sz="1800" b="0" i="0" u="none" strike="noStrike" kern="1200" cap="none" spc="0" normalizeH="0" baseline="0" noProof="0">
                        <a:ln>
                          <a:noFill/>
                        </a:ln>
                        <a:solidFill>
                          <a:srgbClr val="000000"/>
                        </a:solidFill>
                        <a:effectLst/>
                        <a:uLnTx/>
                        <a:uFillTx/>
                        <a:latin typeface="+mn-lt"/>
                        <a:ea typeface="+mn-ea"/>
                        <a:cs typeface="+mn-cs"/>
                      </a:endParaRPr>
                    </a:p>
                    <a:p>
                      <a:endParaRPr lang="nl-BE"/>
                    </a:p>
                  </a:txBody>
                  <a:tcPr>
                    <a:solidFill>
                      <a:schemeClr val="accent4"/>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4"/>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extLst>
                  <a:ext uri="{0D108BD9-81ED-4DB2-BD59-A6C34878D82A}">
                    <a16:rowId xmlns:a16="http://schemas.microsoft.com/office/drawing/2014/main" val="41554663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a:t>T</a:t>
                      </a:r>
                      <a:r>
                        <a:rPr lang="pl-PL"/>
                        <a:t>5</a:t>
                      </a:r>
                      <a:r>
                        <a:rPr lang="nl-BE"/>
                        <a:t>.2 – Standardization of proprietary flexibility frameworks and interfaces and comparative analysis </a:t>
                      </a:r>
                    </a:p>
                  </a:txBody>
                  <a:tcP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a:t>EK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highlight>
                          <a:srgbClr val="C0C0C0"/>
                        </a:highlight>
                      </a:endParaRPr>
                    </a:p>
                  </a:txBody>
                  <a:tcPr>
                    <a:solidFill>
                      <a:schemeClr val="bg1">
                        <a:lumMod val="95000"/>
                      </a:schemeClr>
                    </a:solidFill>
                  </a:tcPr>
                </a:tc>
                <a:tc>
                  <a:txBody>
                    <a:bodyPr/>
                    <a:lstStyle/>
                    <a:p>
                      <a:endParaRPr lang="nl-BE">
                        <a:highlight>
                          <a:srgbClr val="00FF00"/>
                        </a:highlight>
                      </a:endParaRPr>
                    </a:p>
                  </a:txBody>
                  <a:tcPr>
                    <a:solidFill>
                      <a:srgbClr val="00CC99"/>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rgbClr val="00B0F0"/>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accent4"/>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accent4"/>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tc>
                  <a:txBody>
                    <a:bodyPr/>
                    <a:lstStyle/>
                    <a:p>
                      <a:endParaRPr lang="nl-BE"/>
                    </a:p>
                  </a:txBody>
                  <a:tcPr>
                    <a:solidFill>
                      <a:schemeClr val="bg1">
                        <a:lumMod val="95000"/>
                      </a:schemeClr>
                    </a:solidFill>
                  </a:tcPr>
                </a:tc>
                <a:extLst>
                  <a:ext uri="{0D108BD9-81ED-4DB2-BD59-A6C34878D82A}">
                    <a16:rowId xmlns:a16="http://schemas.microsoft.com/office/drawing/2014/main" val="17945351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BE"/>
                        <a:t>T</a:t>
                      </a:r>
                      <a:r>
                        <a:rPr lang="pl-PL"/>
                        <a:t>5</a:t>
                      </a:r>
                      <a:r>
                        <a:rPr lang="nl-BE"/>
                        <a:t>.3 – BlueBird Flexibility Trading module </a:t>
                      </a:r>
                    </a:p>
                  </a:txBody>
                  <a:tcPr>
                    <a:solidFill>
                      <a:schemeClr val="accent2">
                        <a:lumMod val="20000"/>
                        <a:lumOff val="80000"/>
                      </a:schemeClr>
                    </a:solidFill>
                  </a:tcPr>
                </a:tc>
                <a:tc>
                  <a:txBody>
                    <a:bodyPr/>
                    <a:lstStyle/>
                    <a:p>
                      <a:r>
                        <a:rPr lang="nl-BE"/>
                        <a:t>PSNC</a:t>
                      </a:r>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highlight>
                          <a:srgbClr val="00FF00"/>
                        </a:highlight>
                      </a:endParaRPr>
                    </a:p>
                  </a:txBody>
                  <a:tcPr>
                    <a:solidFill>
                      <a:srgbClr val="00CC99"/>
                    </a:solidFill>
                  </a:tcPr>
                </a:tc>
                <a:tc>
                  <a:txBody>
                    <a:bodyPr/>
                    <a:lstStyle/>
                    <a:p>
                      <a:endParaRPr lang="nl-BE"/>
                    </a:p>
                  </a:txBody>
                  <a:tcPr>
                    <a:solidFill>
                      <a:schemeClr val="accent2">
                        <a:lumMod val="20000"/>
                        <a:lumOff val="80000"/>
                      </a:schemeClr>
                    </a:solidFill>
                  </a:tcPr>
                </a:tc>
                <a:tc>
                  <a:txBody>
                    <a:bodyPr/>
                    <a:lstStyle/>
                    <a:p>
                      <a:endParaRPr lang="nl-BE" sz="1800" kern="1200">
                        <a:solidFill>
                          <a:schemeClr val="dk1"/>
                        </a:solidFill>
                        <a:latin typeface="+mn-lt"/>
                        <a:ea typeface="+mn-ea"/>
                        <a:cs typeface="+mn-cs"/>
                      </a:endParaRPr>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rgbClr val="00B0F0"/>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4"/>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4"/>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tc>
                  <a:txBody>
                    <a:bodyPr/>
                    <a:lstStyle/>
                    <a:p>
                      <a:endParaRPr lang="nl-BE"/>
                    </a:p>
                  </a:txBody>
                  <a:tcPr>
                    <a:solidFill>
                      <a:schemeClr val="accent2">
                        <a:lumMod val="20000"/>
                        <a:lumOff val="80000"/>
                      </a:schemeClr>
                    </a:solidFill>
                  </a:tcPr>
                </a:tc>
                <a:extLst>
                  <a:ext uri="{0D108BD9-81ED-4DB2-BD59-A6C34878D82A}">
                    <a16:rowId xmlns:a16="http://schemas.microsoft.com/office/drawing/2014/main" val="743395095"/>
                  </a:ext>
                </a:extLst>
              </a:tr>
            </a:tbl>
          </a:graphicData>
        </a:graphic>
      </p:graphicFrame>
      <p:sp>
        <p:nvSpPr>
          <p:cNvPr id="9" name="Tekstvak 8">
            <a:extLst>
              <a:ext uri="{FF2B5EF4-FFF2-40B4-BE49-F238E27FC236}">
                <a16:creationId xmlns:a16="http://schemas.microsoft.com/office/drawing/2014/main" id="{CF31901B-9DC8-B5B1-DEC9-32B600FDB604}"/>
              </a:ext>
            </a:extLst>
          </p:cNvPr>
          <p:cNvSpPr txBox="1"/>
          <p:nvPr/>
        </p:nvSpPr>
        <p:spPr>
          <a:xfrm>
            <a:off x="7460963" y="2833509"/>
            <a:ext cx="680484" cy="338554"/>
          </a:xfrm>
          <a:prstGeom prst="rect">
            <a:avLst/>
          </a:prstGeom>
          <a:noFill/>
        </p:spPr>
        <p:txBody>
          <a:bodyPr wrap="square" rtlCol="0">
            <a:spAutoFit/>
          </a:bodyPr>
          <a:lstStyle/>
          <a:p>
            <a:r>
              <a:rPr lang="nl-BE" b="1"/>
              <a:t>D5.1</a:t>
            </a:r>
          </a:p>
        </p:txBody>
      </p:sp>
      <p:sp>
        <p:nvSpPr>
          <p:cNvPr id="10" name="Tekstvak 9">
            <a:extLst>
              <a:ext uri="{FF2B5EF4-FFF2-40B4-BE49-F238E27FC236}">
                <a16:creationId xmlns:a16="http://schemas.microsoft.com/office/drawing/2014/main" id="{1A84A68C-EBA2-4AA1-3CA4-13F4D334F2B1}"/>
              </a:ext>
            </a:extLst>
          </p:cNvPr>
          <p:cNvSpPr txBox="1"/>
          <p:nvPr/>
        </p:nvSpPr>
        <p:spPr>
          <a:xfrm>
            <a:off x="10655116" y="2857066"/>
            <a:ext cx="680484" cy="338554"/>
          </a:xfrm>
          <a:prstGeom prst="rect">
            <a:avLst/>
          </a:prstGeom>
          <a:noFill/>
        </p:spPr>
        <p:txBody>
          <a:bodyPr wrap="square" rtlCol="0">
            <a:spAutoFit/>
          </a:bodyPr>
          <a:lstStyle/>
          <a:p>
            <a:r>
              <a:rPr lang="nl-BE" b="1"/>
              <a:t>D5.2</a:t>
            </a:r>
          </a:p>
        </p:txBody>
      </p:sp>
      <p:graphicFrame>
        <p:nvGraphicFramePr>
          <p:cNvPr id="12" name="Tabel 11">
            <a:extLst>
              <a:ext uri="{FF2B5EF4-FFF2-40B4-BE49-F238E27FC236}">
                <a16:creationId xmlns:a16="http://schemas.microsoft.com/office/drawing/2014/main" id="{CBB0C696-475A-29D3-8CA3-B4099BCC4439}"/>
              </a:ext>
            </a:extLst>
          </p:cNvPr>
          <p:cNvGraphicFramePr>
            <a:graphicFrameLocks noGrp="1"/>
          </p:cNvGraphicFramePr>
          <p:nvPr>
            <p:extLst>
              <p:ext uri="{D42A27DB-BD31-4B8C-83A1-F6EECF244321}">
                <p14:modId xmlns:p14="http://schemas.microsoft.com/office/powerpoint/2010/main" val="3265673143"/>
              </p:ext>
            </p:extLst>
          </p:nvPr>
        </p:nvGraphicFramePr>
        <p:xfrm>
          <a:off x="1683031" y="4217423"/>
          <a:ext cx="3271111" cy="2590800"/>
        </p:xfrm>
        <a:graphic>
          <a:graphicData uri="http://schemas.openxmlformats.org/drawingml/2006/table">
            <a:tbl>
              <a:tblPr firstRow="1" bandRow="1">
                <a:tableStyleId>{21E4AEA4-8DFA-4A89-87EB-49C32662AFE0}</a:tableStyleId>
              </a:tblPr>
              <a:tblGrid>
                <a:gridCol w="1737480">
                  <a:extLst>
                    <a:ext uri="{9D8B030D-6E8A-4147-A177-3AD203B41FA5}">
                      <a16:colId xmlns:a16="http://schemas.microsoft.com/office/drawing/2014/main" val="2638259448"/>
                    </a:ext>
                  </a:extLst>
                </a:gridCol>
                <a:gridCol w="1533631">
                  <a:extLst>
                    <a:ext uri="{9D8B030D-6E8A-4147-A177-3AD203B41FA5}">
                      <a16:colId xmlns:a16="http://schemas.microsoft.com/office/drawing/2014/main" val="4288634646"/>
                    </a:ext>
                  </a:extLst>
                </a:gridCol>
              </a:tblGrid>
              <a:tr h="0">
                <a:tc>
                  <a:txBody>
                    <a:bodyPr/>
                    <a:lstStyle/>
                    <a:p>
                      <a:pPr algn="ctr"/>
                      <a:r>
                        <a:rPr lang="nl-BE"/>
                        <a:t>Partner</a:t>
                      </a:r>
                    </a:p>
                  </a:txBody>
                  <a:tcPr/>
                </a:tc>
                <a:tc>
                  <a:txBody>
                    <a:bodyPr/>
                    <a:lstStyle/>
                    <a:p>
                      <a:pPr algn="ctr"/>
                      <a:r>
                        <a:rPr lang="nl-BE"/>
                        <a:t>Effort (MM)</a:t>
                      </a:r>
                    </a:p>
                  </a:txBody>
                  <a:tcPr/>
                </a:tc>
                <a:extLst>
                  <a:ext uri="{0D108BD9-81ED-4DB2-BD59-A6C34878D82A}">
                    <a16:rowId xmlns:a16="http://schemas.microsoft.com/office/drawing/2014/main" val="1965943937"/>
                  </a:ext>
                </a:extLst>
              </a:tr>
              <a:tr h="370840">
                <a:tc>
                  <a:txBody>
                    <a:bodyPr/>
                    <a:lstStyle/>
                    <a:p>
                      <a:pPr algn="ctr"/>
                      <a:r>
                        <a:rPr lang="nl-BE"/>
                        <a:t>Inetum</a:t>
                      </a:r>
                    </a:p>
                  </a:txBody>
                  <a:tcPr/>
                </a:tc>
                <a:tc>
                  <a:txBody>
                    <a:bodyPr/>
                    <a:lstStyle/>
                    <a:p>
                      <a:pPr algn="ctr"/>
                      <a:r>
                        <a:rPr lang="nl-BE"/>
                        <a:t>12</a:t>
                      </a:r>
                    </a:p>
                  </a:txBody>
                  <a:tcPr/>
                </a:tc>
                <a:extLst>
                  <a:ext uri="{0D108BD9-81ED-4DB2-BD59-A6C34878D82A}">
                    <a16:rowId xmlns:a16="http://schemas.microsoft.com/office/drawing/2014/main" val="2856566321"/>
                  </a:ext>
                </a:extLst>
              </a:tr>
              <a:tr h="370840">
                <a:tc>
                  <a:txBody>
                    <a:bodyPr/>
                    <a:lstStyle/>
                    <a:p>
                      <a:pPr algn="ctr"/>
                      <a:r>
                        <a:rPr lang="nl-BE"/>
                        <a:t>CIMNE</a:t>
                      </a:r>
                    </a:p>
                  </a:txBody>
                  <a:tcPr/>
                </a:tc>
                <a:tc>
                  <a:txBody>
                    <a:bodyPr/>
                    <a:lstStyle/>
                    <a:p>
                      <a:pPr algn="ctr"/>
                      <a:r>
                        <a:rPr lang="nl-BE"/>
                        <a:t>9</a:t>
                      </a:r>
                    </a:p>
                  </a:txBody>
                  <a:tcPr/>
                </a:tc>
                <a:extLst>
                  <a:ext uri="{0D108BD9-81ED-4DB2-BD59-A6C34878D82A}">
                    <a16:rowId xmlns:a16="http://schemas.microsoft.com/office/drawing/2014/main" val="835418859"/>
                  </a:ext>
                </a:extLst>
              </a:tr>
              <a:tr h="370840">
                <a:tc>
                  <a:txBody>
                    <a:bodyPr/>
                    <a:lstStyle/>
                    <a:p>
                      <a:pPr algn="ctr"/>
                      <a:r>
                        <a:rPr lang="nl-BE"/>
                        <a:t>UPC</a:t>
                      </a:r>
                    </a:p>
                  </a:txBody>
                  <a:tcPr/>
                </a:tc>
                <a:tc>
                  <a:txBody>
                    <a:bodyPr/>
                    <a:lstStyle/>
                    <a:p>
                      <a:pPr algn="ctr"/>
                      <a:r>
                        <a:rPr lang="nl-BE"/>
                        <a:t>0</a:t>
                      </a:r>
                    </a:p>
                  </a:txBody>
                  <a:tcPr/>
                </a:tc>
                <a:extLst>
                  <a:ext uri="{0D108BD9-81ED-4DB2-BD59-A6C34878D82A}">
                    <a16:rowId xmlns:a16="http://schemas.microsoft.com/office/drawing/2014/main" val="3353836324"/>
                  </a:ext>
                </a:extLst>
              </a:tr>
              <a:tr h="370840">
                <a:tc>
                  <a:txBody>
                    <a:bodyPr/>
                    <a:lstStyle/>
                    <a:p>
                      <a:pPr algn="ctr"/>
                      <a:r>
                        <a:rPr lang="nl-BE" err="1"/>
                        <a:t>WeSmart</a:t>
                      </a:r>
                    </a:p>
                  </a:txBody>
                  <a:tcPr/>
                </a:tc>
                <a:tc>
                  <a:txBody>
                    <a:bodyPr/>
                    <a:lstStyle/>
                    <a:p>
                      <a:pPr algn="ctr"/>
                      <a:r>
                        <a:rPr lang="nl-BE"/>
                        <a:t>4</a:t>
                      </a:r>
                    </a:p>
                  </a:txBody>
                  <a:tcPr/>
                </a:tc>
                <a:extLst>
                  <a:ext uri="{0D108BD9-81ED-4DB2-BD59-A6C34878D82A}">
                    <a16:rowId xmlns:a16="http://schemas.microsoft.com/office/drawing/2014/main" val="2975958276"/>
                  </a:ext>
                </a:extLst>
              </a:tr>
              <a:tr h="370840">
                <a:tc>
                  <a:txBody>
                    <a:bodyPr/>
                    <a:lstStyle/>
                    <a:p>
                      <a:pPr algn="ctr"/>
                      <a:r>
                        <a:rPr lang="nl-BE" err="1"/>
                        <a:t>imec</a:t>
                      </a:r>
                    </a:p>
                  </a:txBody>
                  <a:tcPr/>
                </a:tc>
                <a:tc>
                  <a:txBody>
                    <a:bodyPr/>
                    <a:lstStyle/>
                    <a:p>
                      <a:pPr algn="ctr"/>
                      <a:r>
                        <a:rPr lang="nl-BE" b="0"/>
                        <a:t>5</a:t>
                      </a:r>
                    </a:p>
                  </a:txBody>
                  <a:tcPr/>
                </a:tc>
                <a:extLst>
                  <a:ext uri="{0D108BD9-81ED-4DB2-BD59-A6C34878D82A}">
                    <a16:rowId xmlns:a16="http://schemas.microsoft.com/office/drawing/2014/main" val="718180080"/>
                  </a:ext>
                </a:extLst>
              </a:tr>
              <a:tr h="370840">
                <a:tc>
                  <a:txBody>
                    <a:bodyPr/>
                    <a:lstStyle/>
                    <a:p>
                      <a:pPr algn="ctr"/>
                      <a:r>
                        <a:rPr lang="nl-BE"/>
                        <a:t>PSNC</a:t>
                      </a:r>
                    </a:p>
                  </a:txBody>
                  <a:tcPr/>
                </a:tc>
                <a:tc>
                  <a:txBody>
                    <a:bodyPr/>
                    <a:lstStyle/>
                    <a:p>
                      <a:pPr algn="ctr"/>
                      <a:r>
                        <a:rPr lang="nl-BE" b="1"/>
                        <a:t>17</a:t>
                      </a:r>
                    </a:p>
                  </a:txBody>
                  <a:tcPr/>
                </a:tc>
                <a:extLst>
                  <a:ext uri="{0D108BD9-81ED-4DB2-BD59-A6C34878D82A}">
                    <a16:rowId xmlns:a16="http://schemas.microsoft.com/office/drawing/2014/main" val="3477938450"/>
                  </a:ext>
                </a:extLst>
              </a:tr>
            </a:tbl>
          </a:graphicData>
        </a:graphic>
      </p:graphicFrame>
      <p:graphicFrame>
        <p:nvGraphicFramePr>
          <p:cNvPr id="15" name="Tabel 14">
            <a:extLst>
              <a:ext uri="{FF2B5EF4-FFF2-40B4-BE49-F238E27FC236}">
                <a16:creationId xmlns:a16="http://schemas.microsoft.com/office/drawing/2014/main" id="{9B57464F-875D-345A-01D3-8A8A9B34E110}"/>
              </a:ext>
            </a:extLst>
          </p:cNvPr>
          <p:cNvGraphicFramePr>
            <a:graphicFrameLocks noGrp="1"/>
          </p:cNvGraphicFramePr>
          <p:nvPr>
            <p:extLst>
              <p:ext uri="{D42A27DB-BD31-4B8C-83A1-F6EECF244321}">
                <p14:modId xmlns:p14="http://schemas.microsoft.com/office/powerpoint/2010/main" val="1543022063"/>
              </p:ext>
            </p:extLst>
          </p:nvPr>
        </p:nvGraphicFramePr>
        <p:xfrm>
          <a:off x="5453745" y="4267200"/>
          <a:ext cx="3271111" cy="2590800"/>
        </p:xfrm>
        <a:graphic>
          <a:graphicData uri="http://schemas.openxmlformats.org/drawingml/2006/table">
            <a:tbl>
              <a:tblPr firstRow="1" bandRow="1">
                <a:tableStyleId>{21E4AEA4-8DFA-4A89-87EB-49C32662AFE0}</a:tableStyleId>
              </a:tblPr>
              <a:tblGrid>
                <a:gridCol w="1737480">
                  <a:extLst>
                    <a:ext uri="{9D8B030D-6E8A-4147-A177-3AD203B41FA5}">
                      <a16:colId xmlns:a16="http://schemas.microsoft.com/office/drawing/2014/main" val="2638259448"/>
                    </a:ext>
                  </a:extLst>
                </a:gridCol>
                <a:gridCol w="1533631">
                  <a:extLst>
                    <a:ext uri="{9D8B030D-6E8A-4147-A177-3AD203B41FA5}">
                      <a16:colId xmlns:a16="http://schemas.microsoft.com/office/drawing/2014/main" val="4288634646"/>
                    </a:ext>
                  </a:extLst>
                </a:gridCol>
              </a:tblGrid>
              <a:tr h="365233">
                <a:tc>
                  <a:txBody>
                    <a:bodyPr/>
                    <a:lstStyle/>
                    <a:p>
                      <a:pPr algn="ctr"/>
                      <a:r>
                        <a:rPr lang="nl-BE"/>
                        <a:t>Partner</a:t>
                      </a:r>
                    </a:p>
                  </a:txBody>
                  <a:tcPr/>
                </a:tc>
                <a:tc>
                  <a:txBody>
                    <a:bodyPr/>
                    <a:lstStyle/>
                    <a:p>
                      <a:pPr algn="ctr"/>
                      <a:r>
                        <a:rPr lang="nl-BE"/>
                        <a:t>Effort (MM)</a:t>
                      </a:r>
                    </a:p>
                  </a:txBody>
                  <a:tcPr/>
                </a:tc>
                <a:extLst>
                  <a:ext uri="{0D108BD9-81ED-4DB2-BD59-A6C34878D82A}">
                    <a16:rowId xmlns:a16="http://schemas.microsoft.com/office/drawing/2014/main" val="1965943937"/>
                  </a:ext>
                </a:extLst>
              </a:tr>
              <a:tr h="370840">
                <a:tc>
                  <a:txBody>
                    <a:bodyPr/>
                    <a:lstStyle/>
                    <a:p>
                      <a:pPr algn="ctr"/>
                      <a:r>
                        <a:rPr lang="nl-BE"/>
                        <a:t>SEEBG</a:t>
                      </a:r>
                    </a:p>
                  </a:txBody>
                  <a:tcPr/>
                </a:tc>
                <a:tc>
                  <a:txBody>
                    <a:bodyPr/>
                    <a:lstStyle/>
                    <a:p>
                      <a:pPr algn="ctr"/>
                      <a:r>
                        <a:rPr lang="nl-BE"/>
                        <a:t>0</a:t>
                      </a:r>
                    </a:p>
                  </a:txBody>
                  <a:tcPr/>
                </a:tc>
                <a:extLst>
                  <a:ext uri="{0D108BD9-81ED-4DB2-BD59-A6C34878D82A}">
                    <a16:rowId xmlns:a16="http://schemas.microsoft.com/office/drawing/2014/main" val="2856566321"/>
                  </a:ext>
                </a:extLst>
              </a:tr>
              <a:tr h="370840">
                <a:tc>
                  <a:txBody>
                    <a:bodyPr/>
                    <a:lstStyle/>
                    <a:p>
                      <a:pPr algn="ctr"/>
                      <a:r>
                        <a:rPr lang="nl-BE"/>
                        <a:t>Karno</a:t>
                      </a:r>
                    </a:p>
                  </a:txBody>
                  <a:tcPr/>
                </a:tc>
                <a:tc>
                  <a:txBody>
                    <a:bodyPr/>
                    <a:lstStyle/>
                    <a:p>
                      <a:pPr algn="ctr"/>
                      <a:r>
                        <a:rPr lang="nl-BE"/>
                        <a:t>4</a:t>
                      </a:r>
                    </a:p>
                  </a:txBody>
                  <a:tcPr/>
                </a:tc>
                <a:extLst>
                  <a:ext uri="{0D108BD9-81ED-4DB2-BD59-A6C34878D82A}">
                    <a16:rowId xmlns:a16="http://schemas.microsoft.com/office/drawing/2014/main" val="835418859"/>
                  </a:ext>
                </a:extLst>
              </a:tr>
              <a:tr h="370840">
                <a:tc>
                  <a:txBody>
                    <a:bodyPr/>
                    <a:lstStyle/>
                    <a:p>
                      <a:pPr algn="ctr"/>
                      <a:r>
                        <a:rPr lang="nl-BE"/>
                        <a:t>ENEA</a:t>
                      </a:r>
                    </a:p>
                  </a:txBody>
                  <a:tcPr/>
                </a:tc>
                <a:tc>
                  <a:txBody>
                    <a:bodyPr/>
                    <a:lstStyle/>
                    <a:p>
                      <a:pPr algn="ctr"/>
                      <a:r>
                        <a:rPr lang="nl-BE"/>
                        <a:t>4</a:t>
                      </a:r>
                    </a:p>
                  </a:txBody>
                  <a:tcPr/>
                </a:tc>
                <a:extLst>
                  <a:ext uri="{0D108BD9-81ED-4DB2-BD59-A6C34878D82A}">
                    <a16:rowId xmlns:a16="http://schemas.microsoft.com/office/drawing/2014/main" val="3353836324"/>
                  </a:ext>
                </a:extLst>
              </a:tr>
              <a:tr h="370840">
                <a:tc>
                  <a:txBody>
                    <a:bodyPr/>
                    <a:lstStyle/>
                    <a:p>
                      <a:pPr algn="ctr"/>
                      <a:r>
                        <a:rPr lang="nl-BE"/>
                        <a:t>DTU</a:t>
                      </a:r>
                    </a:p>
                  </a:txBody>
                  <a:tcPr/>
                </a:tc>
                <a:tc>
                  <a:txBody>
                    <a:bodyPr/>
                    <a:lstStyle/>
                    <a:p>
                      <a:pPr algn="ctr"/>
                      <a:r>
                        <a:rPr lang="nl-BE"/>
                        <a:t>10</a:t>
                      </a:r>
                    </a:p>
                  </a:txBody>
                  <a:tcPr/>
                </a:tc>
                <a:extLst>
                  <a:ext uri="{0D108BD9-81ED-4DB2-BD59-A6C34878D82A}">
                    <a16:rowId xmlns:a16="http://schemas.microsoft.com/office/drawing/2014/main" val="2975958276"/>
                  </a:ext>
                </a:extLst>
              </a:tr>
              <a:tr h="370840">
                <a:tc>
                  <a:txBody>
                    <a:bodyPr/>
                    <a:lstStyle/>
                    <a:p>
                      <a:pPr algn="ctr"/>
                      <a:r>
                        <a:rPr lang="nl-BE"/>
                        <a:t>AMB</a:t>
                      </a:r>
                    </a:p>
                  </a:txBody>
                  <a:tcPr/>
                </a:tc>
                <a:tc>
                  <a:txBody>
                    <a:bodyPr/>
                    <a:lstStyle/>
                    <a:p>
                      <a:pPr algn="ctr"/>
                      <a:r>
                        <a:rPr lang="nl-BE"/>
                        <a:t>3</a:t>
                      </a:r>
                    </a:p>
                  </a:txBody>
                  <a:tcPr/>
                </a:tc>
                <a:extLst>
                  <a:ext uri="{0D108BD9-81ED-4DB2-BD59-A6C34878D82A}">
                    <a16:rowId xmlns:a16="http://schemas.microsoft.com/office/drawing/2014/main" val="718180080"/>
                  </a:ext>
                </a:extLst>
              </a:tr>
              <a:tr h="370840">
                <a:tc>
                  <a:txBody>
                    <a:bodyPr/>
                    <a:lstStyle/>
                    <a:p>
                      <a:pPr algn="ctr"/>
                      <a:r>
                        <a:rPr lang="nl-BE"/>
                        <a:t>AIT</a:t>
                      </a:r>
                    </a:p>
                  </a:txBody>
                  <a:tcPr/>
                </a:tc>
                <a:tc>
                  <a:txBody>
                    <a:bodyPr/>
                    <a:lstStyle/>
                    <a:p>
                      <a:pPr algn="ctr"/>
                      <a:r>
                        <a:rPr lang="nl-BE"/>
                        <a:t>0</a:t>
                      </a:r>
                    </a:p>
                  </a:txBody>
                  <a:tcPr/>
                </a:tc>
                <a:extLst>
                  <a:ext uri="{0D108BD9-81ED-4DB2-BD59-A6C34878D82A}">
                    <a16:rowId xmlns:a16="http://schemas.microsoft.com/office/drawing/2014/main" val="3477938450"/>
                  </a:ext>
                </a:extLst>
              </a:tr>
            </a:tbl>
          </a:graphicData>
        </a:graphic>
      </p:graphicFrame>
      <p:graphicFrame>
        <p:nvGraphicFramePr>
          <p:cNvPr id="16" name="Tabel 15">
            <a:extLst>
              <a:ext uri="{FF2B5EF4-FFF2-40B4-BE49-F238E27FC236}">
                <a16:creationId xmlns:a16="http://schemas.microsoft.com/office/drawing/2014/main" id="{46B808E1-170D-0661-D6BF-BAE0162236B6}"/>
              </a:ext>
            </a:extLst>
          </p:cNvPr>
          <p:cNvGraphicFramePr>
            <a:graphicFrameLocks noGrp="1"/>
          </p:cNvGraphicFramePr>
          <p:nvPr>
            <p:extLst>
              <p:ext uri="{D42A27DB-BD31-4B8C-83A1-F6EECF244321}">
                <p14:modId xmlns:p14="http://schemas.microsoft.com/office/powerpoint/2010/main" val="3363925015"/>
              </p:ext>
            </p:extLst>
          </p:nvPr>
        </p:nvGraphicFramePr>
        <p:xfrm>
          <a:off x="8861582" y="4380419"/>
          <a:ext cx="3271111" cy="2219960"/>
        </p:xfrm>
        <a:graphic>
          <a:graphicData uri="http://schemas.openxmlformats.org/drawingml/2006/table">
            <a:tbl>
              <a:tblPr firstRow="1" bandRow="1">
                <a:tableStyleId>{21E4AEA4-8DFA-4A89-87EB-49C32662AFE0}</a:tableStyleId>
              </a:tblPr>
              <a:tblGrid>
                <a:gridCol w="1737480">
                  <a:extLst>
                    <a:ext uri="{9D8B030D-6E8A-4147-A177-3AD203B41FA5}">
                      <a16:colId xmlns:a16="http://schemas.microsoft.com/office/drawing/2014/main" val="2638259448"/>
                    </a:ext>
                  </a:extLst>
                </a:gridCol>
                <a:gridCol w="1533631">
                  <a:extLst>
                    <a:ext uri="{9D8B030D-6E8A-4147-A177-3AD203B41FA5}">
                      <a16:colId xmlns:a16="http://schemas.microsoft.com/office/drawing/2014/main" val="4288634646"/>
                    </a:ext>
                  </a:extLst>
                </a:gridCol>
              </a:tblGrid>
              <a:tr h="246108">
                <a:tc>
                  <a:txBody>
                    <a:bodyPr/>
                    <a:lstStyle/>
                    <a:p>
                      <a:pPr algn="ctr"/>
                      <a:r>
                        <a:rPr lang="nl-BE"/>
                        <a:t>Partner</a:t>
                      </a:r>
                    </a:p>
                  </a:txBody>
                  <a:tcPr/>
                </a:tc>
                <a:tc>
                  <a:txBody>
                    <a:bodyPr/>
                    <a:lstStyle/>
                    <a:p>
                      <a:pPr algn="ctr"/>
                      <a:r>
                        <a:rPr lang="nl-BE"/>
                        <a:t>Effort (MM)</a:t>
                      </a:r>
                    </a:p>
                  </a:txBody>
                  <a:tcPr/>
                </a:tc>
                <a:extLst>
                  <a:ext uri="{0D108BD9-81ED-4DB2-BD59-A6C34878D82A}">
                    <a16:rowId xmlns:a16="http://schemas.microsoft.com/office/drawing/2014/main" val="1965943937"/>
                  </a:ext>
                </a:extLst>
              </a:tr>
              <a:tr h="370840">
                <a:tc>
                  <a:txBody>
                    <a:bodyPr/>
                    <a:lstStyle/>
                    <a:p>
                      <a:pPr algn="ctr"/>
                      <a:r>
                        <a:rPr lang="nl-BE"/>
                        <a:t>USTUTT</a:t>
                      </a:r>
                    </a:p>
                  </a:txBody>
                  <a:tcPr/>
                </a:tc>
                <a:tc>
                  <a:txBody>
                    <a:bodyPr/>
                    <a:lstStyle/>
                    <a:p>
                      <a:pPr algn="ctr"/>
                      <a:r>
                        <a:rPr lang="nl-BE"/>
                        <a:t>0</a:t>
                      </a:r>
                    </a:p>
                  </a:txBody>
                  <a:tcPr/>
                </a:tc>
                <a:extLst>
                  <a:ext uri="{0D108BD9-81ED-4DB2-BD59-A6C34878D82A}">
                    <a16:rowId xmlns:a16="http://schemas.microsoft.com/office/drawing/2014/main" val="2856566321"/>
                  </a:ext>
                </a:extLst>
              </a:tr>
              <a:tr h="370840">
                <a:tc>
                  <a:txBody>
                    <a:bodyPr/>
                    <a:lstStyle/>
                    <a:p>
                      <a:pPr algn="ctr"/>
                      <a:r>
                        <a:rPr lang="nl-BE"/>
                        <a:t>TERSA</a:t>
                      </a:r>
                    </a:p>
                  </a:txBody>
                  <a:tcPr/>
                </a:tc>
                <a:tc>
                  <a:txBody>
                    <a:bodyPr/>
                    <a:lstStyle/>
                    <a:p>
                      <a:pPr algn="ctr"/>
                      <a:r>
                        <a:rPr lang="nl-BE"/>
                        <a:t>3</a:t>
                      </a:r>
                    </a:p>
                  </a:txBody>
                  <a:tcPr/>
                </a:tc>
                <a:extLst>
                  <a:ext uri="{0D108BD9-81ED-4DB2-BD59-A6C34878D82A}">
                    <a16:rowId xmlns:a16="http://schemas.microsoft.com/office/drawing/2014/main" val="835418859"/>
                  </a:ext>
                </a:extLst>
              </a:tr>
              <a:tr h="370840">
                <a:tc>
                  <a:txBody>
                    <a:bodyPr/>
                    <a:lstStyle/>
                    <a:p>
                      <a:pPr algn="ctr"/>
                      <a:r>
                        <a:rPr lang="nl-BE"/>
                        <a:t>BPIE</a:t>
                      </a:r>
                    </a:p>
                  </a:txBody>
                  <a:tcPr/>
                </a:tc>
                <a:tc>
                  <a:txBody>
                    <a:bodyPr/>
                    <a:lstStyle/>
                    <a:p>
                      <a:pPr algn="ctr"/>
                      <a:r>
                        <a:rPr lang="nl-BE"/>
                        <a:t>0</a:t>
                      </a:r>
                    </a:p>
                  </a:txBody>
                  <a:tcPr/>
                </a:tc>
                <a:extLst>
                  <a:ext uri="{0D108BD9-81ED-4DB2-BD59-A6C34878D82A}">
                    <a16:rowId xmlns:a16="http://schemas.microsoft.com/office/drawing/2014/main" val="3353836324"/>
                  </a:ext>
                </a:extLst>
              </a:tr>
              <a:tr h="370840">
                <a:tc>
                  <a:txBody>
                    <a:bodyPr/>
                    <a:lstStyle/>
                    <a:p>
                      <a:pPr algn="ctr"/>
                      <a:r>
                        <a:rPr lang="nl-BE"/>
                        <a:t>ENK</a:t>
                      </a:r>
                    </a:p>
                  </a:txBody>
                  <a:tcPr/>
                </a:tc>
                <a:tc>
                  <a:txBody>
                    <a:bodyPr/>
                    <a:lstStyle/>
                    <a:p>
                      <a:pPr algn="ctr"/>
                      <a:r>
                        <a:rPr lang="nl-BE"/>
                        <a:t>7</a:t>
                      </a:r>
                    </a:p>
                  </a:txBody>
                  <a:tcPr/>
                </a:tc>
                <a:extLst>
                  <a:ext uri="{0D108BD9-81ED-4DB2-BD59-A6C34878D82A}">
                    <a16:rowId xmlns:a16="http://schemas.microsoft.com/office/drawing/2014/main" val="2975958276"/>
                  </a:ext>
                </a:extLst>
              </a:tr>
              <a:tr h="370840">
                <a:tc>
                  <a:txBody>
                    <a:bodyPr/>
                    <a:lstStyle/>
                    <a:p>
                      <a:pPr algn="ctr"/>
                      <a:r>
                        <a:rPr lang="nl-BE"/>
                        <a:t>EWH</a:t>
                      </a:r>
                    </a:p>
                  </a:txBody>
                  <a:tcPr/>
                </a:tc>
                <a:tc>
                  <a:txBody>
                    <a:bodyPr/>
                    <a:lstStyle/>
                    <a:p>
                      <a:pPr algn="ctr"/>
                      <a:r>
                        <a:rPr lang="nl-BE"/>
                        <a:t>4</a:t>
                      </a:r>
                    </a:p>
                  </a:txBody>
                  <a:tcPr/>
                </a:tc>
                <a:extLst>
                  <a:ext uri="{0D108BD9-81ED-4DB2-BD59-A6C34878D82A}">
                    <a16:rowId xmlns:a16="http://schemas.microsoft.com/office/drawing/2014/main" val="718180080"/>
                  </a:ext>
                </a:extLst>
              </a:tr>
            </a:tbl>
          </a:graphicData>
        </a:graphic>
      </p:graphicFrame>
    </p:spTree>
    <p:extLst>
      <p:ext uri="{BB962C8B-B14F-4D97-AF65-F5344CB8AC3E}">
        <p14:creationId xmlns:p14="http://schemas.microsoft.com/office/powerpoint/2010/main" val="28850415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04607-3B2A-2247-112A-127630587E2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64E0CEAC-D3AF-80E8-A2FE-58B8283609F1}"/>
              </a:ext>
            </a:extLst>
          </p:cNvPr>
          <p:cNvSpPr>
            <a:spLocks noGrp="1"/>
          </p:cNvSpPr>
          <p:nvPr>
            <p:ph type="title"/>
          </p:nvPr>
        </p:nvSpPr>
        <p:spPr/>
        <p:txBody>
          <a:bodyPr/>
          <a:lstStyle/>
          <a:p>
            <a:r>
              <a:rPr lang="en-GB" noProof="0"/>
              <a:t>WP5 – </a:t>
            </a:r>
            <a:r>
              <a:rPr lang="pl-PL"/>
              <a:t>W</a:t>
            </a:r>
            <a:r>
              <a:rPr lang="pl-PL" noProof="0"/>
              <a:t>ork </a:t>
            </a:r>
            <a:r>
              <a:rPr lang="pl-PL"/>
              <a:t>P</a:t>
            </a:r>
            <a:r>
              <a:rPr lang="pl-PL" noProof="0" err="1"/>
              <a:t>lan</a:t>
            </a:r>
            <a:r>
              <a:rPr lang="pl-PL" noProof="0"/>
              <a:t> - T5.1</a:t>
            </a:r>
            <a:endParaRPr lang="en-GB" noProof="0"/>
          </a:p>
        </p:txBody>
      </p:sp>
      <p:sp>
        <p:nvSpPr>
          <p:cNvPr id="3" name="Symbol zastępczy zawartości 2">
            <a:extLst>
              <a:ext uri="{FF2B5EF4-FFF2-40B4-BE49-F238E27FC236}">
                <a16:creationId xmlns:a16="http://schemas.microsoft.com/office/drawing/2014/main" id="{09D14AF8-C964-1FAB-9FA7-8CC84F31F5D7}"/>
              </a:ext>
            </a:extLst>
          </p:cNvPr>
          <p:cNvSpPr>
            <a:spLocks noGrp="1"/>
          </p:cNvSpPr>
          <p:nvPr>
            <p:ph idx="1"/>
          </p:nvPr>
        </p:nvSpPr>
        <p:spPr>
          <a:xfrm>
            <a:off x="285708" y="966192"/>
            <a:ext cx="11400407" cy="5087429"/>
          </a:xfrm>
        </p:spPr>
        <p:txBody>
          <a:bodyPr/>
          <a:lstStyle/>
          <a:p>
            <a:r>
              <a:rPr lang="en-GB" sz="3200" noProof="0"/>
              <a:t>Name: </a:t>
            </a:r>
            <a:r>
              <a:rPr lang="en-GB" sz="3200" err="1"/>
              <a:t>i</a:t>
            </a:r>
            <a:r>
              <a:rPr lang="en-GB" sz="3200" noProof="0" err="1"/>
              <a:t>mplementation</a:t>
            </a:r>
            <a:r>
              <a:rPr lang="en-GB" sz="3200" noProof="0"/>
              <a:t> of standardized flexibility frameworks and interfaces</a:t>
            </a:r>
            <a:r>
              <a:rPr lang="en-GB" sz="3200"/>
              <a:t>.</a:t>
            </a:r>
            <a:endParaRPr lang="en-GB" sz="3200" noProof="0"/>
          </a:p>
          <a:p>
            <a:r>
              <a:rPr lang="en-GB" sz="3200"/>
              <a:t>functionality described in the proposal:</a:t>
            </a:r>
          </a:p>
          <a:p>
            <a:pPr lvl="1"/>
            <a:r>
              <a:rPr lang="en-GB" sz="2800" noProof="0"/>
              <a:t>Create or use/implement the interface to energy markets (</a:t>
            </a:r>
            <a:r>
              <a:rPr lang="en-US" sz="2800" noProof="0"/>
              <a:t>for pilots that do not yet have a connection to energy markets</a:t>
            </a:r>
            <a:r>
              <a:rPr lang="en-GB" sz="2800" noProof="0"/>
              <a:t>?)</a:t>
            </a:r>
          </a:p>
          <a:p>
            <a:pPr lvl="2"/>
            <a:r>
              <a:rPr lang="en-GB" sz="2800" b="1"/>
              <a:t>DSO Standard Interface</a:t>
            </a:r>
            <a:r>
              <a:rPr lang="en-GB" sz="2800"/>
              <a:t> (from Interconnect),</a:t>
            </a:r>
          </a:p>
          <a:p>
            <a:pPr lvl="2"/>
            <a:r>
              <a:rPr lang="en-GB" sz="2800" b="1" noProof="0"/>
              <a:t>USEF</a:t>
            </a:r>
            <a:r>
              <a:rPr lang="en-GB" sz="2800" b="1"/>
              <a:t>,</a:t>
            </a:r>
            <a:endParaRPr lang="en-GB" sz="2800" noProof="0"/>
          </a:p>
          <a:p>
            <a:pPr lvl="2"/>
            <a:r>
              <a:rPr lang="en-GB" sz="2800" b="1" err="1"/>
              <a:t>Interflex</a:t>
            </a:r>
            <a:endParaRPr lang="en-GB" sz="2800"/>
          </a:p>
          <a:p>
            <a:pPr lvl="2"/>
            <a:r>
              <a:rPr lang="en-GB" sz="2800" noProof="0"/>
              <a:t> </a:t>
            </a:r>
            <a:r>
              <a:rPr lang="en-GB" sz="2800" b="1" noProof="0"/>
              <a:t>Web scraping</a:t>
            </a:r>
            <a:r>
              <a:rPr lang="pl-PL" sz="2800" b="1" noProof="0"/>
              <a:t> -&gt; in same cases</a:t>
            </a:r>
            <a:endParaRPr lang="en-GB" sz="2800" noProof="0"/>
          </a:p>
          <a:p>
            <a:r>
              <a:rPr lang="en-GB" noProof="0"/>
              <a:t>Leader: </a:t>
            </a:r>
            <a:r>
              <a:rPr lang="en-GB" b="1" noProof="0" err="1"/>
              <a:t>Inetum</a:t>
            </a:r>
            <a:endParaRPr lang="en-GB" b="1" noProof="0"/>
          </a:p>
          <a:p>
            <a:pPr lvl="1"/>
            <a:r>
              <a:rPr lang="en-GB" noProof="0"/>
              <a:t>Participants: CIMNE, </a:t>
            </a:r>
            <a:r>
              <a:rPr lang="en-GB" noProof="0" err="1"/>
              <a:t>WeSmart</a:t>
            </a:r>
            <a:r>
              <a:rPr lang="en-GB" noProof="0"/>
              <a:t>, PSNC, Karno Energy, ENEA, AMB, TERSA, EK, EWH</a:t>
            </a:r>
          </a:p>
        </p:txBody>
      </p:sp>
    </p:spTree>
    <p:extLst>
      <p:ext uri="{BB962C8B-B14F-4D97-AF65-F5344CB8AC3E}">
        <p14:creationId xmlns:p14="http://schemas.microsoft.com/office/powerpoint/2010/main" val="3507681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nchor="ctr"/>
          <a:lstStyle/>
          <a:p>
            <a:r>
              <a:rPr lang="en-GB" sz="3200" b="1" err="1"/>
              <a:t>InterConnect</a:t>
            </a:r>
            <a:r>
              <a:rPr lang="en-GB" sz="3200" b="1"/>
              <a:t> DSO interface + </a:t>
            </a:r>
            <a:r>
              <a:rPr lang="en-GB" sz="3200" b="1" err="1"/>
              <a:t>Intoduction</a:t>
            </a:r>
            <a:r>
              <a:rPr lang="en-GB" sz="3200" b="1"/>
              <a:t> to the Knowledge Engine</a:t>
            </a:r>
            <a:endParaRPr lang="nl-BE" sz="2000" b="1"/>
          </a:p>
        </p:txBody>
      </p:sp>
      <p:sp>
        <p:nvSpPr>
          <p:cNvPr id="2" name="Subtitle 1"/>
          <p:cNvSpPr>
            <a:spLocks noGrp="1"/>
          </p:cNvSpPr>
          <p:nvPr>
            <p:ph type="subTitle" idx="1"/>
          </p:nvPr>
        </p:nvSpPr>
        <p:spPr>
          <a:xfrm>
            <a:off x="4253593" y="4313411"/>
            <a:ext cx="6906776" cy="1152622"/>
          </a:xfrm>
        </p:spPr>
        <p:txBody>
          <a:bodyPr anchor="ctr"/>
          <a:lstStyle/>
          <a:p>
            <a:r>
              <a:rPr lang="en-US" sz="2400"/>
              <a:t>Youssef Dahman</a:t>
            </a:r>
            <a:br>
              <a:rPr lang="en-US" sz="2400"/>
            </a:br>
            <a:r>
              <a:rPr lang="en-US" sz="2400" err="1"/>
              <a:t>Inetum</a:t>
            </a:r>
            <a:r>
              <a:rPr lang="en-US" sz="2400"/>
              <a:t> - BE</a:t>
            </a:r>
          </a:p>
        </p:txBody>
      </p:sp>
    </p:spTree>
    <p:extLst>
      <p:ext uri="{BB962C8B-B14F-4D97-AF65-F5344CB8AC3E}">
        <p14:creationId xmlns:p14="http://schemas.microsoft.com/office/powerpoint/2010/main" val="4067124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p:txBody>
          <a:bodyPr/>
          <a:lstStyle/>
          <a:p>
            <a:pPr eaLnBrk="1" hangingPunct="1"/>
            <a:r>
              <a:rPr lang="en-US" altLang="zh-CN">
                <a:ea typeface="宋体" charset="-122"/>
                <a:cs typeface="宋体" charset="-122"/>
              </a:rPr>
              <a:t>Short self-Introduction – Youssef Dahman</a:t>
            </a:r>
            <a:endParaRPr lang="en-US" altLang="zh-CN" baseline="30000">
              <a:solidFill>
                <a:schemeClr val="accent2">
                  <a:lumMod val="40000"/>
                  <a:lumOff val="60000"/>
                </a:schemeClr>
              </a:solidFill>
              <a:ea typeface="宋体" charset="-122"/>
              <a:cs typeface="宋体" charset="-122"/>
            </a:endParaRPr>
          </a:p>
        </p:txBody>
      </p:sp>
      <p:sp>
        <p:nvSpPr>
          <p:cNvPr id="22534" name="Rectangle 3"/>
          <p:cNvSpPr>
            <a:spLocks noGrp="1" noChangeArrowheads="1"/>
          </p:cNvSpPr>
          <p:nvPr>
            <p:ph idx="4294967295"/>
          </p:nvPr>
        </p:nvSpPr>
        <p:spPr>
          <a:xfrm>
            <a:off x="476211" y="1359878"/>
            <a:ext cx="10953789" cy="4731847"/>
          </a:xfrm>
          <a:prstGeom prst="rect">
            <a:avLst/>
          </a:prstGeom>
        </p:spPr>
        <p:txBody>
          <a:bodyPr/>
          <a:lstStyle/>
          <a:p>
            <a:pPr eaLnBrk="1" hangingPunct="1"/>
            <a:endParaRPr lang="en-US" altLang="zh-CN">
              <a:ea typeface="宋体" charset="-122"/>
              <a:cs typeface="宋体" charset="-122"/>
            </a:endParaRPr>
          </a:p>
          <a:p>
            <a:pPr eaLnBrk="1" hangingPunct="1"/>
            <a:r>
              <a:rPr lang="en-US" altLang="zh-CN">
                <a:ea typeface="宋体" charset="-122"/>
                <a:cs typeface="宋体" charset="-122"/>
              </a:rPr>
              <a:t>I’m 28 years old</a:t>
            </a:r>
          </a:p>
          <a:p>
            <a:pPr eaLnBrk="1" hangingPunct="1"/>
            <a:r>
              <a:rPr lang="en-US" altLang="zh-CN">
                <a:ea typeface="宋体" charset="-122"/>
                <a:cs typeface="宋体" charset="-122"/>
              </a:rPr>
              <a:t>Software Developer at </a:t>
            </a:r>
            <a:r>
              <a:rPr lang="en-US" altLang="zh-CN" err="1">
                <a:ea typeface="宋体" charset="-122"/>
                <a:cs typeface="宋体" charset="-122"/>
              </a:rPr>
              <a:t>Inetum</a:t>
            </a:r>
            <a:r>
              <a:rPr lang="en-US" altLang="zh-CN">
                <a:ea typeface="宋体" charset="-122"/>
                <a:cs typeface="宋体" charset="-122"/>
              </a:rPr>
              <a:t> Belgium since 2021</a:t>
            </a:r>
          </a:p>
          <a:p>
            <a:pPr eaLnBrk="1" hangingPunct="1"/>
            <a:r>
              <a:rPr lang="en-US" altLang="zh-CN">
                <a:ea typeface="宋体" charset="-122"/>
                <a:cs typeface="宋体" charset="-122"/>
              </a:rPr>
              <a:t>Major Projects:</a:t>
            </a:r>
          </a:p>
          <a:p>
            <a:pPr lvl="1" eaLnBrk="1" hangingPunct="1"/>
            <a:r>
              <a:rPr lang="en-US" altLang="zh-CN" b="1" err="1">
                <a:ea typeface="宋体" charset="-122"/>
                <a:cs typeface="宋体" charset="-122"/>
              </a:rPr>
              <a:t>InterConnect</a:t>
            </a:r>
            <a:r>
              <a:rPr lang="en-US" altLang="zh-CN" b="1">
                <a:ea typeface="宋体" charset="-122"/>
                <a:cs typeface="宋体" charset="-122"/>
              </a:rPr>
              <a:t> </a:t>
            </a:r>
            <a:r>
              <a:rPr lang="en-US" altLang="zh-CN">
                <a:ea typeface="宋体" charset="-122"/>
                <a:cs typeface="宋体" charset="-122"/>
              </a:rPr>
              <a:t>(2 years): </a:t>
            </a:r>
            <a:r>
              <a:rPr lang="en-US"/>
              <a:t>Contributed to an EU-funded smart energy pilot in Greece</a:t>
            </a:r>
            <a:r>
              <a:rPr lang="nl-BE"/>
              <a:t>. </a:t>
            </a:r>
            <a:r>
              <a:rPr lang="nl-BE" err="1"/>
              <a:t>Developed</a:t>
            </a:r>
            <a:r>
              <a:rPr lang="nl-BE"/>
              <a:t> microservices </a:t>
            </a:r>
            <a:r>
              <a:rPr lang="en-US"/>
              <a:t>for IoT-based peak shaving, demand response, and load forecasting. Led partner collaboration, AKS deployment, and end-to-end testing </a:t>
            </a:r>
            <a:r>
              <a:rPr lang="nl-BE" err="1"/>
              <a:t>across</a:t>
            </a:r>
            <a:r>
              <a:rPr lang="nl-BE"/>
              <a:t> partner </a:t>
            </a:r>
            <a:r>
              <a:rPr lang="nl-BE" err="1"/>
              <a:t>integrations</a:t>
            </a:r>
            <a:r>
              <a:rPr lang="en-US"/>
              <a:t>.</a:t>
            </a:r>
          </a:p>
          <a:p>
            <a:pPr lvl="1" eaLnBrk="1" hangingPunct="1"/>
            <a:r>
              <a:rPr lang="en-US" altLang="zh-CN" b="1">
                <a:ea typeface="宋体" charset="-122"/>
                <a:cs typeface="宋体" charset="-122"/>
              </a:rPr>
              <a:t>CV comparator: </a:t>
            </a:r>
            <a:r>
              <a:rPr lang="en-US"/>
              <a:t>Designed and deployed an AI-driven platform that analyzes CVs against job requirements, providing recruiters with compatibility scores and skill gap insights.</a:t>
            </a:r>
          </a:p>
          <a:p>
            <a:pPr lvl="1" eaLnBrk="1" hangingPunct="1"/>
            <a:r>
              <a:rPr lang="en-US" altLang="zh-CN" b="1">
                <a:ea typeface="宋体" charset="-122"/>
                <a:cs typeface="宋体" charset="-122"/>
              </a:rPr>
              <a:t>Employee Assignment Review: </a:t>
            </a:r>
            <a:r>
              <a:rPr lang="en-US"/>
              <a:t>Digitized annual performance reviews by building a secure, multilingual web application with </a:t>
            </a:r>
            <a:r>
              <a:rPr lang="en-US" err="1"/>
              <a:t>Keycloak</a:t>
            </a:r>
            <a:r>
              <a:rPr lang="en-US"/>
              <a:t> authentication, Angular frontend, and automated evaluation workflows.</a:t>
            </a:r>
            <a:endParaRPr lang="en-US" altLang="zh-CN" b="1">
              <a:ea typeface="宋体" charset="-122"/>
              <a:cs typeface="宋体" charset="-122"/>
            </a:endParaRPr>
          </a:p>
        </p:txBody>
      </p:sp>
      <p:pic>
        <p:nvPicPr>
          <p:cNvPr id="3" name="Picture 2">
            <a:extLst>
              <a:ext uri="{FF2B5EF4-FFF2-40B4-BE49-F238E27FC236}">
                <a16:creationId xmlns:a16="http://schemas.microsoft.com/office/drawing/2014/main" id="{098606E1-AD7D-B9F5-DAE8-AADDB025E40A}"/>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9347797" y="483708"/>
            <a:ext cx="1685963" cy="2239172"/>
          </a:xfrm>
          <a:prstGeom prst="rect">
            <a:avLst/>
          </a:prstGeom>
        </p:spPr>
      </p:pic>
      <p:sp>
        <p:nvSpPr>
          <p:cNvPr id="5" name="Footer Placeholder 4">
            <a:extLst>
              <a:ext uri="{FF2B5EF4-FFF2-40B4-BE49-F238E27FC236}">
                <a16:creationId xmlns:a16="http://schemas.microsoft.com/office/drawing/2014/main" id="{FD9A7E6D-39AE-B90C-29AE-54466D707EA6}"/>
              </a:ext>
            </a:extLst>
          </p:cNvPr>
          <p:cNvSpPr>
            <a:spLocks noGrp="1"/>
          </p:cNvSpPr>
          <p:nvPr>
            <p:ph type="ftr" sz="quarter" idx="10"/>
          </p:nvPr>
        </p:nvSpPr>
        <p:spPr/>
        <p:txBody>
          <a:bodyPr/>
          <a:lstStyle/>
          <a:p>
            <a:pPr>
              <a:defRPr/>
            </a:pPr>
            <a:r>
              <a:rPr lang="en-GB" sz="900" b="1" err="1">
                <a:solidFill>
                  <a:srgbClr val="AFD2F0"/>
                </a:solidFill>
              </a:rPr>
              <a:t>InterConnect</a:t>
            </a:r>
            <a:r>
              <a:rPr lang="en-GB" sz="900" b="1">
                <a:solidFill>
                  <a:srgbClr val="AFD2F0"/>
                </a:solidFill>
              </a:rPr>
              <a:t> DSO interface + </a:t>
            </a:r>
            <a:r>
              <a:rPr lang="en-GB" sz="900" b="1" err="1">
                <a:solidFill>
                  <a:srgbClr val="AFD2F0"/>
                </a:solidFill>
              </a:rPr>
              <a:t>Intoduction</a:t>
            </a:r>
            <a:r>
              <a:rPr lang="en-GB" sz="900" b="1">
                <a:solidFill>
                  <a:srgbClr val="AFD2F0"/>
                </a:solidFill>
              </a:rPr>
              <a:t> to the Knowledge Engine</a:t>
            </a:r>
            <a:endParaRPr lang="en-US" sz="900">
              <a:solidFill>
                <a:srgbClr val="AFD2F0"/>
              </a:solidFill>
            </a:endParaRPr>
          </a:p>
        </p:txBody>
      </p:sp>
    </p:spTree>
    <p:extLst>
      <p:ext uri="{BB962C8B-B14F-4D97-AF65-F5344CB8AC3E}">
        <p14:creationId xmlns:p14="http://schemas.microsoft.com/office/powerpoint/2010/main" val="204103091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D6E03-04C7-6148-50C3-39F66B4B42A7}"/>
            </a:ext>
          </a:extLst>
        </p:cNvPr>
        <p:cNvGrpSpPr/>
        <p:nvPr/>
      </p:nvGrpSpPr>
      <p:grpSpPr>
        <a:xfrm>
          <a:off x="0" y="0"/>
          <a:ext cx="0" cy="0"/>
          <a:chOff x="0" y="0"/>
          <a:chExt cx="0" cy="0"/>
        </a:xfrm>
      </p:grpSpPr>
      <p:sp>
        <p:nvSpPr>
          <p:cNvPr id="22533" name="Rectangle 2">
            <a:extLst>
              <a:ext uri="{FF2B5EF4-FFF2-40B4-BE49-F238E27FC236}">
                <a16:creationId xmlns:a16="http://schemas.microsoft.com/office/drawing/2014/main" id="{ECA01AD1-1E2B-6E2E-34A5-E18269BD99F6}"/>
              </a:ext>
            </a:extLst>
          </p:cNvPr>
          <p:cNvSpPr>
            <a:spLocks noGrp="1" noChangeArrowheads="1"/>
          </p:cNvSpPr>
          <p:nvPr>
            <p:ph type="title"/>
          </p:nvPr>
        </p:nvSpPr>
        <p:spPr/>
        <p:txBody>
          <a:bodyPr/>
          <a:lstStyle/>
          <a:p>
            <a:pPr eaLnBrk="1" hangingPunct="1"/>
            <a:r>
              <a:rPr lang="en-US" altLang="zh-CN">
                <a:ea typeface="宋体" charset="-122"/>
                <a:cs typeface="宋体" charset="-122"/>
              </a:rPr>
              <a:t>Short Introduction of </a:t>
            </a:r>
            <a:r>
              <a:rPr lang="en-US" altLang="zh-CN" err="1">
                <a:ea typeface="宋体" charset="-122"/>
                <a:cs typeface="宋体" charset="-122"/>
              </a:rPr>
              <a:t>InterConnect</a:t>
            </a:r>
            <a:r>
              <a:rPr lang="en-US" altLang="zh-CN">
                <a:ea typeface="宋体" charset="-122"/>
                <a:cs typeface="宋体" charset="-122"/>
              </a:rPr>
              <a:t> – Greek pilot</a:t>
            </a:r>
            <a:endParaRPr lang="en-US" altLang="zh-CN" baseline="30000">
              <a:solidFill>
                <a:schemeClr val="accent2">
                  <a:lumMod val="40000"/>
                  <a:lumOff val="60000"/>
                </a:schemeClr>
              </a:solidFill>
              <a:ea typeface="宋体" charset="-122"/>
              <a:cs typeface="宋体" charset="-122"/>
            </a:endParaRPr>
          </a:p>
        </p:txBody>
      </p:sp>
      <p:sp>
        <p:nvSpPr>
          <p:cNvPr id="22534" name="Rectangle 3">
            <a:extLst>
              <a:ext uri="{FF2B5EF4-FFF2-40B4-BE49-F238E27FC236}">
                <a16:creationId xmlns:a16="http://schemas.microsoft.com/office/drawing/2014/main" id="{A4EA7394-ACE8-9F54-27A7-F2482F3F91D7}"/>
              </a:ext>
            </a:extLst>
          </p:cNvPr>
          <p:cNvSpPr>
            <a:spLocks noGrp="1" noChangeArrowheads="1"/>
          </p:cNvSpPr>
          <p:nvPr>
            <p:ph idx="4294967295"/>
          </p:nvPr>
        </p:nvSpPr>
        <p:spPr>
          <a:xfrm>
            <a:off x="476211" y="1359878"/>
            <a:ext cx="10953789" cy="4731847"/>
          </a:xfrm>
          <a:prstGeom prst="rect">
            <a:avLst/>
          </a:prstGeom>
        </p:spPr>
        <p:txBody>
          <a:bodyPr/>
          <a:lstStyle/>
          <a:p>
            <a:pPr eaLnBrk="1" hangingPunct="1"/>
            <a:r>
              <a:rPr lang="en-US" b="1"/>
              <a:t>Core Mission</a:t>
            </a:r>
            <a:r>
              <a:rPr lang="en-US"/>
              <a:t>: Create seamless interoperability between energy grid operators, smart home devices, and residential consumers to optimize demand response and energy efficiency.</a:t>
            </a:r>
          </a:p>
          <a:p>
            <a:pPr eaLnBrk="1" hangingPunct="1"/>
            <a:r>
              <a:rPr lang="en-US" altLang="zh-CN" b="1">
                <a:ea typeface="宋体" charset="-122"/>
                <a:cs typeface="宋体" charset="-122"/>
              </a:rPr>
              <a:t>Reactive DR: </a:t>
            </a:r>
            <a:r>
              <a:rPr lang="en-US"/>
              <a:t>An </a:t>
            </a:r>
            <a:r>
              <a:rPr lang="en-US" b="1"/>
              <a:t>immediate emergency response system</a:t>
            </a:r>
            <a:r>
              <a:rPr lang="en-US"/>
              <a:t> that kicks in when the electrical grid is currently experiencing problems ( Too much demand ). They have direct control on devices based on preset </a:t>
            </a:r>
            <a:r>
              <a:rPr lang="en-US" err="1"/>
              <a:t>prefrences</a:t>
            </a:r>
            <a:r>
              <a:rPr lang="en-US"/>
              <a:t> made by the end user for a certain time using our demand response solution.</a:t>
            </a:r>
          </a:p>
          <a:p>
            <a:pPr eaLnBrk="1" hangingPunct="1"/>
            <a:r>
              <a:rPr lang="en-US" b="1"/>
              <a:t>Proactive DR: </a:t>
            </a:r>
            <a:r>
              <a:rPr lang="en-US"/>
              <a:t>A </a:t>
            </a:r>
            <a:r>
              <a:rPr lang="en-US" b="1"/>
              <a:t>predictive planning system</a:t>
            </a:r>
            <a:r>
              <a:rPr lang="en-US"/>
              <a:t> that prevents grid problems before they occur by recommending tomorrow's energy actions to users. The DSO asks for a forecast of power consumption for a certain region or district and based on that forecast they define when it more profitable for the user to use their devices.</a:t>
            </a:r>
            <a:endParaRPr lang="en-US" b="1"/>
          </a:p>
          <a:p>
            <a:pPr marL="0" indent="0" eaLnBrk="1" hangingPunct="1">
              <a:buNone/>
            </a:pPr>
            <a:endParaRPr lang="en-US"/>
          </a:p>
          <a:p>
            <a:pPr eaLnBrk="1" hangingPunct="1"/>
            <a:endParaRPr lang="en-US" altLang="zh-CN" b="1">
              <a:ea typeface="宋体" charset="-122"/>
              <a:cs typeface="宋体" charset="-122"/>
            </a:endParaRPr>
          </a:p>
          <a:p>
            <a:pPr marL="0" indent="0" eaLnBrk="1" hangingPunct="1">
              <a:buNone/>
            </a:pPr>
            <a:endParaRPr lang="en-US" altLang="zh-CN" b="1">
              <a:ea typeface="宋体" charset="-122"/>
              <a:cs typeface="宋体" charset="-122"/>
            </a:endParaRPr>
          </a:p>
        </p:txBody>
      </p:sp>
      <p:sp>
        <p:nvSpPr>
          <p:cNvPr id="5" name="Footer Placeholder 4">
            <a:extLst>
              <a:ext uri="{FF2B5EF4-FFF2-40B4-BE49-F238E27FC236}">
                <a16:creationId xmlns:a16="http://schemas.microsoft.com/office/drawing/2014/main" id="{BF8EA4A6-35D6-A549-06AA-4970824CEBFF}"/>
              </a:ext>
            </a:extLst>
          </p:cNvPr>
          <p:cNvSpPr>
            <a:spLocks noGrp="1"/>
          </p:cNvSpPr>
          <p:nvPr>
            <p:ph type="ftr" sz="quarter" idx="10"/>
          </p:nvPr>
        </p:nvSpPr>
        <p:spPr/>
        <p:txBody>
          <a:bodyPr/>
          <a:lstStyle/>
          <a:p>
            <a:pPr>
              <a:defRPr/>
            </a:pPr>
            <a:r>
              <a:rPr lang="en-GB" sz="900" b="1" err="1">
                <a:solidFill>
                  <a:srgbClr val="AFD2F0"/>
                </a:solidFill>
              </a:rPr>
              <a:t>InterConnect</a:t>
            </a:r>
            <a:r>
              <a:rPr lang="en-GB" sz="900" b="1">
                <a:solidFill>
                  <a:srgbClr val="AFD2F0"/>
                </a:solidFill>
              </a:rPr>
              <a:t> DSO interface + </a:t>
            </a:r>
            <a:r>
              <a:rPr lang="en-GB" sz="900" b="1" err="1">
                <a:solidFill>
                  <a:srgbClr val="AFD2F0"/>
                </a:solidFill>
              </a:rPr>
              <a:t>Intoduction</a:t>
            </a:r>
            <a:r>
              <a:rPr lang="en-GB" sz="900" b="1">
                <a:solidFill>
                  <a:srgbClr val="AFD2F0"/>
                </a:solidFill>
              </a:rPr>
              <a:t> to the Knowledge Engine</a:t>
            </a:r>
            <a:endParaRPr lang="en-US" sz="900">
              <a:solidFill>
                <a:srgbClr val="AFD2F0"/>
              </a:solidFill>
            </a:endParaRPr>
          </a:p>
        </p:txBody>
      </p:sp>
    </p:spTree>
    <p:extLst>
      <p:ext uri="{BB962C8B-B14F-4D97-AF65-F5344CB8AC3E}">
        <p14:creationId xmlns:p14="http://schemas.microsoft.com/office/powerpoint/2010/main" val="143707269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F7057E-D7C0-5F56-9B72-95FBC6702B5B}"/>
              </a:ext>
            </a:extLst>
          </p:cNvPr>
          <p:cNvSpPr>
            <a:spLocks noGrp="1"/>
          </p:cNvSpPr>
          <p:nvPr>
            <p:ph type="title"/>
          </p:nvPr>
        </p:nvSpPr>
        <p:spPr/>
        <p:txBody>
          <a:bodyPr/>
          <a:lstStyle/>
          <a:p>
            <a:r>
              <a:rPr lang="en-US" err="1"/>
              <a:t>InterConnect</a:t>
            </a:r>
            <a:r>
              <a:rPr lang="en-US"/>
              <a:t> DSO interface</a:t>
            </a:r>
            <a:endParaRPr lang="en-BE"/>
          </a:p>
        </p:txBody>
      </p:sp>
      <p:pic>
        <p:nvPicPr>
          <p:cNvPr id="7" name="Content Placeholder 6" descr="A diagram of a computer&#10;&#10;AI-generated content may be incorrect.">
            <a:extLst>
              <a:ext uri="{FF2B5EF4-FFF2-40B4-BE49-F238E27FC236}">
                <a16:creationId xmlns:a16="http://schemas.microsoft.com/office/drawing/2014/main" id="{93051B83-8FE5-E98A-BDC9-E9A0C89305B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76250" y="1292480"/>
            <a:ext cx="11399838" cy="4498465"/>
          </a:xfrm>
        </p:spPr>
      </p:pic>
      <p:sp>
        <p:nvSpPr>
          <p:cNvPr id="2" name="Footer Placeholder 1">
            <a:extLst>
              <a:ext uri="{FF2B5EF4-FFF2-40B4-BE49-F238E27FC236}">
                <a16:creationId xmlns:a16="http://schemas.microsoft.com/office/drawing/2014/main" id="{6DC1C670-EE82-147C-7379-390A505AB417}"/>
              </a:ext>
            </a:extLst>
          </p:cNvPr>
          <p:cNvSpPr>
            <a:spLocks noGrp="1"/>
          </p:cNvSpPr>
          <p:nvPr>
            <p:ph type="ftr" sz="quarter" idx="14"/>
          </p:nvPr>
        </p:nvSpPr>
        <p:spPr/>
        <p:txBody>
          <a:bodyPr/>
          <a:lstStyle/>
          <a:p>
            <a:pPr>
              <a:defRPr/>
            </a:pPr>
            <a:r>
              <a:rPr lang="en-GB" sz="900" b="1" err="1">
                <a:solidFill>
                  <a:srgbClr val="AFD2F0"/>
                </a:solidFill>
              </a:rPr>
              <a:t>InterConnect</a:t>
            </a:r>
            <a:r>
              <a:rPr lang="en-GB" sz="900" b="1">
                <a:solidFill>
                  <a:srgbClr val="AFD2F0"/>
                </a:solidFill>
              </a:rPr>
              <a:t> DSO interface + </a:t>
            </a:r>
            <a:r>
              <a:rPr lang="en-GB" sz="900" b="1" err="1">
                <a:solidFill>
                  <a:srgbClr val="AFD2F0"/>
                </a:solidFill>
              </a:rPr>
              <a:t>Intoduction</a:t>
            </a:r>
            <a:r>
              <a:rPr lang="en-GB" sz="900" b="1">
                <a:solidFill>
                  <a:srgbClr val="AFD2F0"/>
                </a:solidFill>
              </a:rPr>
              <a:t> to the Knowledge Engine</a:t>
            </a:r>
            <a:endParaRPr lang="en-US" sz="900">
              <a:solidFill>
                <a:srgbClr val="AFD2F0"/>
              </a:solidFill>
            </a:endParaRPr>
          </a:p>
        </p:txBody>
      </p:sp>
    </p:spTree>
    <p:extLst>
      <p:ext uri="{BB962C8B-B14F-4D97-AF65-F5344CB8AC3E}">
        <p14:creationId xmlns:p14="http://schemas.microsoft.com/office/powerpoint/2010/main" val="41901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51266-66E2-A4A4-2E0C-9A6385BE0745}"/>
              </a:ext>
            </a:extLst>
          </p:cNvPr>
          <p:cNvSpPr>
            <a:spLocks noGrp="1"/>
          </p:cNvSpPr>
          <p:nvPr>
            <p:ph type="title"/>
          </p:nvPr>
        </p:nvSpPr>
        <p:spPr>
          <a:xfrm>
            <a:off x="476213" y="332879"/>
            <a:ext cx="11430079" cy="836613"/>
          </a:xfrm>
        </p:spPr>
        <p:txBody>
          <a:bodyPr wrap="square" anchor="ctr">
            <a:normAutofit/>
          </a:bodyPr>
          <a:lstStyle/>
          <a:p>
            <a:r>
              <a:rPr lang="en-US" b="1"/>
              <a:t>What is Knowledge Engine?</a:t>
            </a:r>
            <a:endParaRPr lang="en-BE"/>
          </a:p>
        </p:txBody>
      </p:sp>
      <p:sp>
        <p:nvSpPr>
          <p:cNvPr id="4" name="Footer Placeholder 3">
            <a:extLst>
              <a:ext uri="{FF2B5EF4-FFF2-40B4-BE49-F238E27FC236}">
                <a16:creationId xmlns:a16="http://schemas.microsoft.com/office/drawing/2014/main" id="{15B2E142-EF22-C560-FF49-5B4B2FBF6876}"/>
              </a:ext>
            </a:extLst>
          </p:cNvPr>
          <p:cNvSpPr>
            <a:spLocks noGrp="1"/>
          </p:cNvSpPr>
          <p:nvPr>
            <p:ph type="ftr" sz="quarter" idx="10"/>
          </p:nvPr>
        </p:nvSpPr>
        <p:spPr>
          <a:xfrm>
            <a:off x="1773043" y="6198698"/>
            <a:ext cx="9043639" cy="406400"/>
          </a:xfrm>
        </p:spPr>
        <p:txBody>
          <a:bodyPr wrap="none" anchor="ctr">
            <a:normAutofit/>
          </a:bodyPr>
          <a:lstStyle/>
          <a:p>
            <a:pPr>
              <a:spcAft>
                <a:spcPts val="600"/>
              </a:spcAft>
              <a:defRPr/>
            </a:pPr>
            <a:r>
              <a:rPr lang="en-GB" sz="900" b="1" err="1">
                <a:solidFill>
                  <a:srgbClr val="AFD2F0"/>
                </a:solidFill>
              </a:rPr>
              <a:t>InterConnect</a:t>
            </a:r>
            <a:r>
              <a:rPr lang="en-GB" sz="900" b="1">
                <a:solidFill>
                  <a:srgbClr val="AFD2F0"/>
                </a:solidFill>
              </a:rPr>
              <a:t> DSO interface + </a:t>
            </a:r>
            <a:r>
              <a:rPr lang="en-GB" sz="900" b="1" err="1">
                <a:solidFill>
                  <a:srgbClr val="AFD2F0"/>
                </a:solidFill>
              </a:rPr>
              <a:t>Intoduction</a:t>
            </a:r>
            <a:r>
              <a:rPr lang="en-GB" sz="900" b="1">
                <a:solidFill>
                  <a:srgbClr val="AFD2F0"/>
                </a:solidFill>
              </a:rPr>
              <a:t> to the Knowledge Engine</a:t>
            </a:r>
            <a:endParaRPr lang="en-US" sz="900">
              <a:solidFill>
                <a:srgbClr val="AFD2F0"/>
              </a:solidFill>
            </a:endParaRPr>
          </a:p>
        </p:txBody>
      </p:sp>
      <p:sp>
        <p:nvSpPr>
          <p:cNvPr id="5" name="Content Placeholder 4">
            <a:extLst>
              <a:ext uri="{FF2B5EF4-FFF2-40B4-BE49-F238E27FC236}">
                <a16:creationId xmlns:a16="http://schemas.microsoft.com/office/drawing/2014/main" id="{BFD1C7E3-A967-E78B-425F-69B327891505}"/>
              </a:ext>
            </a:extLst>
          </p:cNvPr>
          <p:cNvSpPr>
            <a:spLocks noGrp="1"/>
          </p:cNvSpPr>
          <p:nvPr>
            <p:ph idx="1"/>
          </p:nvPr>
        </p:nvSpPr>
        <p:spPr/>
        <p:txBody>
          <a:bodyPr/>
          <a:lstStyle/>
          <a:p>
            <a:r>
              <a:rPr lang="en-US" sz="2000"/>
              <a:t>The knowledge engine is a platform through which services can communicate with each other. The way they do this is special; clients don't specify who they want their requests to be sent to. They only specify the "shape" (interface) of the data they can send or receive to the knowledge engine, and the platform calculates who the request should be sent to.</a:t>
            </a:r>
          </a:p>
          <a:p>
            <a:endParaRPr lang="en-US" sz="2000"/>
          </a:p>
          <a:p>
            <a:r>
              <a:rPr lang="en-US" sz="2000"/>
              <a:t>The way the interface is provided is in the RDF format (sort of like XML). This format has to fit within an "ontology"  that is provided to the knowledge engine. SAREF is the ontology that was developed in Interconnect</a:t>
            </a:r>
          </a:p>
          <a:p>
            <a:r>
              <a:rPr lang="en-US" sz="2000"/>
              <a:t>This way, all services that connect with knowledge engine are speaking the same "language".</a:t>
            </a:r>
          </a:p>
          <a:p>
            <a:pPr marL="0" indent="0">
              <a:buNone/>
            </a:pPr>
            <a:endParaRPr lang="en-US" sz="2000"/>
          </a:p>
          <a:p>
            <a:r>
              <a:rPr lang="en-US" sz="2000" b="1"/>
              <a:t>This makes a few points possible</a:t>
            </a:r>
            <a:r>
              <a:rPr lang="en-US" sz="2000"/>
              <a:t>:</a:t>
            </a:r>
          </a:p>
          <a:p>
            <a:r>
              <a:rPr lang="en-US" sz="2000"/>
              <a:t>- Knowledge engine can automatically </a:t>
            </a:r>
            <a:r>
              <a:rPr lang="nl-BE" sz="2000" err="1"/>
              <a:t>identify</a:t>
            </a:r>
            <a:r>
              <a:rPr lang="en-US" sz="2000"/>
              <a:t> and make links between services without any additional work.</a:t>
            </a:r>
            <a:br>
              <a:rPr lang="en-US" sz="2000"/>
            </a:br>
            <a:r>
              <a:rPr lang="en-US" sz="2000"/>
              <a:t>- Easy onboarding for new stakeholders, they just need to translate their data to the ontology and connect their service to knowledge engine.</a:t>
            </a:r>
          </a:p>
          <a:p>
            <a:endParaRPr lang="nl-BE"/>
          </a:p>
        </p:txBody>
      </p:sp>
    </p:spTree>
    <p:extLst>
      <p:ext uri="{BB962C8B-B14F-4D97-AF65-F5344CB8AC3E}">
        <p14:creationId xmlns:p14="http://schemas.microsoft.com/office/powerpoint/2010/main" val="17649096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0DC83-8B74-0AC8-6694-0F734F47C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182E82-0ECE-E0B0-D4F5-E9577030B1BD}"/>
              </a:ext>
            </a:extLst>
          </p:cNvPr>
          <p:cNvSpPr>
            <a:spLocks noGrp="1"/>
          </p:cNvSpPr>
          <p:nvPr>
            <p:ph type="title"/>
          </p:nvPr>
        </p:nvSpPr>
        <p:spPr>
          <a:xfrm>
            <a:off x="476213" y="332879"/>
            <a:ext cx="11430079" cy="836613"/>
          </a:xfrm>
        </p:spPr>
        <p:txBody>
          <a:bodyPr wrap="square" anchor="ctr">
            <a:normAutofit/>
          </a:bodyPr>
          <a:lstStyle/>
          <a:p>
            <a:r>
              <a:rPr lang="en-US" b="1"/>
              <a:t>Knowledge Engine introduction</a:t>
            </a:r>
            <a:endParaRPr lang="en-BE"/>
          </a:p>
        </p:txBody>
      </p:sp>
      <p:pic>
        <p:nvPicPr>
          <p:cNvPr id="6" name="Content Placeholder 5" descr="A diagram of a engine&#10;&#10;AI-generated content may be incorrect.">
            <a:extLst>
              <a:ext uri="{FF2B5EF4-FFF2-40B4-BE49-F238E27FC236}">
                <a16:creationId xmlns:a16="http://schemas.microsoft.com/office/drawing/2014/main" id="{F4A4A44F-CFE8-ECB0-9765-840B1293681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9790" b="15916"/>
          <a:stretch>
            <a:fillRect/>
          </a:stretch>
        </p:blipFill>
        <p:spPr>
          <a:xfrm>
            <a:off x="476211" y="1359878"/>
            <a:ext cx="11400407" cy="4594873"/>
          </a:xfrm>
          <a:noFill/>
        </p:spPr>
      </p:pic>
      <p:sp>
        <p:nvSpPr>
          <p:cNvPr id="4" name="Footer Placeholder 3">
            <a:extLst>
              <a:ext uri="{FF2B5EF4-FFF2-40B4-BE49-F238E27FC236}">
                <a16:creationId xmlns:a16="http://schemas.microsoft.com/office/drawing/2014/main" id="{3F2BEDAE-189B-793D-BFC9-F0CE0187AA1A}"/>
              </a:ext>
            </a:extLst>
          </p:cNvPr>
          <p:cNvSpPr>
            <a:spLocks noGrp="1"/>
          </p:cNvSpPr>
          <p:nvPr>
            <p:ph type="ftr" sz="quarter" idx="10"/>
          </p:nvPr>
        </p:nvSpPr>
        <p:spPr>
          <a:xfrm>
            <a:off x="1773043" y="6198698"/>
            <a:ext cx="9043639" cy="406400"/>
          </a:xfrm>
        </p:spPr>
        <p:txBody>
          <a:bodyPr wrap="none" anchor="ctr">
            <a:normAutofit/>
          </a:bodyPr>
          <a:lstStyle/>
          <a:p>
            <a:pPr>
              <a:spcAft>
                <a:spcPts val="600"/>
              </a:spcAft>
              <a:defRPr/>
            </a:pPr>
            <a:r>
              <a:rPr lang="en-GB" sz="900" b="1" err="1">
                <a:solidFill>
                  <a:srgbClr val="AFD2F0"/>
                </a:solidFill>
              </a:rPr>
              <a:t>InterConnect</a:t>
            </a:r>
            <a:r>
              <a:rPr lang="en-GB" sz="900" b="1">
                <a:solidFill>
                  <a:srgbClr val="AFD2F0"/>
                </a:solidFill>
              </a:rPr>
              <a:t> DSO interface + </a:t>
            </a:r>
            <a:r>
              <a:rPr lang="en-GB" sz="900" b="1" err="1">
                <a:solidFill>
                  <a:srgbClr val="AFD2F0"/>
                </a:solidFill>
              </a:rPr>
              <a:t>Intoduction</a:t>
            </a:r>
            <a:r>
              <a:rPr lang="en-GB" sz="900" b="1">
                <a:solidFill>
                  <a:srgbClr val="AFD2F0"/>
                </a:solidFill>
              </a:rPr>
              <a:t> to the Knowledge Engine</a:t>
            </a:r>
            <a:endParaRPr lang="en-US" sz="900">
              <a:solidFill>
                <a:srgbClr val="AFD2F0"/>
              </a:solidFill>
            </a:endParaRPr>
          </a:p>
        </p:txBody>
      </p:sp>
    </p:spTree>
    <p:extLst>
      <p:ext uri="{BB962C8B-B14F-4D97-AF65-F5344CB8AC3E}">
        <p14:creationId xmlns:p14="http://schemas.microsoft.com/office/powerpoint/2010/main" val="3329279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08420-7213-B485-D121-FACFAAC61A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24E55C-EE71-4D8A-E87E-6B0AC4F6F74A}"/>
              </a:ext>
            </a:extLst>
          </p:cNvPr>
          <p:cNvSpPr>
            <a:spLocks noGrp="1"/>
          </p:cNvSpPr>
          <p:nvPr>
            <p:ph type="title"/>
          </p:nvPr>
        </p:nvSpPr>
        <p:spPr>
          <a:xfrm>
            <a:off x="476213" y="332879"/>
            <a:ext cx="11430079" cy="836613"/>
          </a:xfrm>
        </p:spPr>
        <p:txBody>
          <a:bodyPr wrap="square" anchor="ctr">
            <a:normAutofit/>
          </a:bodyPr>
          <a:lstStyle/>
          <a:p>
            <a:r>
              <a:rPr lang="en-US" b="1"/>
              <a:t>Knowledge Engine interactions</a:t>
            </a:r>
            <a:endParaRPr lang="en-BE"/>
          </a:p>
        </p:txBody>
      </p:sp>
      <p:sp>
        <p:nvSpPr>
          <p:cNvPr id="13" name="Content Placeholder 2">
            <a:extLst>
              <a:ext uri="{FF2B5EF4-FFF2-40B4-BE49-F238E27FC236}">
                <a16:creationId xmlns:a16="http://schemas.microsoft.com/office/drawing/2014/main" id="{961905C7-DB2D-4CE8-DD43-009C67DBA62C}"/>
              </a:ext>
            </a:extLst>
          </p:cNvPr>
          <p:cNvSpPr>
            <a:spLocks noGrp="1"/>
          </p:cNvSpPr>
          <p:nvPr>
            <p:ph sz="half" idx="1"/>
          </p:nvPr>
        </p:nvSpPr>
        <p:spPr>
          <a:xfrm>
            <a:off x="476213" y="1359878"/>
            <a:ext cx="5050827" cy="4661781"/>
          </a:xfrm>
        </p:spPr>
        <p:txBody>
          <a:bodyPr/>
          <a:lstStyle/>
          <a:p>
            <a:endParaRPr lang="en-US"/>
          </a:p>
          <a:p>
            <a:r>
              <a:rPr lang="en-US"/>
              <a:t>The Knowledge Engine supports 4 types of interaction:</a:t>
            </a:r>
          </a:p>
          <a:p>
            <a:pPr marL="0" indent="0">
              <a:buNone/>
            </a:pPr>
            <a:endParaRPr lang="en-US"/>
          </a:p>
          <a:p>
            <a:pPr lvl="1"/>
            <a:r>
              <a:rPr lang="en-US"/>
              <a:t>Ask: Request knowledge</a:t>
            </a:r>
          </a:p>
          <a:p>
            <a:pPr lvl="1"/>
            <a:r>
              <a:rPr lang="en-US"/>
              <a:t>Answer: Provide results</a:t>
            </a:r>
          </a:p>
          <a:p>
            <a:pPr lvl="1"/>
            <a:r>
              <a:rPr lang="en-US"/>
              <a:t>Post: Insert or update data</a:t>
            </a:r>
          </a:p>
          <a:p>
            <a:pPr lvl="1"/>
            <a:r>
              <a:rPr lang="en-US"/>
              <a:t>React: Respond to changes</a:t>
            </a:r>
          </a:p>
        </p:txBody>
      </p:sp>
      <p:pic>
        <p:nvPicPr>
          <p:cNvPr id="8" name="Content Placeholder 7" descr="A screenshot of a computer&#10;&#10;AI-generated content may be incorrect.">
            <a:extLst>
              <a:ext uri="{FF2B5EF4-FFF2-40B4-BE49-F238E27FC236}">
                <a16:creationId xmlns:a16="http://schemas.microsoft.com/office/drawing/2014/main" id="{2D870FBF-E26D-CE6C-AE42-CC88BA2C435F}"/>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527040" y="1169493"/>
            <a:ext cx="6349578" cy="4852166"/>
          </a:xfrm>
          <a:noFill/>
        </p:spPr>
      </p:pic>
      <p:sp>
        <p:nvSpPr>
          <p:cNvPr id="15" name="Footer Placeholder 4">
            <a:extLst>
              <a:ext uri="{FF2B5EF4-FFF2-40B4-BE49-F238E27FC236}">
                <a16:creationId xmlns:a16="http://schemas.microsoft.com/office/drawing/2014/main" id="{9EF9BD4A-EC38-F6AD-4631-CE984756A46D}"/>
              </a:ext>
            </a:extLst>
          </p:cNvPr>
          <p:cNvSpPr>
            <a:spLocks noGrp="1"/>
          </p:cNvSpPr>
          <p:nvPr>
            <p:ph type="ftr" sz="quarter" idx="10"/>
          </p:nvPr>
        </p:nvSpPr>
        <p:spPr>
          <a:xfrm>
            <a:off x="1773043" y="6198698"/>
            <a:ext cx="9043639" cy="406400"/>
          </a:xfrm>
        </p:spPr>
        <p:txBody>
          <a:bodyPr/>
          <a:lstStyle/>
          <a:p>
            <a:pPr>
              <a:spcAft>
                <a:spcPts val="600"/>
              </a:spcAft>
              <a:defRPr/>
            </a:pPr>
            <a:r>
              <a:rPr lang="en-GB" sz="900" b="1" err="1">
                <a:solidFill>
                  <a:srgbClr val="AFD2F0"/>
                </a:solidFill>
              </a:rPr>
              <a:t>InterConnect</a:t>
            </a:r>
            <a:r>
              <a:rPr lang="en-GB" sz="900" b="1">
                <a:solidFill>
                  <a:srgbClr val="AFD2F0"/>
                </a:solidFill>
              </a:rPr>
              <a:t> DSO interface + </a:t>
            </a:r>
            <a:r>
              <a:rPr lang="en-GB" sz="900" b="1" err="1">
                <a:solidFill>
                  <a:srgbClr val="AFD2F0"/>
                </a:solidFill>
              </a:rPr>
              <a:t>Intoduction</a:t>
            </a:r>
            <a:r>
              <a:rPr lang="en-GB" sz="900" b="1">
                <a:solidFill>
                  <a:srgbClr val="AFD2F0"/>
                </a:solidFill>
              </a:rPr>
              <a:t> to the Knowledge Engine</a:t>
            </a:r>
            <a:endParaRPr lang="en-US" sz="900">
              <a:solidFill>
                <a:srgbClr val="AFD2F0"/>
              </a:solidFill>
            </a:endParaRPr>
          </a:p>
        </p:txBody>
      </p:sp>
    </p:spTree>
    <p:extLst>
      <p:ext uri="{BB962C8B-B14F-4D97-AF65-F5344CB8AC3E}">
        <p14:creationId xmlns:p14="http://schemas.microsoft.com/office/powerpoint/2010/main" val="3753022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78794-8ED6-6E67-518D-C90854983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AC3D8-AE07-A6DC-1C59-DB19579515DC}"/>
              </a:ext>
            </a:extLst>
          </p:cNvPr>
          <p:cNvSpPr>
            <a:spLocks noGrp="1"/>
          </p:cNvSpPr>
          <p:nvPr>
            <p:ph type="title"/>
          </p:nvPr>
        </p:nvSpPr>
        <p:spPr>
          <a:xfrm>
            <a:off x="476212" y="332879"/>
            <a:ext cx="11299476" cy="836613"/>
          </a:xfrm>
        </p:spPr>
        <p:txBody>
          <a:bodyPr wrap="square" anchor="ctr">
            <a:normAutofit/>
          </a:bodyPr>
          <a:lstStyle/>
          <a:p>
            <a:r>
              <a:rPr lang="en-US" b="1"/>
              <a:t>RDF Graph pattern &amp; SAREF </a:t>
            </a:r>
            <a:r>
              <a:rPr lang="en-US"/>
              <a:t>O</a:t>
            </a:r>
            <a:r>
              <a:rPr lang="en-US" b="1"/>
              <a:t>ntology</a:t>
            </a:r>
            <a:endParaRPr lang="en-BE"/>
          </a:p>
        </p:txBody>
      </p:sp>
      <p:pic>
        <p:nvPicPr>
          <p:cNvPr id="8" name="Content Placeholder 7" descr="A screenshot of a computer&#10;&#10;AI-generated content may be incorrect.">
            <a:extLst>
              <a:ext uri="{FF2B5EF4-FFF2-40B4-BE49-F238E27FC236}">
                <a16:creationId xmlns:a16="http://schemas.microsoft.com/office/drawing/2014/main" id="{A64E744F-25FE-4AA0-1500-AC2BCB90543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1373" y="1729212"/>
            <a:ext cx="11217483" cy="4258993"/>
          </a:xfrm>
          <a:noFill/>
        </p:spPr>
      </p:pic>
      <p:sp>
        <p:nvSpPr>
          <p:cNvPr id="13" name="Content Placeholder 2">
            <a:extLst>
              <a:ext uri="{FF2B5EF4-FFF2-40B4-BE49-F238E27FC236}">
                <a16:creationId xmlns:a16="http://schemas.microsoft.com/office/drawing/2014/main" id="{6E177F3F-D2DE-EDA7-B241-51E67474C9BF}"/>
              </a:ext>
            </a:extLst>
          </p:cNvPr>
          <p:cNvSpPr>
            <a:spLocks noGrp="1"/>
          </p:cNvSpPr>
          <p:nvPr>
            <p:ph type="body" sz="quarter" idx="13"/>
          </p:nvPr>
        </p:nvSpPr>
        <p:spPr>
          <a:xfrm>
            <a:off x="461373" y="1184329"/>
            <a:ext cx="11430081" cy="369332"/>
          </a:xfrm>
        </p:spPr>
        <p:txBody>
          <a:bodyPr wrap="square" anchor="t">
            <a:normAutofit lnSpcReduction="10000"/>
          </a:bodyPr>
          <a:lstStyle/>
          <a:p>
            <a:pPr>
              <a:lnSpc>
                <a:spcPct val="90000"/>
              </a:lnSpc>
            </a:pPr>
            <a:endParaRPr lang="en-US" sz="1100"/>
          </a:p>
          <a:p>
            <a:pPr>
              <a:lnSpc>
                <a:spcPct val="90000"/>
              </a:lnSpc>
            </a:pPr>
            <a:r>
              <a:rPr lang="en-US" sz="1400"/>
              <a:t>The example </a:t>
            </a:r>
            <a:r>
              <a:rPr lang="nl-BE" sz="1400" err="1"/>
              <a:t>illustrates</a:t>
            </a:r>
            <a:r>
              <a:rPr lang="en-US" sz="1400"/>
              <a:t> how IoT devices are linked to SAREF classes using RDF, enabling interoperability across platforms and standardized data exchange.</a:t>
            </a:r>
          </a:p>
        </p:txBody>
      </p:sp>
      <p:sp>
        <p:nvSpPr>
          <p:cNvPr id="20" name="Footer Placeholder 4">
            <a:extLst>
              <a:ext uri="{FF2B5EF4-FFF2-40B4-BE49-F238E27FC236}">
                <a16:creationId xmlns:a16="http://schemas.microsoft.com/office/drawing/2014/main" id="{78CD0EFB-B0D8-1678-B793-8C6BD4A380C7}"/>
              </a:ext>
            </a:extLst>
          </p:cNvPr>
          <p:cNvSpPr>
            <a:spLocks noGrp="1"/>
          </p:cNvSpPr>
          <p:nvPr>
            <p:ph type="ftr" sz="quarter" idx="14"/>
          </p:nvPr>
        </p:nvSpPr>
        <p:spPr>
          <a:xfrm>
            <a:off x="1773043" y="6198698"/>
            <a:ext cx="9043639" cy="406400"/>
          </a:xfrm>
        </p:spPr>
        <p:txBody>
          <a:bodyPr/>
          <a:lstStyle/>
          <a:p>
            <a:pPr>
              <a:spcAft>
                <a:spcPts val="600"/>
              </a:spcAft>
              <a:defRPr/>
            </a:pPr>
            <a:r>
              <a:rPr lang="en-GB" sz="900" b="1" err="1">
                <a:solidFill>
                  <a:srgbClr val="AFD2F0"/>
                </a:solidFill>
              </a:rPr>
              <a:t>InterConnect</a:t>
            </a:r>
            <a:r>
              <a:rPr lang="en-GB" sz="900" b="1">
                <a:solidFill>
                  <a:srgbClr val="AFD2F0"/>
                </a:solidFill>
              </a:rPr>
              <a:t> DSO interface + </a:t>
            </a:r>
            <a:r>
              <a:rPr lang="en-GB" sz="900" b="1" err="1">
                <a:solidFill>
                  <a:srgbClr val="AFD2F0"/>
                </a:solidFill>
              </a:rPr>
              <a:t>Intoduction</a:t>
            </a:r>
            <a:r>
              <a:rPr lang="en-GB" sz="900" b="1">
                <a:solidFill>
                  <a:srgbClr val="AFD2F0"/>
                </a:solidFill>
              </a:rPr>
              <a:t> to the Knowledge Engine</a:t>
            </a:r>
            <a:endParaRPr lang="en-US" sz="900">
              <a:solidFill>
                <a:srgbClr val="AFD2F0"/>
              </a:solidFill>
            </a:endParaRPr>
          </a:p>
        </p:txBody>
      </p:sp>
    </p:spTree>
    <p:extLst>
      <p:ext uri="{BB962C8B-B14F-4D97-AF65-F5344CB8AC3E}">
        <p14:creationId xmlns:p14="http://schemas.microsoft.com/office/powerpoint/2010/main" val="3381105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36280" y="2437868"/>
            <a:ext cx="7772400" cy="1367156"/>
          </a:xfrm>
        </p:spPr>
        <p:txBody>
          <a:bodyPr anchor="b"/>
          <a:lstStyle/>
          <a:p>
            <a:pPr>
              <a:lnSpc>
                <a:spcPct val="80000"/>
              </a:lnSpc>
            </a:pPr>
            <a:r>
              <a:rPr lang="en-US" sz="6000" dirty="0"/>
              <a:t>Thank you!</a:t>
            </a:r>
          </a:p>
        </p:txBody>
      </p:sp>
      <p:sp>
        <p:nvSpPr>
          <p:cNvPr id="6" name="Text Placeholder 5"/>
          <p:cNvSpPr>
            <a:spLocks noGrp="1"/>
          </p:cNvSpPr>
          <p:nvPr>
            <p:ph type="body" idx="1"/>
          </p:nvPr>
        </p:nvSpPr>
        <p:spPr>
          <a:xfrm flipV="1">
            <a:off x="2236280" y="4512259"/>
            <a:ext cx="7772400" cy="75290"/>
          </a:xfrm>
        </p:spPr>
        <p:txBody>
          <a:bodyPr/>
          <a:lstStyle/>
          <a:p>
            <a:endParaRPr lang="en-US"/>
          </a:p>
        </p:txBody>
      </p:sp>
      <p:sp>
        <p:nvSpPr>
          <p:cNvPr id="2" name="Footer Placeholder 1">
            <a:extLst>
              <a:ext uri="{FF2B5EF4-FFF2-40B4-BE49-F238E27FC236}">
                <a16:creationId xmlns:a16="http://schemas.microsoft.com/office/drawing/2014/main" id="{6943F6AE-46F6-E87B-2C52-814676C24767}"/>
              </a:ext>
            </a:extLst>
          </p:cNvPr>
          <p:cNvSpPr>
            <a:spLocks noGrp="1"/>
          </p:cNvSpPr>
          <p:nvPr>
            <p:ph type="ftr" sz="quarter" idx="10"/>
          </p:nvPr>
        </p:nvSpPr>
        <p:spPr>
          <a:xfrm>
            <a:off x="1703153" y="6351098"/>
            <a:ext cx="9394108" cy="406400"/>
          </a:xfrm>
        </p:spPr>
        <p:txBody>
          <a:bodyPr/>
          <a:lstStyle/>
          <a:p>
            <a:pPr>
              <a:defRPr/>
            </a:pPr>
            <a:endParaRPr lang="en-US"/>
          </a:p>
        </p:txBody>
      </p:sp>
    </p:spTree>
    <p:extLst>
      <p:ext uri="{BB962C8B-B14F-4D97-AF65-F5344CB8AC3E}">
        <p14:creationId xmlns:p14="http://schemas.microsoft.com/office/powerpoint/2010/main" val="26920023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ymbol zastępczy stopki 3">
            <a:extLst>
              <a:ext uri="{FF2B5EF4-FFF2-40B4-BE49-F238E27FC236}">
                <a16:creationId xmlns:a16="http://schemas.microsoft.com/office/drawing/2014/main" id="{4D2385F7-EF37-6653-4084-AD3663DBF386}"/>
              </a:ext>
            </a:extLst>
          </p:cNvPr>
          <p:cNvSpPr>
            <a:spLocks noGrp="1"/>
          </p:cNvSpPr>
          <p:nvPr>
            <p:ph type="ftr" sz="quarter" idx="10"/>
          </p:nvPr>
        </p:nvSpPr>
        <p:spPr/>
        <p:txBody>
          <a:bodyPr/>
          <a:lstStyle/>
          <a:p>
            <a:pPr>
              <a:defRPr/>
            </a:pPr>
            <a:r>
              <a:rPr lang="nl-BE"/>
              <a:t>C. Develder, et al., "Home Energy Management in the context of consumer-centric power systems", Daikin TIC, Osaka, Japan, 30 Oct. 2024</a:t>
            </a:r>
            <a:endParaRPr lang="en-US"/>
          </a:p>
        </p:txBody>
      </p:sp>
      <p:sp>
        <p:nvSpPr>
          <p:cNvPr id="9" name="Title 1">
            <a:extLst>
              <a:ext uri="{FF2B5EF4-FFF2-40B4-BE49-F238E27FC236}">
                <a16:creationId xmlns:a16="http://schemas.microsoft.com/office/drawing/2014/main" id="{8E185778-4431-0374-456F-29CA4EA82086}"/>
              </a:ext>
            </a:extLst>
          </p:cNvPr>
          <p:cNvSpPr txBox="1">
            <a:spLocks/>
          </p:cNvSpPr>
          <p:nvPr/>
        </p:nvSpPr>
        <p:spPr bwMode="auto">
          <a:xfrm>
            <a:off x="80272" y="-113099"/>
            <a:ext cx="12111728" cy="892366"/>
          </a:xfrm>
          <a:prstGeom prst="rect">
            <a:avLst/>
          </a:prstGeom>
          <a:noFill/>
          <a:ln w="9525">
            <a:noFill/>
            <a:miter lim="800000"/>
            <a:headEnd/>
            <a:tailEnd/>
          </a:ln>
        </p:spPr>
        <p:txBody>
          <a:bodyPr vert="horz" wrap="square" lIns="0" tIns="0" rIns="0" bIns="0" numCol="1" anchor="ctr" anchorCtr="0" compatLnSpc="1">
            <a:prstTxWarp prst="textNoShape">
              <a:avLst/>
            </a:prstTxWarp>
            <a:normAutofit/>
          </a:bodyPr>
          <a:lstStyle>
            <a:lvl1pPr algn="l" rtl="0" eaLnBrk="0" fontAlgn="base" hangingPunct="0">
              <a:spcBef>
                <a:spcPct val="0"/>
              </a:spcBef>
              <a:spcAft>
                <a:spcPct val="0"/>
              </a:spcAft>
              <a:defRPr sz="3200" b="1">
                <a:solidFill>
                  <a:schemeClr val="accent2"/>
                </a:solidFill>
                <a:latin typeface="+mj-lt"/>
                <a:ea typeface="UGent Panno Text" charset="0"/>
                <a:cs typeface="UGent Panno Text" charset="0"/>
              </a:defRPr>
            </a:lvl1pPr>
            <a:lvl2pPr algn="l" rtl="0" eaLnBrk="0" fontAlgn="base" hangingPunct="0">
              <a:spcBef>
                <a:spcPct val="0"/>
              </a:spcBef>
              <a:spcAft>
                <a:spcPct val="0"/>
              </a:spcAft>
              <a:defRPr sz="2800" b="1">
                <a:solidFill>
                  <a:schemeClr val="tx1"/>
                </a:solidFill>
                <a:latin typeface="Arial" charset="0"/>
                <a:cs typeface="Arial" charset="0"/>
              </a:defRPr>
            </a:lvl2pPr>
            <a:lvl3pPr algn="l" rtl="0" eaLnBrk="0" fontAlgn="base" hangingPunct="0">
              <a:spcBef>
                <a:spcPct val="0"/>
              </a:spcBef>
              <a:spcAft>
                <a:spcPct val="0"/>
              </a:spcAft>
              <a:defRPr sz="2800" b="1">
                <a:solidFill>
                  <a:schemeClr val="tx1"/>
                </a:solidFill>
                <a:latin typeface="Arial" charset="0"/>
                <a:cs typeface="Arial" charset="0"/>
              </a:defRPr>
            </a:lvl3pPr>
            <a:lvl4pPr algn="l" rtl="0" eaLnBrk="0" fontAlgn="base" hangingPunct="0">
              <a:spcBef>
                <a:spcPct val="0"/>
              </a:spcBef>
              <a:spcAft>
                <a:spcPct val="0"/>
              </a:spcAft>
              <a:defRPr sz="2800" b="1">
                <a:solidFill>
                  <a:schemeClr val="tx1"/>
                </a:solidFill>
                <a:latin typeface="Arial" charset="0"/>
                <a:cs typeface="Arial" charset="0"/>
              </a:defRPr>
            </a:lvl4pPr>
            <a:lvl5pPr algn="l" rtl="0" eaLnBrk="0" fontAlgn="base" hangingPunct="0">
              <a:spcBef>
                <a:spcPct val="0"/>
              </a:spcBef>
              <a:spcAft>
                <a:spcPct val="0"/>
              </a:spcAft>
              <a:defRPr sz="2800" b="1">
                <a:solidFill>
                  <a:schemeClr val="tx1"/>
                </a:solidFill>
                <a:latin typeface="Arial" charset="0"/>
                <a:cs typeface="Arial" charset="0"/>
              </a:defRPr>
            </a:lvl5pPr>
            <a:lvl6pPr marL="457200" algn="l" rtl="0" fontAlgn="base">
              <a:spcBef>
                <a:spcPct val="0"/>
              </a:spcBef>
              <a:spcAft>
                <a:spcPct val="0"/>
              </a:spcAft>
              <a:defRPr sz="2800" b="1">
                <a:solidFill>
                  <a:schemeClr val="tx1"/>
                </a:solidFill>
                <a:latin typeface="Arial" charset="0"/>
                <a:cs typeface="Arial" charset="0"/>
              </a:defRPr>
            </a:lvl6pPr>
            <a:lvl7pPr marL="914400" algn="l" rtl="0" fontAlgn="base">
              <a:spcBef>
                <a:spcPct val="0"/>
              </a:spcBef>
              <a:spcAft>
                <a:spcPct val="0"/>
              </a:spcAft>
              <a:defRPr sz="2800" b="1">
                <a:solidFill>
                  <a:schemeClr val="tx1"/>
                </a:solidFill>
                <a:latin typeface="Arial" charset="0"/>
                <a:cs typeface="Arial" charset="0"/>
              </a:defRPr>
            </a:lvl7pPr>
            <a:lvl8pPr marL="1371600" algn="l" rtl="0" fontAlgn="base">
              <a:spcBef>
                <a:spcPct val="0"/>
              </a:spcBef>
              <a:spcAft>
                <a:spcPct val="0"/>
              </a:spcAft>
              <a:defRPr sz="2800" b="1">
                <a:solidFill>
                  <a:schemeClr val="tx1"/>
                </a:solidFill>
                <a:latin typeface="Arial" charset="0"/>
                <a:cs typeface="Arial" charset="0"/>
              </a:defRPr>
            </a:lvl8pPr>
            <a:lvl9pPr marL="1828800" algn="l" rtl="0" fontAlgn="base">
              <a:spcBef>
                <a:spcPct val="0"/>
              </a:spcBef>
              <a:spcAft>
                <a:spcPct val="0"/>
              </a:spcAft>
              <a:defRPr sz="2800" b="1">
                <a:solidFill>
                  <a:schemeClr val="tx1"/>
                </a:solidFill>
                <a:latin typeface="Arial" charset="0"/>
                <a:cs typeface="Arial" charset="0"/>
              </a:defRPr>
            </a:lvl9pPr>
          </a:lstStyle>
          <a:p>
            <a:r>
              <a:rPr lang="en-US" sz="4000" kern="0"/>
              <a:t>Knowledge </a:t>
            </a:r>
            <a:r>
              <a:rPr lang="pl-PL" sz="4000" kern="0"/>
              <a:t>E</a:t>
            </a:r>
            <a:r>
              <a:rPr lang="en-US" sz="4000" kern="0" err="1"/>
              <a:t>ngine</a:t>
            </a:r>
            <a:r>
              <a:rPr lang="en-US" sz="4000" kern="0"/>
              <a:t> in ENEA </a:t>
            </a:r>
            <a:r>
              <a:rPr lang="pl-PL" sz="4000" kern="0"/>
              <a:t>Operator </a:t>
            </a:r>
            <a:r>
              <a:rPr lang="en-US" sz="4000" kern="0"/>
              <a:t>pilot</a:t>
            </a:r>
          </a:p>
        </p:txBody>
      </p:sp>
      <p:sp>
        <p:nvSpPr>
          <p:cNvPr id="37" name="Rectangle 28">
            <a:extLst>
              <a:ext uri="{FF2B5EF4-FFF2-40B4-BE49-F238E27FC236}">
                <a16:creationId xmlns:a16="http://schemas.microsoft.com/office/drawing/2014/main" id="{7440C755-DE0C-7A1A-3284-43FCA295AC97}"/>
              </a:ext>
            </a:extLst>
          </p:cNvPr>
          <p:cNvSpPr/>
          <p:nvPr/>
        </p:nvSpPr>
        <p:spPr>
          <a:xfrm>
            <a:off x="3569651" y="1066015"/>
            <a:ext cx="8422524" cy="5032205"/>
          </a:xfrm>
          <a:prstGeom prst="rect">
            <a:avLst/>
          </a:prstGeom>
          <a:solidFill>
            <a:schemeClr val="bg1"/>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l-PL" sz="1100" b="1"/>
              <a:t>BlueBird</a:t>
            </a:r>
            <a:endParaRPr lang="en-US" sz="1100" b="1"/>
          </a:p>
        </p:txBody>
      </p:sp>
      <p:sp>
        <p:nvSpPr>
          <p:cNvPr id="38" name="Cloud 2">
            <a:extLst>
              <a:ext uri="{FF2B5EF4-FFF2-40B4-BE49-F238E27FC236}">
                <a16:creationId xmlns:a16="http://schemas.microsoft.com/office/drawing/2014/main" id="{7C04BE72-0AB6-4860-B176-B573772EA012}"/>
              </a:ext>
            </a:extLst>
          </p:cNvPr>
          <p:cNvSpPr/>
          <p:nvPr/>
        </p:nvSpPr>
        <p:spPr>
          <a:xfrm rot="17365392">
            <a:off x="-571871" y="1273124"/>
            <a:ext cx="3736078" cy="2739597"/>
          </a:xfrm>
          <a:prstGeom prst="cloud">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9" name="Arrow: Right 51">
            <a:extLst>
              <a:ext uri="{FF2B5EF4-FFF2-40B4-BE49-F238E27FC236}">
                <a16:creationId xmlns:a16="http://schemas.microsoft.com/office/drawing/2014/main" id="{0D603674-FB43-103C-3DA9-BA132B74F7B1}"/>
              </a:ext>
            </a:extLst>
          </p:cNvPr>
          <p:cNvSpPr/>
          <p:nvPr/>
        </p:nvSpPr>
        <p:spPr>
          <a:xfrm rot="16200000">
            <a:off x="8963081" y="3685158"/>
            <a:ext cx="1493152" cy="199248"/>
          </a:xfrm>
          <a:prstGeom prst="rightArrow">
            <a:avLst>
              <a:gd name="adj1" fmla="val 50000"/>
              <a:gd name="adj2" fmla="val 143118"/>
            </a:avLst>
          </a:prstGeom>
          <a:solidFill>
            <a:schemeClr val="tx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0" name="Arrow: Right 55">
            <a:extLst>
              <a:ext uri="{FF2B5EF4-FFF2-40B4-BE49-F238E27FC236}">
                <a16:creationId xmlns:a16="http://schemas.microsoft.com/office/drawing/2014/main" id="{7EBAD714-435D-1A82-09F9-4D1AD37075A8}"/>
              </a:ext>
            </a:extLst>
          </p:cNvPr>
          <p:cNvSpPr/>
          <p:nvPr/>
        </p:nvSpPr>
        <p:spPr>
          <a:xfrm rot="5400000">
            <a:off x="9231675" y="3702959"/>
            <a:ext cx="1529596" cy="199248"/>
          </a:xfrm>
          <a:prstGeom prst="rightArrow">
            <a:avLst>
              <a:gd name="adj1" fmla="val 50000"/>
              <a:gd name="adj2" fmla="val 143118"/>
            </a:avLst>
          </a:prstGeom>
          <a:solidFill>
            <a:schemeClr val="tx1"/>
          </a:solid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41" name="Rectangle 15">
            <a:extLst>
              <a:ext uri="{FF2B5EF4-FFF2-40B4-BE49-F238E27FC236}">
                <a16:creationId xmlns:a16="http://schemas.microsoft.com/office/drawing/2014/main" id="{EA484C55-DE92-7326-E930-CDDEB078DBF1}"/>
              </a:ext>
            </a:extLst>
          </p:cNvPr>
          <p:cNvSpPr/>
          <p:nvPr/>
        </p:nvSpPr>
        <p:spPr>
          <a:xfrm rot="16200000">
            <a:off x="4748267" y="2491529"/>
            <a:ext cx="3315680" cy="662871"/>
          </a:xfrm>
          <a:prstGeom prst="rect">
            <a:avLst/>
          </a:prstGeom>
          <a:solidFill>
            <a:srgbClr val="92D05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Knowledge Engine (KE)</a:t>
            </a:r>
          </a:p>
        </p:txBody>
      </p:sp>
      <p:sp>
        <p:nvSpPr>
          <p:cNvPr id="42" name="Rectangle 16">
            <a:extLst>
              <a:ext uri="{FF2B5EF4-FFF2-40B4-BE49-F238E27FC236}">
                <a16:creationId xmlns:a16="http://schemas.microsoft.com/office/drawing/2014/main" id="{28DDE1FD-130B-79BF-77E9-F1B4EA9D74CF}"/>
              </a:ext>
            </a:extLst>
          </p:cNvPr>
          <p:cNvSpPr/>
          <p:nvPr/>
        </p:nvSpPr>
        <p:spPr>
          <a:xfrm>
            <a:off x="9410128" y="2214070"/>
            <a:ext cx="2492129" cy="466152"/>
          </a:xfrm>
          <a:prstGeom prst="rect">
            <a:avLst/>
          </a:prstGeom>
          <a:solidFill>
            <a:schemeClr val="accent2">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tx1"/>
                </a:solidFill>
              </a:rPr>
              <a:t>Trading Manager </a:t>
            </a:r>
            <a:r>
              <a:rPr lang="en-US" sz="1200">
                <a:solidFill>
                  <a:schemeClr val="tx1"/>
                </a:solidFill>
              </a:rPr>
              <a:t>(TM)</a:t>
            </a:r>
            <a:endParaRPr lang="pl-PL" sz="1200">
              <a:solidFill>
                <a:schemeClr val="tx1"/>
              </a:solidFill>
            </a:endParaRPr>
          </a:p>
          <a:p>
            <a:pPr algn="ctr"/>
            <a:r>
              <a:rPr lang="pl-PL" sz="1000" err="1">
                <a:solidFill>
                  <a:schemeClr val="tx1"/>
                </a:solidFill>
              </a:rPr>
              <a:t>Flexibility</a:t>
            </a:r>
            <a:r>
              <a:rPr lang="pl-PL" sz="1000">
                <a:solidFill>
                  <a:schemeClr val="tx1"/>
                </a:solidFill>
              </a:rPr>
              <a:t> </a:t>
            </a:r>
            <a:r>
              <a:rPr lang="pl-PL" sz="1000" err="1">
                <a:solidFill>
                  <a:schemeClr val="tx1"/>
                </a:solidFill>
              </a:rPr>
              <a:t>evaluation</a:t>
            </a:r>
            <a:endParaRPr lang="en-US" sz="1000">
              <a:solidFill>
                <a:schemeClr val="tx1"/>
              </a:solidFill>
            </a:endParaRPr>
          </a:p>
        </p:txBody>
      </p:sp>
      <p:sp>
        <p:nvSpPr>
          <p:cNvPr id="43" name="Rectangle 17">
            <a:extLst>
              <a:ext uri="{FF2B5EF4-FFF2-40B4-BE49-F238E27FC236}">
                <a16:creationId xmlns:a16="http://schemas.microsoft.com/office/drawing/2014/main" id="{7AF48F15-72A7-22F5-203B-B99DDF1B7671}"/>
              </a:ext>
            </a:extLst>
          </p:cNvPr>
          <p:cNvSpPr/>
          <p:nvPr/>
        </p:nvSpPr>
        <p:spPr>
          <a:xfrm>
            <a:off x="7164550" y="2485565"/>
            <a:ext cx="2138061" cy="125873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b="1" noProof="0">
                <a:solidFill>
                  <a:schemeClr val="tx1"/>
                </a:solidFill>
              </a:rPr>
              <a:t>POST</a:t>
            </a:r>
            <a:r>
              <a:rPr lang="en-GB" sz="1200" noProof="0">
                <a:solidFill>
                  <a:schemeClr val="tx1"/>
                </a:solidFill>
              </a:rPr>
              <a:t> – power baseline , available flexibility , flexibility offer</a:t>
            </a:r>
          </a:p>
          <a:p>
            <a:r>
              <a:rPr lang="en-GB" sz="1200" b="1" noProof="0">
                <a:solidFill>
                  <a:schemeClr val="tx1"/>
                </a:solidFill>
              </a:rPr>
              <a:t>REACT</a:t>
            </a:r>
            <a:r>
              <a:rPr lang="en-GB" sz="1200" noProof="0">
                <a:solidFill>
                  <a:schemeClr val="tx1"/>
                </a:solidFill>
              </a:rPr>
              <a:t> – subscribe to capacity market (waiting for requests)</a:t>
            </a:r>
          </a:p>
        </p:txBody>
      </p:sp>
      <p:sp>
        <p:nvSpPr>
          <p:cNvPr id="44" name="Rectangle 20">
            <a:extLst>
              <a:ext uri="{FF2B5EF4-FFF2-40B4-BE49-F238E27FC236}">
                <a16:creationId xmlns:a16="http://schemas.microsoft.com/office/drawing/2014/main" id="{FFAD707B-1742-8DFC-EB45-D61BEF3A4247}"/>
              </a:ext>
            </a:extLst>
          </p:cNvPr>
          <p:cNvSpPr/>
          <p:nvPr/>
        </p:nvSpPr>
        <p:spPr>
          <a:xfrm>
            <a:off x="7244363" y="1979321"/>
            <a:ext cx="2028866" cy="395380"/>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KE register</a:t>
            </a:r>
          </a:p>
        </p:txBody>
      </p:sp>
      <p:sp>
        <p:nvSpPr>
          <p:cNvPr id="45" name="Rectangle 21">
            <a:extLst>
              <a:ext uri="{FF2B5EF4-FFF2-40B4-BE49-F238E27FC236}">
                <a16:creationId xmlns:a16="http://schemas.microsoft.com/office/drawing/2014/main" id="{860D2975-7052-6A93-2CF3-4F807E2EE67A}"/>
              </a:ext>
            </a:extLst>
          </p:cNvPr>
          <p:cNvSpPr/>
          <p:nvPr/>
        </p:nvSpPr>
        <p:spPr>
          <a:xfrm>
            <a:off x="9427614" y="4603404"/>
            <a:ext cx="2492127" cy="454032"/>
          </a:xfrm>
          <a:prstGeom prst="rect">
            <a:avLst/>
          </a:prstGeom>
          <a:solidFill>
            <a:srgbClr val="0070C0">
              <a:alpha val="97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ENEA Grid Server</a:t>
            </a:r>
          </a:p>
        </p:txBody>
      </p:sp>
      <p:sp>
        <p:nvSpPr>
          <p:cNvPr id="46" name="Rectangle 33">
            <a:extLst>
              <a:ext uri="{FF2B5EF4-FFF2-40B4-BE49-F238E27FC236}">
                <a16:creationId xmlns:a16="http://schemas.microsoft.com/office/drawing/2014/main" id="{9F6D4F06-07B5-DDAE-94DD-961266066B0C}"/>
              </a:ext>
            </a:extLst>
          </p:cNvPr>
          <p:cNvSpPr/>
          <p:nvPr/>
        </p:nvSpPr>
        <p:spPr>
          <a:xfrm>
            <a:off x="9410128" y="2059436"/>
            <a:ext cx="2485374" cy="175578"/>
          </a:xfrm>
          <a:prstGeom prst="rect">
            <a:avLst/>
          </a:prstGeom>
          <a:solidFill>
            <a:schemeClr val="accent2">
              <a:lumMod val="40000"/>
              <a:lumOff val="60000"/>
            </a:schemeClr>
          </a:solidFill>
          <a:ln w="1587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Knowledge Engine interface</a:t>
            </a:r>
            <a:r>
              <a:rPr lang="pl-PL" sz="1000">
                <a:solidFill>
                  <a:schemeClr val="tx1"/>
                </a:solidFill>
              </a:rPr>
              <a:t> (</a:t>
            </a:r>
            <a:r>
              <a:rPr lang="pl-PL" sz="1000" err="1">
                <a:solidFill>
                  <a:schemeClr val="tx1"/>
                </a:solidFill>
              </a:rPr>
              <a:t>python</a:t>
            </a:r>
            <a:r>
              <a:rPr lang="pl-PL" sz="1000">
                <a:solidFill>
                  <a:schemeClr val="tx1"/>
                </a:solidFill>
              </a:rPr>
              <a:t>)</a:t>
            </a:r>
            <a:endParaRPr lang="en-US" sz="1000">
              <a:solidFill>
                <a:schemeClr val="tx1"/>
              </a:solidFill>
            </a:endParaRPr>
          </a:p>
        </p:txBody>
      </p:sp>
      <p:sp>
        <p:nvSpPr>
          <p:cNvPr id="47" name="Rectangle 39">
            <a:extLst>
              <a:ext uri="{FF2B5EF4-FFF2-40B4-BE49-F238E27FC236}">
                <a16:creationId xmlns:a16="http://schemas.microsoft.com/office/drawing/2014/main" id="{DD774BAB-DDA8-2F62-3D0B-00A09086D127}"/>
              </a:ext>
            </a:extLst>
          </p:cNvPr>
          <p:cNvSpPr/>
          <p:nvPr/>
        </p:nvSpPr>
        <p:spPr>
          <a:xfrm rot="16200000">
            <a:off x="5169805" y="2734492"/>
            <a:ext cx="3315678" cy="180207"/>
          </a:xfrm>
          <a:prstGeom prst="rect">
            <a:avLst/>
          </a:prstGeom>
          <a:solidFill>
            <a:srgbClr val="92D050"/>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KE REST</a:t>
            </a:r>
            <a:endParaRPr lang="en-US" sz="3200">
              <a:solidFill>
                <a:schemeClr val="tx1"/>
              </a:solidFill>
            </a:endParaRPr>
          </a:p>
        </p:txBody>
      </p:sp>
      <p:pic>
        <p:nvPicPr>
          <p:cNvPr id="48" name="Picture 5">
            <a:extLst>
              <a:ext uri="{FF2B5EF4-FFF2-40B4-BE49-F238E27FC236}">
                <a16:creationId xmlns:a16="http://schemas.microsoft.com/office/drawing/2014/main" id="{38A76972-D34D-6DBE-CE89-A6DBD0BA6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6498" y="1721366"/>
            <a:ext cx="1673313" cy="672963"/>
          </a:xfrm>
          <a:prstGeom prst="rect">
            <a:avLst/>
          </a:prstGeom>
        </p:spPr>
      </p:pic>
      <p:sp>
        <p:nvSpPr>
          <p:cNvPr id="49" name="Rectangle 42">
            <a:extLst>
              <a:ext uri="{FF2B5EF4-FFF2-40B4-BE49-F238E27FC236}">
                <a16:creationId xmlns:a16="http://schemas.microsoft.com/office/drawing/2014/main" id="{4A7F7A6D-BFB4-5C0D-BF6B-548F6B11F6BB}"/>
              </a:ext>
            </a:extLst>
          </p:cNvPr>
          <p:cNvSpPr/>
          <p:nvPr/>
        </p:nvSpPr>
        <p:spPr>
          <a:xfrm>
            <a:off x="297736" y="2477581"/>
            <a:ext cx="1609030" cy="434517"/>
          </a:xfrm>
          <a:prstGeom prst="rect">
            <a:avLst/>
          </a:prstGeom>
          <a:solidFill>
            <a:srgbClr val="77D7F5"/>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Capacity market</a:t>
            </a:r>
          </a:p>
        </p:txBody>
      </p:sp>
      <p:sp>
        <p:nvSpPr>
          <p:cNvPr id="50" name="Rectangle 48">
            <a:extLst>
              <a:ext uri="{FF2B5EF4-FFF2-40B4-BE49-F238E27FC236}">
                <a16:creationId xmlns:a16="http://schemas.microsoft.com/office/drawing/2014/main" id="{90297480-1608-B7B7-551D-22A368311B47}"/>
              </a:ext>
            </a:extLst>
          </p:cNvPr>
          <p:cNvSpPr/>
          <p:nvPr/>
        </p:nvSpPr>
        <p:spPr>
          <a:xfrm rot="16200000">
            <a:off x="8994632" y="3688366"/>
            <a:ext cx="1032992" cy="39995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Flexibility</a:t>
            </a:r>
          </a:p>
        </p:txBody>
      </p:sp>
      <p:sp>
        <p:nvSpPr>
          <p:cNvPr id="51" name="Rectangle 56">
            <a:extLst>
              <a:ext uri="{FF2B5EF4-FFF2-40B4-BE49-F238E27FC236}">
                <a16:creationId xmlns:a16="http://schemas.microsoft.com/office/drawing/2014/main" id="{F8F50189-ED31-0D66-58EF-CE9BF2358743}"/>
              </a:ext>
            </a:extLst>
          </p:cNvPr>
          <p:cNvSpPr/>
          <p:nvPr/>
        </p:nvSpPr>
        <p:spPr>
          <a:xfrm>
            <a:off x="9410129" y="2658220"/>
            <a:ext cx="2484136" cy="231986"/>
          </a:xfrm>
          <a:prstGeom prst="rect">
            <a:avLst/>
          </a:prstGeom>
          <a:solidFill>
            <a:schemeClr val="accent2">
              <a:lumMod val="40000"/>
              <a:lumOff val="60000"/>
            </a:schemeClr>
          </a:solidFill>
          <a:ln w="15875">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TM REST</a:t>
            </a:r>
          </a:p>
        </p:txBody>
      </p:sp>
      <p:sp>
        <p:nvSpPr>
          <p:cNvPr id="52" name="Rectangle 57">
            <a:extLst>
              <a:ext uri="{FF2B5EF4-FFF2-40B4-BE49-F238E27FC236}">
                <a16:creationId xmlns:a16="http://schemas.microsoft.com/office/drawing/2014/main" id="{2DE6E01B-E72F-42BC-BED2-5E5526F226F5}"/>
              </a:ext>
            </a:extLst>
          </p:cNvPr>
          <p:cNvSpPr/>
          <p:nvPr/>
        </p:nvSpPr>
        <p:spPr>
          <a:xfrm rot="16200000">
            <a:off x="9847100" y="3582854"/>
            <a:ext cx="871941" cy="454032"/>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Power Demand</a:t>
            </a:r>
          </a:p>
        </p:txBody>
      </p:sp>
      <p:sp>
        <p:nvSpPr>
          <p:cNvPr id="53" name="Rectangle 58">
            <a:extLst>
              <a:ext uri="{FF2B5EF4-FFF2-40B4-BE49-F238E27FC236}">
                <a16:creationId xmlns:a16="http://schemas.microsoft.com/office/drawing/2014/main" id="{F6A844C1-AF84-7CD5-67B2-66ED7FC6B45A}"/>
              </a:ext>
            </a:extLst>
          </p:cNvPr>
          <p:cNvSpPr/>
          <p:nvPr/>
        </p:nvSpPr>
        <p:spPr>
          <a:xfrm>
            <a:off x="9450549" y="5273555"/>
            <a:ext cx="720354" cy="651212"/>
          </a:xfrm>
          <a:prstGeom prst="rect">
            <a:avLst/>
          </a:prstGeom>
          <a:solidFill>
            <a:srgbClr val="0070C0">
              <a:alpha val="97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ENEA Grid facility 1</a:t>
            </a:r>
          </a:p>
        </p:txBody>
      </p:sp>
      <p:sp>
        <p:nvSpPr>
          <p:cNvPr id="54" name="Rectangle 59">
            <a:extLst>
              <a:ext uri="{FF2B5EF4-FFF2-40B4-BE49-F238E27FC236}">
                <a16:creationId xmlns:a16="http://schemas.microsoft.com/office/drawing/2014/main" id="{AF82F2A0-3322-FA32-3459-305505639101}"/>
              </a:ext>
            </a:extLst>
          </p:cNvPr>
          <p:cNvSpPr/>
          <p:nvPr/>
        </p:nvSpPr>
        <p:spPr>
          <a:xfrm>
            <a:off x="11209134" y="5249714"/>
            <a:ext cx="720354" cy="651212"/>
          </a:xfrm>
          <a:prstGeom prst="rect">
            <a:avLst/>
          </a:prstGeom>
          <a:solidFill>
            <a:srgbClr val="0070C0">
              <a:alpha val="97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ENEA Grid facility n</a:t>
            </a:r>
          </a:p>
        </p:txBody>
      </p:sp>
      <p:sp>
        <p:nvSpPr>
          <p:cNvPr id="55" name="Rectangle 60">
            <a:extLst>
              <a:ext uri="{FF2B5EF4-FFF2-40B4-BE49-F238E27FC236}">
                <a16:creationId xmlns:a16="http://schemas.microsoft.com/office/drawing/2014/main" id="{305A618D-1BC0-4BFF-9DF9-68BB74FF5E62}"/>
              </a:ext>
            </a:extLst>
          </p:cNvPr>
          <p:cNvSpPr/>
          <p:nvPr/>
        </p:nvSpPr>
        <p:spPr>
          <a:xfrm>
            <a:off x="10246265" y="5251175"/>
            <a:ext cx="854823" cy="651212"/>
          </a:xfrm>
          <a:prstGeom prst="rect">
            <a:avLst/>
          </a:prstGeom>
          <a:solidFill>
            <a:srgbClr val="0070C0">
              <a:alpha val="97000"/>
            </a:srgb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bg1"/>
                </a:solidFill>
              </a:rPr>
              <a:t>ENEA Grid facility …</a:t>
            </a:r>
          </a:p>
        </p:txBody>
      </p:sp>
      <p:sp>
        <p:nvSpPr>
          <p:cNvPr id="56" name="Rectangle 70">
            <a:extLst>
              <a:ext uri="{FF2B5EF4-FFF2-40B4-BE49-F238E27FC236}">
                <a16:creationId xmlns:a16="http://schemas.microsoft.com/office/drawing/2014/main" id="{F9C92997-D48C-BB77-C382-964B228587B2}"/>
              </a:ext>
            </a:extLst>
          </p:cNvPr>
          <p:cNvSpPr/>
          <p:nvPr/>
        </p:nvSpPr>
        <p:spPr>
          <a:xfrm>
            <a:off x="2031620" y="2603020"/>
            <a:ext cx="1506149" cy="201338"/>
          </a:xfrm>
          <a:prstGeom prst="rect">
            <a:avLst/>
          </a:prstGeom>
          <a:solidFill>
            <a:schemeClr val="bg1"/>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Market API</a:t>
            </a:r>
            <a:endParaRPr lang="en-US" sz="3200">
              <a:solidFill>
                <a:schemeClr val="tx1"/>
              </a:solidFill>
            </a:endParaRPr>
          </a:p>
        </p:txBody>
      </p:sp>
      <p:sp>
        <p:nvSpPr>
          <p:cNvPr id="57" name="Rectangle 71">
            <a:extLst>
              <a:ext uri="{FF2B5EF4-FFF2-40B4-BE49-F238E27FC236}">
                <a16:creationId xmlns:a16="http://schemas.microsoft.com/office/drawing/2014/main" id="{D1644A10-616C-0372-AD0E-14DC192A0143}"/>
              </a:ext>
            </a:extLst>
          </p:cNvPr>
          <p:cNvSpPr/>
          <p:nvPr/>
        </p:nvSpPr>
        <p:spPr>
          <a:xfrm rot="16200000">
            <a:off x="2457251" y="2441346"/>
            <a:ext cx="2793404" cy="240960"/>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Knowledge Engine interface</a:t>
            </a:r>
            <a:r>
              <a:rPr lang="pl-PL" sz="1200">
                <a:solidFill>
                  <a:schemeClr val="tx1"/>
                </a:solidFill>
              </a:rPr>
              <a:t> (</a:t>
            </a:r>
            <a:r>
              <a:rPr lang="pl-PL" sz="1200" err="1">
                <a:solidFill>
                  <a:schemeClr val="tx1"/>
                </a:solidFill>
              </a:rPr>
              <a:t>python</a:t>
            </a:r>
            <a:r>
              <a:rPr lang="pl-PL" sz="1200">
                <a:solidFill>
                  <a:schemeClr val="tx1"/>
                </a:solidFill>
              </a:rPr>
              <a:t>)</a:t>
            </a:r>
            <a:endParaRPr lang="en-US" sz="1200">
              <a:solidFill>
                <a:schemeClr val="tx1"/>
              </a:solidFill>
            </a:endParaRPr>
          </a:p>
        </p:txBody>
      </p:sp>
      <p:sp>
        <p:nvSpPr>
          <p:cNvPr id="58" name="Rectangle 73">
            <a:extLst>
              <a:ext uri="{FF2B5EF4-FFF2-40B4-BE49-F238E27FC236}">
                <a16:creationId xmlns:a16="http://schemas.microsoft.com/office/drawing/2014/main" id="{16F2A2D3-B353-C13F-C9E3-F85A25553C17}"/>
              </a:ext>
            </a:extLst>
          </p:cNvPr>
          <p:cNvSpPr/>
          <p:nvPr/>
        </p:nvSpPr>
        <p:spPr>
          <a:xfrm>
            <a:off x="4098122" y="1993956"/>
            <a:ext cx="1623461" cy="33087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KE register</a:t>
            </a:r>
          </a:p>
        </p:txBody>
      </p:sp>
      <p:sp>
        <p:nvSpPr>
          <p:cNvPr id="59" name="Arrow: Right 19">
            <a:extLst>
              <a:ext uri="{FF2B5EF4-FFF2-40B4-BE49-F238E27FC236}">
                <a16:creationId xmlns:a16="http://schemas.microsoft.com/office/drawing/2014/main" id="{98C15C2C-5EB1-635E-52D1-6E6334473AA8}"/>
              </a:ext>
            </a:extLst>
          </p:cNvPr>
          <p:cNvSpPr/>
          <p:nvPr/>
        </p:nvSpPr>
        <p:spPr>
          <a:xfrm rot="10800000">
            <a:off x="7057032" y="2235013"/>
            <a:ext cx="2188189" cy="213717"/>
          </a:xfrm>
          <a:prstGeom prst="rightArrow">
            <a:avLst>
              <a:gd name="adj1" fmla="val 50000"/>
              <a:gd name="adj2" fmla="val 143118"/>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0" name="Rectangle 46">
            <a:extLst>
              <a:ext uri="{FF2B5EF4-FFF2-40B4-BE49-F238E27FC236}">
                <a16:creationId xmlns:a16="http://schemas.microsoft.com/office/drawing/2014/main" id="{168D8A7D-FD31-7BAF-4015-21916FDED185}"/>
              </a:ext>
            </a:extLst>
          </p:cNvPr>
          <p:cNvSpPr/>
          <p:nvPr/>
        </p:nvSpPr>
        <p:spPr>
          <a:xfrm rot="16200000">
            <a:off x="4335934" y="2702486"/>
            <a:ext cx="3315678" cy="240961"/>
          </a:xfrm>
          <a:prstGeom prst="rect">
            <a:avLst/>
          </a:prstGeom>
          <a:solidFill>
            <a:srgbClr val="92D050"/>
          </a:solidFill>
          <a:ln w="19050">
            <a:solidFill>
              <a:schemeClr val="tx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KE REST</a:t>
            </a:r>
            <a:endParaRPr lang="en-US" sz="3200">
              <a:solidFill>
                <a:schemeClr val="tx1"/>
              </a:solidFill>
            </a:endParaRPr>
          </a:p>
        </p:txBody>
      </p:sp>
      <p:sp>
        <p:nvSpPr>
          <p:cNvPr id="61" name="Arrow: Right 9">
            <a:extLst>
              <a:ext uri="{FF2B5EF4-FFF2-40B4-BE49-F238E27FC236}">
                <a16:creationId xmlns:a16="http://schemas.microsoft.com/office/drawing/2014/main" id="{F687C666-C89A-926D-C8A3-02220231625F}"/>
              </a:ext>
            </a:extLst>
          </p:cNvPr>
          <p:cNvSpPr/>
          <p:nvPr/>
        </p:nvSpPr>
        <p:spPr>
          <a:xfrm>
            <a:off x="4240321" y="2235013"/>
            <a:ext cx="1481262" cy="202072"/>
          </a:xfrm>
          <a:prstGeom prst="rightArrow">
            <a:avLst>
              <a:gd name="adj1" fmla="val 50000"/>
              <a:gd name="adj2" fmla="val 143118"/>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2" name="Rectangle 74">
            <a:extLst>
              <a:ext uri="{FF2B5EF4-FFF2-40B4-BE49-F238E27FC236}">
                <a16:creationId xmlns:a16="http://schemas.microsoft.com/office/drawing/2014/main" id="{7C877EE5-8E47-6265-6515-FCE3F115731B}"/>
              </a:ext>
            </a:extLst>
          </p:cNvPr>
          <p:cNvSpPr/>
          <p:nvPr/>
        </p:nvSpPr>
        <p:spPr>
          <a:xfrm>
            <a:off x="4128770" y="2475867"/>
            <a:ext cx="1623461" cy="1106251"/>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sz="1200">
              <a:solidFill>
                <a:schemeClr val="tx1"/>
              </a:solidFill>
            </a:endParaRPr>
          </a:p>
          <a:p>
            <a:r>
              <a:rPr lang="en-US" sz="1200" b="1">
                <a:solidFill>
                  <a:schemeClr val="tx1"/>
                </a:solidFill>
              </a:rPr>
              <a:t>REACT</a:t>
            </a:r>
            <a:r>
              <a:rPr lang="en-US" sz="1200">
                <a:solidFill>
                  <a:schemeClr val="tx1"/>
                </a:solidFill>
              </a:rPr>
              <a:t> – read flexibility offers</a:t>
            </a:r>
            <a:r>
              <a:rPr lang="pl-PL" sz="1200">
                <a:solidFill>
                  <a:schemeClr val="tx1"/>
                </a:solidFill>
              </a:rPr>
              <a:t>,</a:t>
            </a:r>
          </a:p>
          <a:p>
            <a:r>
              <a:rPr lang="en-US" sz="1200" b="1">
                <a:solidFill>
                  <a:schemeClr val="tx1"/>
                </a:solidFill>
              </a:rPr>
              <a:t>POST</a:t>
            </a:r>
            <a:r>
              <a:rPr lang="en-US" sz="1200">
                <a:solidFill>
                  <a:schemeClr val="tx1"/>
                </a:solidFill>
              </a:rPr>
              <a:t> – publish market demand</a:t>
            </a:r>
          </a:p>
        </p:txBody>
      </p:sp>
      <p:grpSp>
        <p:nvGrpSpPr>
          <p:cNvPr id="63" name="Group 67">
            <a:extLst>
              <a:ext uri="{FF2B5EF4-FFF2-40B4-BE49-F238E27FC236}">
                <a16:creationId xmlns:a16="http://schemas.microsoft.com/office/drawing/2014/main" id="{1B7AECA1-8DD3-376E-B752-E4080DBC3FDF}"/>
              </a:ext>
            </a:extLst>
          </p:cNvPr>
          <p:cNvGrpSpPr/>
          <p:nvPr/>
        </p:nvGrpSpPr>
        <p:grpSpPr>
          <a:xfrm>
            <a:off x="2031621" y="2177011"/>
            <a:ext cx="1495627" cy="327833"/>
            <a:chOff x="2722880" y="2960108"/>
            <a:chExt cx="1146459" cy="303449"/>
          </a:xfrm>
        </p:grpSpPr>
        <p:sp>
          <p:nvSpPr>
            <p:cNvPr id="64" name="Arrow: Right 68">
              <a:extLst>
                <a:ext uri="{FF2B5EF4-FFF2-40B4-BE49-F238E27FC236}">
                  <a16:creationId xmlns:a16="http://schemas.microsoft.com/office/drawing/2014/main" id="{C92241CD-47D5-9E34-9CF2-28C546B7B9DE}"/>
                </a:ext>
              </a:extLst>
            </p:cNvPr>
            <p:cNvSpPr/>
            <p:nvPr/>
          </p:nvSpPr>
          <p:spPr>
            <a:xfrm>
              <a:off x="2745389" y="2960108"/>
              <a:ext cx="1123950" cy="115983"/>
            </a:xfrm>
            <a:prstGeom prst="rightArrow">
              <a:avLst>
                <a:gd name="adj1" fmla="val 50000"/>
                <a:gd name="adj2" fmla="val 143118"/>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65" name="Arrow: Right 69">
              <a:extLst>
                <a:ext uri="{FF2B5EF4-FFF2-40B4-BE49-F238E27FC236}">
                  <a16:creationId xmlns:a16="http://schemas.microsoft.com/office/drawing/2014/main" id="{0C033ABD-8367-D841-EB02-41E285408520}"/>
                </a:ext>
              </a:extLst>
            </p:cNvPr>
            <p:cNvSpPr/>
            <p:nvPr/>
          </p:nvSpPr>
          <p:spPr>
            <a:xfrm rot="10800000">
              <a:off x="2722880" y="3147574"/>
              <a:ext cx="1123950" cy="115983"/>
            </a:xfrm>
            <a:prstGeom prst="rightArrow">
              <a:avLst>
                <a:gd name="adj1" fmla="val 50000"/>
                <a:gd name="adj2" fmla="val 143118"/>
              </a:avLst>
            </a:prstGeom>
            <a:solidFill>
              <a:schemeClr val="tx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grpSp>
      <p:sp>
        <p:nvSpPr>
          <p:cNvPr id="66" name="Rectangle 27">
            <a:extLst>
              <a:ext uri="{FF2B5EF4-FFF2-40B4-BE49-F238E27FC236}">
                <a16:creationId xmlns:a16="http://schemas.microsoft.com/office/drawing/2014/main" id="{403DB730-80C7-FA5B-005C-95A22D4BAA88}"/>
              </a:ext>
            </a:extLst>
          </p:cNvPr>
          <p:cNvSpPr/>
          <p:nvPr/>
        </p:nvSpPr>
        <p:spPr>
          <a:xfrm rot="16200000">
            <a:off x="11117914" y="3639237"/>
            <a:ext cx="1421831" cy="326691"/>
          </a:xfrm>
          <a:prstGeom prst="rect">
            <a:avLst/>
          </a:prstGeom>
          <a:noFill/>
          <a:ln w="19050">
            <a:no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1200">
                <a:solidFill>
                  <a:schemeClr val="tx1"/>
                </a:solidFill>
              </a:rPr>
              <a:t>Negotiation</a:t>
            </a:r>
          </a:p>
        </p:txBody>
      </p:sp>
      <p:grpSp>
        <p:nvGrpSpPr>
          <p:cNvPr id="67" name="Group 3">
            <a:extLst>
              <a:ext uri="{FF2B5EF4-FFF2-40B4-BE49-F238E27FC236}">
                <a16:creationId xmlns:a16="http://schemas.microsoft.com/office/drawing/2014/main" id="{40F3908E-37A8-4A11-CDDD-6B2CCD461B15}"/>
              </a:ext>
            </a:extLst>
          </p:cNvPr>
          <p:cNvGrpSpPr/>
          <p:nvPr/>
        </p:nvGrpSpPr>
        <p:grpSpPr>
          <a:xfrm>
            <a:off x="11101088" y="3091667"/>
            <a:ext cx="578088" cy="1389137"/>
            <a:chOff x="3666295" y="4163505"/>
            <a:chExt cx="1484826" cy="1640979"/>
          </a:xfrm>
        </p:grpSpPr>
        <p:sp>
          <p:nvSpPr>
            <p:cNvPr id="68" name="Arrow: Curved Left 2">
              <a:extLst>
                <a:ext uri="{FF2B5EF4-FFF2-40B4-BE49-F238E27FC236}">
                  <a16:creationId xmlns:a16="http://schemas.microsoft.com/office/drawing/2014/main" id="{5D16B997-6AE7-F9F0-3C5A-D338ABF8A32F}"/>
                </a:ext>
              </a:extLst>
            </p:cNvPr>
            <p:cNvSpPr/>
            <p:nvPr/>
          </p:nvSpPr>
          <p:spPr>
            <a:xfrm>
              <a:off x="4429761" y="4238233"/>
              <a:ext cx="721360" cy="156625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9" name="Arrow: Curved Left 29">
              <a:extLst>
                <a:ext uri="{FF2B5EF4-FFF2-40B4-BE49-F238E27FC236}">
                  <a16:creationId xmlns:a16="http://schemas.microsoft.com/office/drawing/2014/main" id="{CF337254-F008-6FCC-C588-DEEBF129B39D}"/>
                </a:ext>
              </a:extLst>
            </p:cNvPr>
            <p:cNvSpPr/>
            <p:nvPr/>
          </p:nvSpPr>
          <p:spPr>
            <a:xfrm rot="10800000">
              <a:off x="3666295" y="4163505"/>
              <a:ext cx="721360" cy="156625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70" name="Łącznik prosty ze strzałką 69">
            <a:extLst>
              <a:ext uri="{FF2B5EF4-FFF2-40B4-BE49-F238E27FC236}">
                <a16:creationId xmlns:a16="http://schemas.microsoft.com/office/drawing/2014/main" id="{E1E666BA-ADA6-7F57-AF01-765ECCB64A04}"/>
              </a:ext>
            </a:extLst>
          </p:cNvPr>
          <p:cNvCxnSpPr>
            <a:stCxn id="45" idx="2"/>
            <a:endCxn id="53" idx="0"/>
          </p:cNvCxnSpPr>
          <p:nvPr/>
        </p:nvCxnSpPr>
        <p:spPr>
          <a:xfrm flipH="1">
            <a:off x="9810726" y="5057436"/>
            <a:ext cx="862952" cy="21611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1" name="Łącznik prosty ze strzałką 70">
            <a:extLst>
              <a:ext uri="{FF2B5EF4-FFF2-40B4-BE49-F238E27FC236}">
                <a16:creationId xmlns:a16="http://schemas.microsoft.com/office/drawing/2014/main" id="{C9273980-DA46-A909-32AE-0BA93B18D67C}"/>
              </a:ext>
            </a:extLst>
          </p:cNvPr>
          <p:cNvCxnSpPr>
            <a:cxnSpLocks/>
            <a:stCxn id="45" idx="2"/>
            <a:endCxn id="55" idx="0"/>
          </p:cNvCxnSpPr>
          <p:nvPr/>
        </p:nvCxnSpPr>
        <p:spPr>
          <a:xfrm flipH="1">
            <a:off x="10673677" y="5057436"/>
            <a:ext cx="1" cy="19373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2" name="Łącznik prosty ze strzałką 71">
            <a:extLst>
              <a:ext uri="{FF2B5EF4-FFF2-40B4-BE49-F238E27FC236}">
                <a16:creationId xmlns:a16="http://schemas.microsoft.com/office/drawing/2014/main" id="{8008D84F-9B48-7551-47E4-CC21E3B54C0C}"/>
              </a:ext>
            </a:extLst>
          </p:cNvPr>
          <p:cNvCxnSpPr>
            <a:cxnSpLocks/>
            <a:stCxn id="45" idx="2"/>
            <a:endCxn id="54" idx="0"/>
          </p:cNvCxnSpPr>
          <p:nvPr/>
        </p:nvCxnSpPr>
        <p:spPr>
          <a:xfrm>
            <a:off x="10673678" y="5057436"/>
            <a:ext cx="895633" cy="19227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914988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D229E-1148-13D9-19B1-7CBCD275D36E}"/>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BEF12180-CA68-CBA0-B58B-42C7B54A29DD}"/>
              </a:ext>
            </a:extLst>
          </p:cNvPr>
          <p:cNvSpPr>
            <a:spLocks noGrp="1"/>
          </p:cNvSpPr>
          <p:nvPr>
            <p:ph type="title"/>
          </p:nvPr>
        </p:nvSpPr>
        <p:spPr/>
        <p:txBody>
          <a:bodyPr/>
          <a:lstStyle/>
          <a:p>
            <a:r>
              <a:rPr lang="en-GB" noProof="0"/>
              <a:t>WP5 – </a:t>
            </a:r>
            <a:r>
              <a:rPr lang="pl-PL"/>
              <a:t>W</a:t>
            </a:r>
            <a:r>
              <a:rPr lang="pl-PL" noProof="0"/>
              <a:t>ork </a:t>
            </a:r>
            <a:r>
              <a:rPr lang="pl-PL"/>
              <a:t>P</a:t>
            </a:r>
            <a:r>
              <a:rPr lang="pl-PL" noProof="0" err="1"/>
              <a:t>lan</a:t>
            </a:r>
            <a:r>
              <a:rPr lang="pl-PL" noProof="0"/>
              <a:t> - T5.2</a:t>
            </a:r>
            <a:endParaRPr lang="en-GB" noProof="0"/>
          </a:p>
        </p:txBody>
      </p:sp>
      <p:sp>
        <p:nvSpPr>
          <p:cNvPr id="3" name="Symbol zastępczy zawartości 2">
            <a:extLst>
              <a:ext uri="{FF2B5EF4-FFF2-40B4-BE49-F238E27FC236}">
                <a16:creationId xmlns:a16="http://schemas.microsoft.com/office/drawing/2014/main" id="{5569556A-DB07-D259-0F00-07987BB18FA4}"/>
              </a:ext>
            </a:extLst>
          </p:cNvPr>
          <p:cNvSpPr>
            <a:spLocks noGrp="1"/>
          </p:cNvSpPr>
          <p:nvPr>
            <p:ph idx="1"/>
          </p:nvPr>
        </p:nvSpPr>
        <p:spPr>
          <a:xfrm>
            <a:off x="285708" y="1010202"/>
            <a:ext cx="11400407" cy="4989632"/>
          </a:xfrm>
        </p:spPr>
        <p:txBody>
          <a:bodyPr/>
          <a:lstStyle/>
          <a:p>
            <a:r>
              <a:rPr lang="en-GB" sz="3200" noProof="0"/>
              <a:t>Name: </a:t>
            </a:r>
            <a:r>
              <a:rPr lang="en-GB" sz="3200" noProof="0">
                <a:ea typeface="+mn-lt"/>
                <a:cs typeface="+mn-lt"/>
              </a:rPr>
              <a:t>standardization of proprietary flexibility frameworks and interfaces and comparative analysis</a:t>
            </a:r>
          </a:p>
          <a:p>
            <a:r>
              <a:rPr lang="en-GB" sz="3200" noProof="0">
                <a:ea typeface="+mn-lt"/>
                <a:cs typeface="+mn-lt"/>
              </a:rPr>
              <a:t>functionality described in</a:t>
            </a:r>
            <a:r>
              <a:rPr lang="en-GB" sz="3200">
                <a:ea typeface="+mn-lt"/>
                <a:cs typeface="+mn-lt"/>
              </a:rPr>
              <a:t> </a:t>
            </a:r>
            <a:r>
              <a:rPr lang="en-GB" sz="3200" noProof="0">
                <a:ea typeface="+mn-lt"/>
                <a:cs typeface="+mn-lt"/>
              </a:rPr>
              <a:t>the proposal:</a:t>
            </a:r>
            <a:endParaRPr lang="en-GB" sz="2800" noProof="0">
              <a:ea typeface="+mn-lt"/>
              <a:cs typeface="+mn-lt"/>
            </a:endParaRPr>
          </a:p>
          <a:p>
            <a:pPr lvl="1"/>
            <a:r>
              <a:rPr lang="en-GB" sz="2800" noProof="0">
                <a:ea typeface="+mn-lt"/>
                <a:cs typeface="+mn-lt"/>
              </a:rPr>
              <a:t>the standardization of existing flexibility frameworks and communication interfaces based on the BlueBird data model (for pilots which already have connection to energy market?),</a:t>
            </a:r>
          </a:p>
          <a:p>
            <a:pPr lvl="1"/>
            <a:r>
              <a:rPr lang="en-GB" sz="2800" noProof="0">
                <a:ea typeface="+mn-lt"/>
                <a:cs typeface="+mn-lt"/>
              </a:rPr>
              <a:t>compare analysis between frameworks (also to delivered by T5.1).</a:t>
            </a:r>
            <a:endParaRPr lang="en-GB" sz="2800" noProof="0"/>
          </a:p>
          <a:p>
            <a:r>
              <a:rPr lang="en-GB" sz="3200" noProof="0"/>
              <a:t>Leader: </a:t>
            </a:r>
            <a:r>
              <a:rPr lang="en-GB" sz="3200" b="1" noProof="0"/>
              <a:t>EK</a:t>
            </a:r>
          </a:p>
          <a:p>
            <a:r>
              <a:rPr lang="en-GB" sz="3200" noProof="0"/>
              <a:t>Participants: CIMNE, </a:t>
            </a:r>
            <a:r>
              <a:rPr lang="en-GB" sz="3200" noProof="0" err="1"/>
              <a:t>imec</a:t>
            </a:r>
            <a:r>
              <a:rPr lang="en-GB" sz="3200" noProof="0"/>
              <a:t>,</a:t>
            </a:r>
            <a:r>
              <a:rPr lang="pl-PL" sz="3200" noProof="0"/>
              <a:t> </a:t>
            </a:r>
            <a:r>
              <a:rPr lang="en-GB" sz="3200" noProof="0"/>
              <a:t>PSNC</a:t>
            </a:r>
          </a:p>
          <a:p>
            <a:endParaRPr lang="en-GB" noProof="0"/>
          </a:p>
        </p:txBody>
      </p:sp>
    </p:spTree>
    <p:extLst>
      <p:ext uri="{BB962C8B-B14F-4D97-AF65-F5344CB8AC3E}">
        <p14:creationId xmlns:p14="http://schemas.microsoft.com/office/powerpoint/2010/main" val="2573147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AF693-575B-AA4A-938A-253196697976}"/>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D120ED60-0EDD-D119-0BDC-CCDBF2C924C3}"/>
              </a:ext>
            </a:extLst>
          </p:cNvPr>
          <p:cNvSpPr>
            <a:spLocks noGrp="1"/>
          </p:cNvSpPr>
          <p:nvPr>
            <p:ph type="title"/>
          </p:nvPr>
        </p:nvSpPr>
        <p:spPr/>
        <p:txBody>
          <a:bodyPr/>
          <a:lstStyle/>
          <a:p>
            <a:r>
              <a:rPr lang="en-GB" noProof="0"/>
              <a:t>WP5 – </a:t>
            </a:r>
            <a:r>
              <a:rPr lang="pl-PL"/>
              <a:t>W</a:t>
            </a:r>
            <a:r>
              <a:rPr lang="pl-PL" noProof="0"/>
              <a:t>ork </a:t>
            </a:r>
            <a:r>
              <a:rPr lang="pl-PL"/>
              <a:t>P</a:t>
            </a:r>
            <a:r>
              <a:rPr lang="pl-PL" noProof="0" err="1"/>
              <a:t>lan</a:t>
            </a:r>
            <a:r>
              <a:rPr lang="pl-PL" noProof="0"/>
              <a:t> - T5.3</a:t>
            </a:r>
            <a:endParaRPr lang="en-GB" noProof="0"/>
          </a:p>
        </p:txBody>
      </p:sp>
      <p:sp>
        <p:nvSpPr>
          <p:cNvPr id="3" name="Symbol zastępczy zawartości 2">
            <a:extLst>
              <a:ext uri="{FF2B5EF4-FFF2-40B4-BE49-F238E27FC236}">
                <a16:creationId xmlns:a16="http://schemas.microsoft.com/office/drawing/2014/main" id="{E8468810-C3E1-009E-FA1B-D0D185310319}"/>
              </a:ext>
            </a:extLst>
          </p:cNvPr>
          <p:cNvSpPr>
            <a:spLocks noGrp="1"/>
          </p:cNvSpPr>
          <p:nvPr>
            <p:ph idx="1"/>
          </p:nvPr>
        </p:nvSpPr>
        <p:spPr>
          <a:xfrm>
            <a:off x="315380" y="1078659"/>
            <a:ext cx="11400407" cy="5400378"/>
          </a:xfrm>
        </p:spPr>
        <p:txBody>
          <a:bodyPr/>
          <a:lstStyle/>
          <a:p>
            <a:r>
              <a:rPr lang="en-GB" sz="3200" noProof="0"/>
              <a:t>Name: Trading module</a:t>
            </a:r>
          </a:p>
          <a:p>
            <a:r>
              <a:rPr lang="en-GB" sz="3200" noProof="0"/>
              <a:t>functionality described in the proposal:</a:t>
            </a:r>
          </a:p>
          <a:p>
            <a:pPr lvl="1"/>
            <a:r>
              <a:rPr lang="en-GB" sz="2800" noProof="0"/>
              <a:t> the negotiation capabilities between the </a:t>
            </a:r>
            <a:r>
              <a:rPr lang="en-GB" sz="2800" noProof="0" err="1"/>
              <a:t>UBFlex</a:t>
            </a:r>
            <a:r>
              <a:rPr lang="en-GB" sz="2800" noProof="0"/>
              <a:t> Interface and the towards-the-grid flexibility </a:t>
            </a:r>
          </a:p>
          <a:p>
            <a:r>
              <a:rPr lang="en-GB" sz="3200" noProof="0"/>
              <a:t>Leader: </a:t>
            </a:r>
            <a:r>
              <a:rPr lang="en-GB" sz="3200" b="1" noProof="0"/>
              <a:t>PSNC</a:t>
            </a:r>
          </a:p>
          <a:p>
            <a:r>
              <a:rPr lang="en-GB" sz="3200" noProof="0"/>
              <a:t>Participants:  </a:t>
            </a:r>
            <a:r>
              <a:rPr lang="en-GB" sz="3200" noProof="0" err="1"/>
              <a:t>Inetum</a:t>
            </a:r>
            <a:r>
              <a:rPr lang="en-GB" sz="3200" noProof="0"/>
              <a:t>, DTU</a:t>
            </a:r>
          </a:p>
          <a:p>
            <a:r>
              <a:rPr lang="en-GB" sz="3200" noProof="0"/>
              <a:t>Current works:</a:t>
            </a:r>
          </a:p>
          <a:p>
            <a:pPr lvl="1"/>
            <a:r>
              <a:rPr lang="en-GB" sz="2400"/>
              <a:t>next concepts of </a:t>
            </a:r>
            <a:r>
              <a:rPr lang="pl-PL" sz="2400" err="1"/>
              <a:t>communication</a:t>
            </a:r>
            <a:r>
              <a:rPr lang="pl-PL" sz="2400"/>
              <a:t> between </a:t>
            </a:r>
            <a:r>
              <a:rPr lang="en-GB" sz="2400"/>
              <a:t>TM</a:t>
            </a:r>
            <a:r>
              <a:rPr lang="pl-PL" sz="2400"/>
              <a:t> and FM</a:t>
            </a:r>
            <a:endParaRPr lang="en-GB" sz="2400"/>
          </a:p>
          <a:p>
            <a:pPr lvl="1"/>
            <a:r>
              <a:rPr lang="en-GB" sz="2400"/>
              <a:t>Using </a:t>
            </a:r>
            <a:r>
              <a:rPr lang="en-GB" sz="2400" err="1"/>
              <a:t>Knowladge</a:t>
            </a:r>
            <a:r>
              <a:rPr lang="en-GB" sz="2400"/>
              <a:t> Engine in </a:t>
            </a:r>
            <a:r>
              <a:rPr lang="pl-PL" sz="2400"/>
              <a:t>Enea </a:t>
            </a:r>
            <a:r>
              <a:rPr lang="en-GB" sz="2400"/>
              <a:t>pilot</a:t>
            </a:r>
            <a:r>
              <a:rPr lang="pl-PL" sz="2400"/>
              <a:t> (</a:t>
            </a:r>
            <a:r>
              <a:rPr lang="pl-PL" sz="2400" err="1"/>
              <a:t>how</a:t>
            </a:r>
            <a:r>
              <a:rPr lang="pl-PL" sz="2400"/>
              <a:t> to </a:t>
            </a:r>
            <a:r>
              <a:rPr lang="pl-PL" sz="2400" err="1"/>
              <a:t>connect</a:t>
            </a:r>
            <a:r>
              <a:rPr lang="pl-PL" sz="2400"/>
              <a:t> to TM)</a:t>
            </a:r>
          </a:p>
          <a:p>
            <a:pPr lvl="1"/>
            <a:r>
              <a:rPr lang="en-US" sz="2400"/>
              <a:t>Provision of Flexibility Trade-off Services and Frameworks</a:t>
            </a:r>
            <a:endParaRPr lang="pl-PL" sz="2400"/>
          </a:p>
        </p:txBody>
      </p:sp>
      <p:pic>
        <p:nvPicPr>
          <p:cNvPr id="4" name="Obraz 3">
            <a:extLst>
              <a:ext uri="{FF2B5EF4-FFF2-40B4-BE49-F238E27FC236}">
                <a16:creationId xmlns:a16="http://schemas.microsoft.com/office/drawing/2014/main" id="{F7B098BE-5436-D09F-022F-8A355CF75B30}"/>
              </a:ext>
            </a:extLst>
          </p:cNvPr>
          <p:cNvPicPr>
            <a:picLocks noChangeAspect="1"/>
          </p:cNvPicPr>
          <p:nvPr/>
        </p:nvPicPr>
        <p:blipFill>
          <a:blip r:embed="rId3"/>
          <a:stretch>
            <a:fillRect/>
          </a:stretch>
        </p:blipFill>
        <p:spPr>
          <a:xfrm>
            <a:off x="8762325" y="3141594"/>
            <a:ext cx="3048714" cy="1330912"/>
          </a:xfrm>
          <a:prstGeom prst="rect">
            <a:avLst/>
          </a:prstGeom>
        </p:spPr>
      </p:pic>
      <p:pic>
        <p:nvPicPr>
          <p:cNvPr id="6" name="Obraz 5">
            <a:extLst>
              <a:ext uri="{FF2B5EF4-FFF2-40B4-BE49-F238E27FC236}">
                <a16:creationId xmlns:a16="http://schemas.microsoft.com/office/drawing/2014/main" id="{9EC1F2E0-6626-9172-3DB1-39D87CB7FC12}"/>
              </a:ext>
            </a:extLst>
          </p:cNvPr>
          <p:cNvPicPr>
            <a:picLocks noChangeAspect="1"/>
          </p:cNvPicPr>
          <p:nvPr/>
        </p:nvPicPr>
        <p:blipFill>
          <a:blip r:embed="rId4"/>
          <a:stretch>
            <a:fillRect/>
          </a:stretch>
        </p:blipFill>
        <p:spPr>
          <a:xfrm>
            <a:off x="8762326" y="5275581"/>
            <a:ext cx="3001088" cy="1266714"/>
          </a:xfrm>
          <a:prstGeom prst="rect">
            <a:avLst/>
          </a:prstGeom>
        </p:spPr>
      </p:pic>
    </p:spTree>
    <p:extLst>
      <p:ext uri="{BB962C8B-B14F-4D97-AF65-F5344CB8AC3E}">
        <p14:creationId xmlns:p14="http://schemas.microsoft.com/office/powerpoint/2010/main" val="30571580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41198-FD67-4D05-5033-83089877A607}"/>
            </a:ext>
          </a:extLst>
        </p:cNvPr>
        <p:cNvGrpSpPr/>
        <p:nvPr/>
      </p:nvGrpSpPr>
      <p:grpSpPr>
        <a:xfrm>
          <a:off x="0" y="0"/>
          <a:ext cx="0" cy="0"/>
          <a:chOff x="0" y="0"/>
          <a:chExt cx="0" cy="0"/>
        </a:xfrm>
      </p:grpSpPr>
      <p:sp>
        <p:nvSpPr>
          <p:cNvPr id="28" name="Prostokąt 27">
            <a:extLst>
              <a:ext uri="{FF2B5EF4-FFF2-40B4-BE49-F238E27FC236}">
                <a16:creationId xmlns:a16="http://schemas.microsoft.com/office/drawing/2014/main" id="{DDE16516-F9DA-854F-5C15-88543CD577CD}"/>
              </a:ext>
            </a:extLst>
          </p:cNvPr>
          <p:cNvSpPr/>
          <p:nvPr/>
        </p:nvSpPr>
        <p:spPr>
          <a:xfrm>
            <a:off x="7152383" y="3466991"/>
            <a:ext cx="2524610" cy="243842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7" name="Prostokąt 26">
            <a:extLst>
              <a:ext uri="{FF2B5EF4-FFF2-40B4-BE49-F238E27FC236}">
                <a16:creationId xmlns:a16="http://schemas.microsoft.com/office/drawing/2014/main" id="{BF8D4C05-4FA2-73CE-18E3-0A69F574F518}"/>
              </a:ext>
            </a:extLst>
          </p:cNvPr>
          <p:cNvSpPr/>
          <p:nvPr/>
        </p:nvSpPr>
        <p:spPr>
          <a:xfrm>
            <a:off x="7144539" y="1044465"/>
            <a:ext cx="2524610" cy="243842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6" name="Prostokąt 25">
            <a:extLst>
              <a:ext uri="{FF2B5EF4-FFF2-40B4-BE49-F238E27FC236}">
                <a16:creationId xmlns:a16="http://schemas.microsoft.com/office/drawing/2014/main" id="{72D1B21C-B11B-F7B6-E15F-3553AD46A393}"/>
              </a:ext>
            </a:extLst>
          </p:cNvPr>
          <p:cNvSpPr/>
          <p:nvPr/>
        </p:nvSpPr>
        <p:spPr>
          <a:xfrm>
            <a:off x="1168672" y="1044465"/>
            <a:ext cx="5955824" cy="486094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2" name="Tytuł 1">
            <a:extLst>
              <a:ext uri="{FF2B5EF4-FFF2-40B4-BE49-F238E27FC236}">
                <a16:creationId xmlns:a16="http://schemas.microsoft.com/office/drawing/2014/main" id="{F0D5E944-8666-FCC8-7B43-03963B235C68}"/>
              </a:ext>
            </a:extLst>
          </p:cNvPr>
          <p:cNvSpPr>
            <a:spLocks noGrp="1"/>
          </p:cNvSpPr>
          <p:nvPr>
            <p:ph type="title"/>
          </p:nvPr>
        </p:nvSpPr>
        <p:spPr/>
        <p:txBody>
          <a:bodyPr/>
          <a:lstStyle/>
          <a:p>
            <a:r>
              <a:rPr lang="en-GB" noProof="0"/>
              <a:t>WP5 – </a:t>
            </a:r>
            <a:r>
              <a:rPr lang="pl-PL" noProof="0" err="1"/>
              <a:t>first</a:t>
            </a:r>
            <a:r>
              <a:rPr lang="pl-PL" noProof="0"/>
              <a:t> </a:t>
            </a:r>
            <a:r>
              <a:rPr lang="pl-PL" noProof="0" err="1"/>
              <a:t>proposition</a:t>
            </a:r>
            <a:endParaRPr lang="en-GB" noProof="0"/>
          </a:p>
        </p:txBody>
      </p:sp>
      <p:sp>
        <p:nvSpPr>
          <p:cNvPr id="8" name="Prostokąt: zaokrąglone rogi 7">
            <a:extLst>
              <a:ext uri="{FF2B5EF4-FFF2-40B4-BE49-F238E27FC236}">
                <a16:creationId xmlns:a16="http://schemas.microsoft.com/office/drawing/2014/main" id="{5DBF3C28-C98C-DCDF-10D3-35FA4C782F8A}"/>
              </a:ext>
            </a:extLst>
          </p:cNvPr>
          <p:cNvSpPr/>
          <p:nvPr/>
        </p:nvSpPr>
        <p:spPr>
          <a:xfrm>
            <a:off x="5880482" y="2490842"/>
            <a:ext cx="1434517" cy="21098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Trading manager</a:t>
            </a:r>
          </a:p>
        </p:txBody>
      </p:sp>
      <p:sp>
        <p:nvSpPr>
          <p:cNvPr id="9" name="Prostokąt: zaokrąglone rogi 8">
            <a:extLst>
              <a:ext uri="{FF2B5EF4-FFF2-40B4-BE49-F238E27FC236}">
                <a16:creationId xmlns:a16="http://schemas.microsoft.com/office/drawing/2014/main" id="{E6375BCC-E679-2B56-6E06-588E35C4F3E3}"/>
              </a:ext>
            </a:extLst>
          </p:cNvPr>
          <p:cNvSpPr/>
          <p:nvPr/>
        </p:nvSpPr>
        <p:spPr>
          <a:xfrm>
            <a:off x="10418644" y="1521386"/>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err="1"/>
              <a:t>ToU</a:t>
            </a:r>
            <a:r>
              <a:rPr lang="en-GB"/>
              <a:t> market</a:t>
            </a:r>
          </a:p>
        </p:txBody>
      </p:sp>
      <p:sp>
        <p:nvSpPr>
          <p:cNvPr id="10" name="Prostokąt: zaokrąglone rogi 9">
            <a:extLst>
              <a:ext uri="{FF2B5EF4-FFF2-40B4-BE49-F238E27FC236}">
                <a16:creationId xmlns:a16="http://schemas.microsoft.com/office/drawing/2014/main" id="{AABE7F4E-FA6B-6850-B9EA-47FC0F421A56}"/>
              </a:ext>
            </a:extLst>
          </p:cNvPr>
          <p:cNvSpPr/>
          <p:nvPr/>
        </p:nvSpPr>
        <p:spPr>
          <a:xfrm>
            <a:off x="10418644" y="2977628"/>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Capacity market</a:t>
            </a:r>
          </a:p>
        </p:txBody>
      </p:sp>
      <p:sp>
        <p:nvSpPr>
          <p:cNvPr id="11" name="Prostokąt: zaokrąglone rogi 10">
            <a:extLst>
              <a:ext uri="{FF2B5EF4-FFF2-40B4-BE49-F238E27FC236}">
                <a16:creationId xmlns:a16="http://schemas.microsoft.com/office/drawing/2014/main" id="{617F8B71-8864-8519-3051-737B1EFC89BD}"/>
              </a:ext>
            </a:extLst>
          </p:cNvPr>
          <p:cNvSpPr/>
          <p:nvPr/>
        </p:nvSpPr>
        <p:spPr>
          <a:xfrm>
            <a:off x="10418644" y="4433870"/>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Intraday optimization market</a:t>
            </a:r>
          </a:p>
        </p:txBody>
      </p:sp>
      <p:sp>
        <p:nvSpPr>
          <p:cNvPr id="12" name="Prostokąt: zaokrąglone rogi 11">
            <a:extLst>
              <a:ext uri="{FF2B5EF4-FFF2-40B4-BE49-F238E27FC236}">
                <a16:creationId xmlns:a16="http://schemas.microsoft.com/office/drawing/2014/main" id="{9042A634-134E-389E-A62D-649CC45D7149}"/>
              </a:ext>
            </a:extLst>
          </p:cNvPr>
          <p:cNvSpPr/>
          <p:nvPr/>
        </p:nvSpPr>
        <p:spPr>
          <a:xfrm>
            <a:off x="151822" y="2331925"/>
            <a:ext cx="1434517" cy="21098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Flexibility manager</a:t>
            </a:r>
          </a:p>
        </p:txBody>
      </p:sp>
      <p:cxnSp>
        <p:nvCxnSpPr>
          <p:cNvPr id="13" name="Łącznik prosty ze strzałką 12">
            <a:extLst>
              <a:ext uri="{FF2B5EF4-FFF2-40B4-BE49-F238E27FC236}">
                <a16:creationId xmlns:a16="http://schemas.microsoft.com/office/drawing/2014/main" id="{1AE4ADCC-1201-0E7D-7BF6-F5215D2740C6}"/>
              </a:ext>
            </a:extLst>
          </p:cNvPr>
          <p:cNvCxnSpPr>
            <a:cxnSpLocks/>
          </p:cNvCxnSpPr>
          <p:nvPr/>
        </p:nvCxnSpPr>
        <p:spPr>
          <a:xfrm>
            <a:off x="1856819" y="3053819"/>
            <a:ext cx="376760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Łącznik prosty ze strzałką 13">
            <a:extLst>
              <a:ext uri="{FF2B5EF4-FFF2-40B4-BE49-F238E27FC236}">
                <a16:creationId xmlns:a16="http://schemas.microsoft.com/office/drawing/2014/main" id="{2F0A2DF5-1580-1A81-C21B-F9153AF75CF2}"/>
              </a:ext>
            </a:extLst>
          </p:cNvPr>
          <p:cNvCxnSpPr>
            <a:cxnSpLocks/>
          </p:cNvCxnSpPr>
          <p:nvPr/>
        </p:nvCxnSpPr>
        <p:spPr>
          <a:xfrm flipH="1">
            <a:off x="1877670" y="3779776"/>
            <a:ext cx="3710151"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pole tekstowe 14">
            <a:extLst>
              <a:ext uri="{FF2B5EF4-FFF2-40B4-BE49-F238E27FC236}">
                <a16:creationId xmlns:a16="http://schemas.microsoft.com/office/drawing/2014/main" id="{FB6864CA-F421-333C-0812-1D0B8459CCC2}"/>
              </a:ext>
            </a:extLst>
          </p:cNvPr>
          <p:cNvSpPr txBox="1"/>
          <p:nvPr/>
        </p:nvSpPr>
        <p:spPr>
          <a:xfrm>
            <a:off x="3201990" y="3546070"/>
            <a:ext cx="1061509" cy="246221"/>
          </a:xfrm>
          <a:prstGeom prst="rect">
            <a:avLst/>
          </a:prstGeom>
          <a:noFill/>
        </p:spPr>
        <p:txBody>
          <a:bodyPr wrap="none" rtlCol="0">
            <a:spAutoFit/>
          </a:bodyPr>
          <a:lstStyle/>
          <a:p>
            <a:r>
              <a:rPr lang="en-GB" sz="1000"/>
              <a:t>Selected option</a:t>
            </a:r>
          </a:p>
        </p:txBody>
      </p:sp>
      <p:pic>
        <p:nvPicPr>
          <p:cNvPr id="16" name="Obraz 15">
            <a:extLst>
              <a:ext uri="{FF2B5EF4-FFF2-40B4-BE49-F238E27FC236}">
                <a16:creationId xmlns:a16="http://schemas.microsoft.com/office/drawing/2014/main" id="{EA08F017-41B1-2976-9A04-0E0DD9ED481E}"/>
              </a:ext>
            </a:extLst>
          </p:cNvPr>
          <p:cNvPicPr>
            <a:picLocks noChangeAspect="1"/>
          </p:cNvPicPr>
          <p:nvPr/>
        </p:nvPicPr>
        <p:blipFill>
          <a:blip r:embed="rId3"/>
          <a:stretch>
            <a:fillRect/>
          </a:stretch>
        </p:blipFill>
        <p:spPr>
          <a:xfrm>
            <a:off x="1906141" y="1666428"/>
            <a:ext cx="3704905" cy="1296085"/>
          </a:xfrm>
          <a:prstGeom prst="rect">
            <a:avLst/>
          </a:prstGeom>
        </p:spPr>
      </p:pic>
      <p:pic>
        <p:nvPicPr>
          <p:cNvPr id="17" name="Obraz 16">
            <a:extLst>
              <a:ext uri="{FF2B5EF4-FFF2-40B4-BE49-F238E27FC236}">
                <a16:creationId xmlns:a16="http://schemas.microsoft.com/office/drawing/2014/main" id="{33ECECC0-8FD5-768B-9FF4-5EDFFC00CCEA}"/>
              </a:ext>
            </a:extLst>
          </p:cNvPr>
          <p:cNvPicPr>
            <a:picLocks noChangeAspect="1"/>
          </p:cNvPicPr>
          <p:nvPr/>
        </p:nvPicPr>
        <p:blipFill>
          <a:blip r:embed="rId4"/>
          <a:stretch>
            <a:fillRect/>
          </a:stretch>
        </p:blipFill>
        <p:spPr>
          <a:xfrm>
            <a:off x="1893862" y="3899216"/>
            <a:ext cx="3677764" cy="1286590"/>
          </a:xfrm>
          <a:prstGeom prst="rect">
            <a:avLst/>
          </a:prstGeom>
        </p:spPr>
      </p:pic>
      <p:cxnSp>
        <p:nvCxnSpPr>
          <p:cNvPr id="18" name="Łącznik prosty ze strzałką 17">
            <a:extLst>
              <a:ext uri="{FF2B5EF4-FFF2-40B4-BE49-F238E27FC236}">
                <a16:creationId xmlns:a16="http://schemas.microsoft.com/office/drawing/2014/main" id="{C9B60DAD-783C-93E2-D8E6-8A394EC96CB6}"/>
              </a:ext>
            </a:extLst>
          </p:cNvPr>
          <p:cNvCxnSpPr>
            <a:cxnSpLocks/>
            <a:endCxn id="9" idx="1"/>
          </p:cNvCxnSpPr>
          <p:nvPr/>
        </p:nvCxnSpPr>
        <p:spPr>
          <a:xfrm flipV="1">
            <a:off x="7417157" y="1972758"/>
            <a:ext cx="3001487" cy="8500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Łącznik prosty ze strzałką 18">
            <a:extLst>
              <a:ext uri="{FF2B5EF4-FFF2-40B4-BE49-F238E27FC236}">
                <a16:creationId xmlns:a16="http://schemas.microsoft.com/office/drawing/2014/main" id="{3B1708E4-AD80-052A-03EA-B227862A6B8E}"/>
              </a:ext>
            </a:extLst>
          </p:cNvPr>
          <p:cNvCxnSpPr>
            <a:cxnSpLocks/>
            <a:endCxn id="11" idx="1"/>
          </p:cNvCxnSpPr>
          <p:nvPr/>
        </p:nvCxnSpPr>
        <p:spPr>
          <a:xfrm>
            <a:off x="7431579" y="3007615"/>
            <a:ext cx="2987065" cy="187762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Łącznik prosty ze strzałką 19">
            <a:extLst>
              <a:ext uri="{FF2B5EF4-FFF2-40B4-BE49-F238E27FC236}">
                <a16:creationId xmlns:a16="http://schemas.microsoft.com/office/drawing/2014/main" id="{E861738E-5E39-4D9A-C558-AC295B140F8B}"/>
              </a:ext>
            </a:extLst>
          </p:cNvPr>
          <p:cNvCxnSpPr>
            <a:cxnSpLocks/>
            <a:endCxn id="10" idx="1"/>
          </p:cNvCxnSpPr>
          <p:nvPr/>
        </p:nvCxnSpPr>
        <p:spPr>
          <a:xfrm>
            <a:off x="7417157" y="2913297"/>
            <a:ext cx="3001487" cy="51570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pole tekstowe 21">
            <a:extLst>
              <a:ext uri="{FF2B5EF4-FFF2-40B4-BE49-F238E27FC236}">
                <a16:creationId xmlns:a16="http://schemas.microsoft.com/office/drawing/2014/main" id="{5172D067-9E96-A40B-A918-F498C39D477E}"/>
              </a:ext>
            </a:extLst>
          </p:cNvPr>
          <p:cNvSpPr txBox="1"/>
          <p:nvPr/>
        </p:nvSpPr>
        <p:spPr>
          <a:xfrm>
            <a:off x="6484831" y="1424119"/>
            <a:ext cx="629981" cy="338554"/>
          </a:xfrm>
          <a:prstGeom prst="rect">
            <a:avLst/>
          </a:prstGeom>
          <a:noFill/>
        </p:spPr>
        <p:txBody>
          <a:bodyPr wrap="none" rtlCol="0">
            <a:spAutoFit/>
          </a:bodyPr>
          <a:lstStyle/>
          <a:p>
            <a:r>
              <a:rPr lang="en-GB"/>
              <a:t>T.5.3</a:t>
            </a:r>
          </a:p>
        </p:txBody>
      </p:sp>
      <p:sp>
        <p:nvSpPr>
          <p:cNvPr id="23" name="pole tekstowe 22">
            <a:extLst>
              <a:ext uri="{FF2B5EF4-FFF2-40B4-BE49-F238E27FC236}">
                <a16:creationId xmlns:a16="http://schemas.microsoft.com/office/drawing/2014/main" id="{E3E7F687-74CF-6872-1AD9-A7A32BE2BF79}"/>
              </a:ext>
            </a:extLst>
          </p:cNvPr>
          <p:cNvSpPr txBox="1"/>
          <p:nvPr/>
        </p:nvSpPr>
        <p:spPr>
          <a:xfrm>
            <a:off x="7124496" y="1081962"/>
            <a:ext cx="2342503" cy="1077218"/>
          </a:xfrm>
          <a:prstGeom prst="rect">
            <a:avLst/>
          </a:prstGeom>
          <a:noFill/>
        </p:spPr>
        <p:txBody>
          <a:bodyPr wrap="square" rtlCol="0">
            <a:spAutoFit/>
          </a:bodyPr>
          <a:lstStyle/>
          <a:p>
            <a:r>
              <a:rPr lang="en-GB"/>
              <a:t>T.5.1</a:t>
            </a:r>
          </a:p>
          <a:p>
            <a:r>
              <a:rPr lang="en-GB"/>
              <a:t>for pilots that do not yet have a connection to energy markets</a:t>
            </a:r>
          </a:p>
        </p:txBody>
      </p:sp>
      <p:sp>
        <p:nvSpPr>
          <p:cNvPr id="25" name="pole tekstowe 24">
            <a:extLst>
              <a:ext uri="{FF2B5EF4-FFF2-40B4-BE49-F238E27FC236}">
                <a16:creationId xmlns:a16="http://schemas.microsoft.com/office/drawing/2014/main" id="{AEB919E4-E458-8C5B-DAF5-ED16ED5E78AF}"/>
              </a:ext>
            </a:extLst>
          </p:cNvPr>
          <p:cNvSpPr txBox="1"/>
          <p:nvPr/>
        </p:nvSpPr>
        <p:spPr>
          <a:xfrm>
            <a:off x="7179975" y="4835956"/>
            <a:ext cx="2492953" cy="1077218"/>
          </a:xfrm>
          <a:prstGeom prst="rect">
            <a:avLst/>
          </a:prstGeom>
          <a:noFill/>
        </p:spPr>
        <p:txBody>
          <a:bodyPr wrap="square" rtlCol="0">
            <a:spAutoFit/>
          </a:bodyPr>
          <a:lstStyle/>
          <a:p>
            <a:r>
              <a:rPr lang="en-GB"/>
              <a:t>T.5.2</a:t>
            </a:r>
          </a:p>
          <a:p>
            <a:r>
              <a:rPr lang="pl-PL"/>
              <a:t>f</a:t>
            </a:r>
            <a:r>
              <a:rPr lang="en-GB"/>
              <a:t>or pilots which already have a connection to energy markets</a:t>
            </a:r>
          </a:p>
        </p:txBody>
      </p:sp>
      <p:cxnSp>
        <p:nvCxnSpPr>
          <p:cNvPr id="36" name="Łącznik prosty ze strzałką 35">
            <a:extLst>
              <a:ext uri="{FF2B5EF4-FFF2-40B4-BE49-F238E27FC236}">
                <a16:creationId xmlns:a16="http://schemas.microsoft.com/office/drawing/2014/main" id="{36CB3834-78DF-8BA5-6813-C11C44F18928}"/>
              </a:ext>
            </a:extLst>
          </p:cNvPr>
          <p:cNvCxnSpPr>
            <a:cxnSpLocks/>
            <a:endCxn id="9" idx="1"/>
          </p:cNvCxnSpPr>
          <p:nvPr/>
        </p:nvCxnSpPr>
        <p:spPr>
          <a:xfrm flipV="1">
            <a:off x="7342886" y="1972758"/>
            <a:ext cx="3075758" cy="186491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Łącznik prosty ze strzałką 37">
            <a:extLst>
              <a:ext uri="{FF2B5EF4-FFF2-40B4-BE49-F238E27FC236}">
                <a16:creationId xmlns:a16="http://schemas.microsoft.com/office/drawing/2014/main" id="{53F0CA6E-5B1A-37BF-835C-F8A949EAB290}"/>
              </a:ext>
            </a:extLst>
          </p:cNvPr>
          <p:cNvCxnSpPr>
            <a:cxnSpLocks/>
            <a:endCxn id="10" idx="1"/>
          </p:cNvCxnSpPr>
          <p:nvPr/>
        </p:nvCxnSpPr>
        <p:spPr>
          <a:xfrm flipV="1">
            <a:off x="7351271" y="3429000"/>
            <a:ext cx="3067373" cy="53989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Łącznik prosty ze strzałką 39">
            <a:extLst>
              <a:ext uri="{FF2B5EF4-FFF2-40B4-BE49-F238E27FC236}">
                <a16:creationId xmlns:a16="http://schemas.microsoft.com/office/drawing/2014/main" id="{40DC7DC5-F970-0FAF-C13B-515D1378716B}"/>
              </a:ext>
            </a:extLst>
          </p:cNvPr>
          <p:cNvCxnSpPr>
            <a:cxnSpLocks/>
            <a:stCxn id="11" idx="1"/>
          </p:cNvCxnSpPr>
          <p:nvPr/>
        </p:nvCxnSpPr>
        <p:spPr>
          <a:xfrm flipH="1" flipV="1">
            <a:off x="7376100" y="4098391"/>
            <a:ext cx="3042544" cy="78685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024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2E5DB-AFF0-3735-EF60-EE6096C63E63}"/>
            </a:ext>
          </a:extLst>
        </p:cNvPr>
        <p:cNvGrpSpPr/>
        <p:nvPr/>
      </p:nvGrpSpPr>
      <p:grpSpPr>
        <a:xfrm>
          <a:off x="0" y="0"/>
          <a:ext cx="0" cy="0"/>
          <a:chOff x="0" y="0"/>
          <a:chExt cx="0" cy="0"/>
        </a:xfrm>
      </p:grpSpPr>
      <p:sp>
        <p:nvSpPr>
          <p:cNvPr id="28" name="Prostokąt 27">
            <a:extLst>
              <a:ext uri="{FF2B5EF4-FFF2-40B4-BE49-F238E27FC236}">
                <a16:creationId xmlns:a16="http://schemas.microsoft.com/office/drawing/2014/main" id="{B2826E8E-A621-2B42-7889-EF9B3E072244}"/>
              </a:ext>
            </a:extLst>
          </p:cNvPr>
          <p:cNvSpPr/>
          <p:nvPr/>
        </p:nvSpPr>
        <p:spPr>
          <a:xfrm>
            <a:off x="7152383" y="3466991"/>
            <a:ext cx="2524610" cy="243842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7" name="Prostokąt 26">
            <a:extLst>
              <a:ext uri="{FF2B5EF4-FFF2-40B4-BE49-F238E27FC236}">
                <a16:creationId xmlns:a16="http://schemas.microsoft.com/office/drawing/2014/main" id="{99DBD23D-0D86-88E9-978A-BD4F1650B0A5}"/>
              </a:ext>
            </a:extLst>
          </p:cNvPr>
          <p:cNvSpPr/>
          <p:nvPr/>
        </p:nvSpPr>
        <p:spPr>
          <a:xfrm>
            <a:off x="7144539" y="1044465"/>
            <a:ext cx="2524610" cy="243842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6" name="Prostokąt 25">
            <a:extLst>
              <a:ext uri="{FF2B5EF4-FFF2-40B4-BE49-F238E27FC236}">
                <a16:creationId xmlns:a16="http://schemas.microsoft.com/office/drawing/2014/main" id="{8EEDFD3C-8455-EA8E-728E-4C7E9F5E761D}"/>
              </a:ext>
            </a:extLst>
          </p:cNvPr>
          <p:cNvSpPr/>
          <p:nvPr/>
        </p:nvSpPr>
        <p:spPr>
          <a:xfrm>
            <a:off x="1168672" y="1044465"/>
            <a:ext cx="5955824" cy="486094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2" name="Tytuł 1">
            <a:extLst>
              <a:ext uri="{FF2B5EF4-FFF2-40B4-BE49-F238E27FC236}">
                <a16:creationId xmlns:a16="http://schemas.microsoft.com/office/drawing/2014/main" id="{341C69DA-9F72-A433-6519-AC3B7880F488}"/>
              </a:ext>
            </a:extLst>
          </p:cNvPr>
          <p:cNvSpPr>
            <a:spLocks noGrp="1"/>
          </p:cNvSpPr>
          <p:nvPr>
            <p:ph type="title"/>
          </p:nvPr>
        </p:nvSpPr>
        <p:spPr/>
        <p:txBody>
          <a:bodyPr/>
          <a:lstStyle/>
          <a:p>
            <a:r>
              <a:rPr lang="en-GB" noProof="0"/>
              <a:t>WP5 – </a:t>
            </a:r>
            <a:r>
              <a:rPr lang="pl-PL" noProof="0"/>
              <a:t>next </a:t>
            </a:r>
            <a:r>
              <a:rPr lang="pl-PL" noProof="0" err="1"/>
              <a:t>proposition</a:t>
            </a:r>
            <a:endParaRPr lang="en-GB" noProof="0"/>
          </a:p>
        </p:txBody>
      </p:sp>
      <p:sp>
        <p:nvSpPr>
          <p:cNvPr id="8" name="Prostokąt: zaokrąglone rogi 7">
            <a:extLst>
              <a:ext uri="{FF2B5EF4-FFF2-40B4-BE49-F238E27FC236}">
                <a16:creationId xmlns:a16="http://schemas.microsoft.com/office/drawing/2014/main" id="{4DC4173B-518D-3BE4-5CE9-C75E36B6B22B}"/>
              </a:ext>
            </a:extLst>
          </p:cNvPr>
          <p:cNvSpPr/>
          <p:nvPr/>
        </p:nvSpPr>
        <p:spPr>
          <a:xfrm>
            <a:off x="5880482" y="2490842"/>
            <a:ext cx="1434517" cy="21098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Trading manager</a:t>
            </a:r>
          </a:p>
        </p:txBody>
      </p:sp>
      <p:sp>
        <p:nvSpPr>
          <p:cNvPr id="9" name="Prostokąt: zaokrąglone rogi 8">
            <a:extLst>
              <a:ext uri="{FF2B5EF4-FFF2-40B4-BE49-F238E27FC236}">
                <a16:creationId xmlns:a16="http://schemas.microsoft.com/office/drawing/2014/main" id="{029214FB-7C6C-84C5-CF95-1A4F34BA735C}"/>
              </a:ext>
            </a:extLst>
          </p:cNvPr>
          <p:cNvSpPr/>
          <p:nvPr/>
        </p:nvSpPr>
        <p:spPr>
          <a:xfrm>
            <a:off x="10418644" y="1521386"/>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err="1"/>
              <a:t>ToU</a:t>
            </a:r>
            <a:r>
              <a:rPr lang="en-GB"/>
              <a:t> market</a:t>
            </a:r>
          </a:p>
        </p:txBody>
      </p:sp>
      <p:sp>
        <p:nvSpPr>
          <p:cNvPr id="10" name="Prostokąt: zaokrąglone rogi 9">
            <a:extLst>
              <a:ext uri="{FF2B5EF4-FFF2-40B4-BE49-F238E27FC236}">
                <a16:creationId xmlns:a16="http://schemas.microsoft.com/office/drawing/2014/main" id="{1679678D-053A-C9BC-7CCC-35D76F3D90C6}"/>
              </a:ext>
            </a:extLst>
          </p:cNvPr>
          <p:cNvSpPr/>
          <p:nvPr/>
        </p:nvSpPr>
        <p:spPr>
          <a:xfrm>
            <a:off x="10418644" y="2977628"/>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Capacity market</a:t>
            </a:r>
          </a:p>
        </p:txBody>
      </p:sp>
      <p:sp>
        <p:nvSpPr>
          <p:cNvPr id="11" name="Prostokąt: zaokrąglone rogi 10">
            <a:extLst>
              <a:ext uri="{FF2B5EF4-FFF2-40B4-BE49-F238E27FC236}">
                <a16:creationId xmlns:a16="http://schemas.microsoft.com/office/drawing/2014/main" id="{1FA80545-704A-0341-1525-2AF5B59C2AF6}"/>
              </a:ext>
            </a:extLst>
          </p:cNvPr>
          <p:cNvSpPr/>
          <p:nvPr/>
        </p:nvSpPr>
        <p:spPr>
          <a:xfrm>
            <a:off x="10418644" y="4433870"/>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Intraday optimization market</a:t>
            </a:r>
          </a:p>
        </p:txBody>
      </p:sp>
      <p:sp>
        <p:nvSpPr>
          <p:cNvPr id="12" name="Prostokąt: zaokrąglone rogi 11">
            <a:extLst>
              <a:ext uri="{FF2B5EF4-FFF2-40B4-BE49-F238E27FC236}">
                <a16:creationId xmlns:a16="http://schemas.microsoft.com/office/drawing/2014/main" id="{2F52F279-56C7-B8BA-8CF7-4D82CAB1479A}"/>
              </a:ext>
            </a:extLst>
          </p:cNvPr>
          <p:cNvSpPr/>
          <p:nvPr/>
        </p:nvSpPr>
        <p:spPr>
          <a:xfrm>
            <a:off x="151822" y="2331925"/>
            <a:ext cx="1434517" cy="21098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Flexibility manager</a:t>
            </a:r>
          </a:p>
        </p:txBody>
      </p:sp>
      <p:cxnSp>
        <p:nvCxnSpPr>
          <p:cNvPr id="13" name="Łącznik prosty ze strzałką 12">
            <a:extLst>
              <a:ext uri="{FF2B5EF4-FFF2-40B4-BE49-F238E27FC236}">
                <a16:creationId xmlns:a16="http://schemas.microsoft.com/office/drawing/2014/main" id="{E3F1D512-AA7D-2CF7-A03A-F4683A36A0D5}"/>
              </a:ext>
            </a:extLst>
          </p:cNvPr>
          <p:cNvCxnSpPr>
            <a:cxnSpLocks/>
          </p:cNvCxnSpPr>
          <p:nvPr/>
        </p:nvCxnSpPr>
        <p:spPr>
          <a:xfrm>
            <a:off x="1856819" y="3053819"/>
            <a:ext cx="376760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Łącznik prosty ze strzałką 13">
            <a:extLst>
              <a:ext uri="{FF2B5EF4-FFF2-40B4-BE49-F238E27FC236}">
                <a16:creationId xmlns:a16="http://schemas.microsoft.com/office/drawing/2014/main" id="{1D4F5C68-4F07-12CC-C5F2-0690CF4AD22C}"/>
              </a:ext>
            </a:extLst>
          </p:cNvPr>
          <p:cNvCxnSpPr>
            <a:cxnSpLocks/>
          </p:cNvCxnSpPr>
          <p:nvPr/>
        </p:nvCxnSpPr>
        <p:spPr>
          <a:xfrm flipH="1">
            <a:off x="1877670" y="3779776"/>
            <a:ext cx="3710151"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pole tekstowe 14">
            <a:extLst>
              <a:ext uri="{FF2B5EF4-FFF2-40B4-BE49-F238E27FC236}">
                <a16:creationId xmlns:a16="http://schemas.microsoft.com/office/drawing/2014/main" id="{FF127537-BF5F-F979-F008-C0D6A0C9027A}"/>
              </a:ext>
            </a:extLst>
          </p:cNvPr>
          <p:cNvSpPr txBox="1"/>
          <p:nvPr/>
        </p:nvSpPr>
        <p:spPr>
          <a:xfrm>
            <a:off x="3201990" y="3546070"/>
            <a:ext cx="1061509" cy="246221"/>
          </a:xfrm>
          <a:prstGeom prst="rect">
            <a:avLst/>
          </a:prstGeom>
          <a:noFill/>
        </p:spPr>
        <p:txBody>
          <a:bodyPr wrap="none" rtlCol="0">
            <a:spAutoFit/>
          </a:bodyPr>
          <a:lstStyle/>
          <a:p>
            <a:r>
              <a:rPr lang="en-GB" sz="1000"/>
              <a:t>Selected option</a:t>
            </a:r>
          </a:p>
        </p:txBody>
      </p:sp>
      <p:cxnSp>
        <p:nvCxnSpPr>
          <p:cNvPr id="18" name="Łącznik prosty ze strzałką 17">
            <a:extLst>
              <a:ext uri="{FF2B5EF4-FFF2-40B4-BE49-F238E27FC236}">
                <a16:creationId xmlns:a16="http://schemas.microsoft.com/office/drawing/2014/main" id="{261500D8-8EFC-983F-91E5-27C4B94D91F9}"/>
              </a:ext>
            </a:extLst>
          </p:cNvPr>
          <p:cNvCxnSpPr>
            <a:cxnSpLocks/>
            <a:endCxn id="9" idx="1"/>
          </p:cNvCxnSpPr>
          <p:nvPr/>
        </p:nvCxnSpPr>
        <p:spPr>
          <a:xfrm flipV="1">
            <a:off x="7417157" y="1972758"/>
            <a:ext cx="3001487" cy="8500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Łącznik prosty ze strzałką 18">
            <a:extLst>
              <a:ext uri="{FF2B5EF4-FFF2-40B4-BE49-F238E27FC236}">
                <a16:creationId xmlns:a16="http://schemas.microsoft.com/office/drawing/2014/main" id="{2C48F0AF-A398-B70D-0D32-B23CCED11C91}"/>
              </a:ext>
            </a:extLst>
          </p:cNvPr>
          <p:cNvCxnSpPr>
            <a:cxnSpLocks/>
            <a:endCxn id="11" idx="1"/>
          </p:cNvCxnSpPr>
          <p:nvPr/>
        </p:nvCxnSpPr>
        <p:spPr>
          <a:xfrm>
            <a:off x="7431579" y="3007615"/>
            <a:ext cx="2987065" cy="187762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Łącznik prosty ze strzałką 19">
            <a:extLst>
              <a:ext uri="{FF2B5EF4-FFF2-40B4-BE49-F238E27FC236}">
                <a16:creationId xmlns:a16="http://schemas.microsoft.com/office/drawing/2014/main" id="{BF951B55-3095-5FCC-D09F-AAC1FAF6474A}"/>
              </a:ext>
            </a:extLst>
          </p:cNvPr>
          <p:cNvCxnSpPr>
            <a:cxnSpLocks/>
            <a:endCxn id="10" idx="1"/>
          </p:cNvCxnSpPr>
          <p:nvPr/>
        </p:nvCxnSpPr>
        <p:spPr>
          <a:xfrm>
            <a:off x="7417157" y="2913297"/>
            <a:ext cx="3001487" cy="51570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pole tekstowe 21">
            <a:extLst>
              <a:ext uri="{FF2B5EF4-FFF2-40B4-BE49-F238E27FC236}">
                <a16:creationId xmlns:a16="http://schemas.microsoft.com/office/drawing/2014/main" id="{E577A7BE-BB59-E353-C7D1-D3C59AF41704}"/>
              </a:ext>
            </a:extLst>
          </p:cNvPr>
          <p:cNvSpPr txBox="1"/>
          <p:nvPr/>
        </p:nvSpPr>
        <p:spPr>
          <a:xfrm>
            <a:off x="6484831" y="1424119"/>
            <a:ext cx="629981" cy="338554"/>
          </a:xfrm>
          <a:prstGeom prst="rect">
            <a:avLst/>
          </a:prstGeom>
          <a:noFill/>
        </p:spPr>
        <p:txBody>
          <a:bodyPr wrap="none" rtlCol="0">
            <a:spAutoFit/>
          </a:bodyPr>
          <a:lstStyle/>
          <a:p>
            <a:r>
              <a:rPr lang="en-GB"/>
              <a:t>T.5.3</a:t>
            </a:r>
          </a:p>
        </p:txBody>
      </p:sp>
      <p:sp>
        <p:nvSpPr>
          <p:cNvPr id="23" name="pole tekstowe 22">
            <a:extLst>
              <a:ext uri="{FF2B5EF4-FFF2-40B4-BE49-F238E27FC236}">
                <a16:creationId xmlns:a16="http://schemas.microsoft.com/office/drawing/2014/main" id="{FBDFDC79-8DE4-C153-8ABB-B301DB4C169E}"/>
              </a:ext>
            </a:extLst>
          </p:cNvPr>
          <p:cNvSpPr txBox="1"/>
          <p:nvPr/>
        </p:nvSpPr>
        <p:spPr>
          <a:xfrm>
            <a:off x="7124496" y="1081962"/>
            <a:ext cx="2342503" cy="1077218"/>
          </a:xfrm>
          <a:prstGeom prst="rect">
            <a:avLst/>
          </a:prstGeom>
          <a:noFill/>
        </p:spPr>
        <p:txBody>
          <a:bodyPr wrap="square" rtlCol="0">
            <a:spAutoFit/>
          </a:bodyPr>
          <a:lstStyle/>
          <a:p>
            <a:r>
              <a:rPr lang="en-GB"/>
              <a:t>T.5.1</a:t>
            </a:r>
          </a:p>
          <a:p>
            <a:r>
              <a:rPr lang="en-GB"/>
              <a:t>for pilots that do not yet have a connection to energy markets</a:t>
            </a:r>
          </a:p>
        </p:txBody>
      </p:sp>
      <p:sp>
        <p:nvSpPr>
          <p:cNvPr id="25" name="pole tekstowe 24">
            <a:extLst>
              <a:ext uri="{FF2B5EF4-FFF2-40B4-BE49-F238E27FC236}">
                <a16:creationId xmlns:a16="http://schemas.microsoft.com/office/drawing/2014/main" id="{9290A357-6E20-0DD8-F509-B6F5D41FFB01}"/>
              </a:ext>
            </a:extLst>
          </p:cNvPr>
          <p:cNvSpPr txBox="1"/>
          <p:nvPr/>
        </p:nvSpPr>
        <p:spPr>
          <a:xfrm>
            <a:off x="7179975" y="4835956"/>
            <a:ext cx="2492953" cy="1077218"/>
          </a:xfrm>
          <a:prstGeom prst="rect">
            <a:avLst/>
          </a:prstGeom>
          <a:noFill/>
        </p:spPr>
        <p:txBody>
          <a:bodyPr wrap="square" rtlCol="0">
            <a:spAutoFit/>
          </a:bodyPr>
          <a:lstStyle/>
          <a:p>
            <a:r>
              <a:rPr lang="en-GB"/>
              <a:t>T.5.2</a:t>
            </a:r>
          </a:p>
          <a:p>
            <a:r>
              <a:rPr lang="pl-PL"/>
              <a:t>f</a:t>
            </a:r>
            <a:r>
              <a:rPr lang="en-GB"/>
              <a:t>or pilots which already have a connection to energy markets</a:t>
            </a:r>
          </a:p>
        </p:txBody>
      </p:sp>
      <p:cxnSp>
        <p:nvCxnSpPr>
          <p:cNvPr id="36" name="Łącznik prosty ze strzałką 35">
            <a:extLst>
              <a:ext uri="{FF2B5EF4-FFF2-40B4-BE49-F238E27FC236}">
                <a16:creationId xmlns:a16="http://schemas.microsoft.com/office/drawing/2014/main" id="{BDA54122-8306-557E-1A94-9FAA21C8A480}"/>
              </a:ext>
            </a:extLst>
          </p:cNvPr>
          <p:cNvCxnSpPr>
            <a:cxnSpLocks/>
            <a:endCxn id="9" idx="1"/>
          </p:cNvCxnSpPr>
          <p:nvPr/>
        </p:nvCxnSpPr>
        <p:spPr>
          <a:xfrm flipV="1">
            <a:off x="7342886" y="1972758"/>
            <a:ext cx="3075758" cy="186491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Łącznik prosty ze strzałką 37">
            <a:extLst>
              <a:ext uri="{FF2B5EF4-FFF2-40B4-BE49-F238E27FC236}">
                <a16:creationId xmlns:a16="http://schemas.microsoft.com/office/drawing/2014/main" id="{69650AC0-31E0-A39A-C38B-FE3C2AF80C6D}"/>
              </a:ext>
            </a:extLst>
          </p:cNvPr>
          <p:cNvCxnSpPr>
            <a:cxnSpLocks/>
            <a:endCxn id="10" idx="1"/>
          </p:cNvCxnSpPr>
          <p:nvPr/>
        </p:nvCxnSpPr>
        <p:spPr>
          <a:xfrm flipV="1">
            <a:off x="7351271" y="3429000"/>
            <a:ext cx="3067373" cy="53989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Łącznik prosty ze strzałką 39">
            <a:extLst>
              <a:ext uri="{FF2B5EF4-FFF2-40B4-BE49-F238E27FC236}">
                <a16:creationId xmlns:a16="http://schemas.microsoft.com/office/drawing/2014/main" id="{3D37576D-4973-1ACF-704B-C2C076D4985A}"/>
              </a:ext>
            </a:extLst>
          </p:cNvPr>
          <p:cNvCxnSpPr>
            <a:cxnSpLocks/>
            <a:stCxn id="11" idx="1"/>
          </p:cNvCxnSpPr>
          <p:nvPr/>
        </p:nvCxnSpPr>
        <p:spPr>
          <a:xfrm flipH="1" flipV="1">
            <a:off x="7376100" y="4098391"/>
            <a:ext cx="3042544" cy="78685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ela 2">
            <a:extLst>
              <a:ext uri="{FF2B5EF4-FFF2-40B4-BE49-F238E27FC236}">
                <a16:creationId xmlns:a16="http://schemas.microsoft.com/office/drawing/2014/main" id="{5BB16B3A-EA43-7B29-6FF1-64753F97706B}"/>
              </a:ext>
            </a:extLst>
          </p:cNvPr>
          <p:cNvGraphicFramePr>
            <a:graphicFrameLocks noGrp="1"/>
          </p:cNvGraphicFramePr>
          <p:nvPr>
            <p:extLst>
              <p:ext uri="{D42A27DB-BD31-4B8C-83A1-F6EECF244321}">
                <p14:modId xmlns:p14="http://schemas.microsoft.com/office/powerpoint/2010/main" val="1811393800"/>
              </p:ext>
            </p:extLst>
          </p:nvPr>
        </p:nvGraphicFramePr>
        <p:xfrm>
          <a:off x="1784686" y="1604854"/>
          <a:ext cx="3931596" cy="1217930"/>
        </p:xfrm>
        <a:graphic>
          <a:graphicData uri="http://schemas.openxmlformats.org/drawingml/2006/table">
            <a:tbl>
              <a:tblPr>
                <a:tableStyleId>{5C22544A-7EE6-4342-B048-85BDC9FD1C3A}</a:tableStyleId>
              </a:tblPr>
              <a:tblGrid>
                <a:gridCol w="897069">
                  <a:extLst>
                    <a:ext uri="{9D8B030D-6E8A-4147-A177-3AD203B41FA5}">
                      <a16:colId xmlns:a16="http://schemas.microsoft.com/office/drawing/2014/main" val="3634883914"/>
                    </a:ext>
                  </a:extLst>
                </a:gridCol>
                <a:gridCol w="564821">
                  <a:extLst>
                    <a:ext uri="{9D8B030D-6E8A-4147-A177-3AD203B41FA5}">
                      <a16:colId xmlns:a16="http://schemas.microsoft.com/office/drawing/2014/main" val="262104168"/>
                    </a:ext>
                  </a:extLst>
                </a:gridCol>
                <a:gridCol w="708794">
                  <a:extLst>
                    <a:ext uri="{9D8B030D-6E8A-4147-A177-3AD203B41FA5}">
                      <a16:colId xmlns:a16="http://schemas.microsoft.com/office/drawing/2014/main" val="2344794991"/>
                    </a:ext>
                  </a:extLst>
                </a:gridCol>
                <a:gridCol w="797394">
                  <a:extLst>
                    <a:ext uri="{9D8B030D-6E8A-4147-A177-3AD203B41FA5}">
                      <a16:colId xmlns:a16="http://schemas.microsoft.com/office/drawing/2014/main" val="3672422533"/>
                    </a:ext>
                  </a:extLst>
                </a:gridCol>
                <a:gridCol w="963518">
                  <a:extLst>
                    <a:ext uri="{9D8B030D-6E8A-4147-A177-3AD203B41FA5}">
                      <a16:colId xmlns:a16="http://schemas.microsoft.com/office/drawing/2014/main" val="936345786"/>
                    </a:ext>
                  </a:extLst>
                </a:gridCol>
              </a:tblGrid>
              <a:tr h="160057">
                <a:tc>
                  <a:txBody>
                    <a:bodyPr/>
                    <a:lstStyle/>
                    <a:p>
                      <a:pPr algn="ctr" fontAlgn="b">
                        <a:buNone/>
                      </a:pPr>
                      <a:r>
                        <a:rPr lang="pl-PL" sz="1100" u="none" strike="noStrike">
                          <a:effectLst/>
                        </a:rPr>
                        <a:t>Time unit</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Option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Production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Consumption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Add cost</a:t>
                      </a:r>
                      <a:endParaRPr lang="pl-PL" sz="11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195688756"/>
                  </a:ext>
                </a:extLst>
              </a:tr>
              <a:tr h="160057">
                <a:tc rowSpan="2">
                  <a:txBody>
                    <a:bodyPr/>
                    <a:lstStyle/>
                    <a:p>
                      <a:pPr algn="ctr" fontAlgn="ctr">
                        <a:buNone/>
                      </a:pPr>
                      <a:r>
                        <a:rPr lang="pl-PL" sz="1100" u="none" strike="noStrike">
                          <a:effectLst/>
                        </a:rPr>
                        <a:t>8:00-9:00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pl-PL" sz="1100" u="none" strike="noStrike">
                          <a:effectLst/>
                        </a:rPr>
                        <a:t>min</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b"/>
                </a:tc>
                <a:tc rowSpan="2">
                  <a:txBody>
                    <a:bodyPr/>
                    <a:lstStyle/>
                    <a:p>
                      <a:pPr algn="ctr" fontAlgn="ctr">
                        <a:buNone/>
                      </a:pPr>
                      <a:r>
                        <a:rPr lang="pl-PL" sz="1100" u="none" strike="noStrike">
                          <a:effectLst/>
                        </a:rPr>
                        <a:t>cost_function</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823054667"/>
                  </a:ext>
                </a:extLst>
              </a:tr>
              <a:tr h="160057">
                <a:tc vMerge="1">
                  <a:txBody>
                    <a:bodyPr/>
                    <a:lstStyle/>
                    <a:p>
                      <a:endParaRPr lang="pl-PL"/>
                    </a:p>
                  </a:txBody>
                  <a:tcPr/>
                </a:tc>
                <a:tc>
                  <a:txBody>
                    <a:bodyPr/>
                    <a:lstStyle/>
                    <a:p>
                      <a:pPr algn="ctr" fontAlgn="b">
                        <a:buNone/>
                      </a:pPr>
                      <a:r>
                        <a:rPr lang="pl-PL" sz="1100" u="none" strike="noStrike">
                          <a:effectLst/>
                        </a:rPr>
                        <a:t>max</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150</a:t>
                      </a:r>
                      <a:endParaRPr lang="pl-PL" sz="1100" b="0" i="0" u="none" strike="noStrike">
                        <a:solidFill>
                          <a:srgbClr val="000000"/>
                        </a:solidFill>
                        <a:effectLst/>
                        <a:latin typeface="Aptos Narrow" panose="020B0004020202020204" pitchFamily="34" charset="0"/>
                      </a:endParaRPr>
                    </a:p>
                  </a:txBody>
                  <a:tcPr marL="6350" marR="6350" marT="6350" marB="0" anchor="b"/>
                </a:tc>
                <a:tc vMerge="1">
                  <a:txBody>
                    <a:bodyPr/>
                    <a:lstStyle/>
                    <a:p>
                      <a:endParaRPr lang="pl-PL"/>
                    </a:p>
                  </a:txBody>
                  <a:tcPr/>
                </a:tc>
                <a:extLst>
                  <a:ext uri="{0D108BD9-81ED-4DB2-BD59-A6C34878D82A}">
                    <a16:rowId xmlns:a16="http://schemas.microsoft.com/office/drawing/2014/main" val="3861224917"/>
                  </a:ext>
                </a:extLst>
              </a:tr>
              <a:tr h="160057">
                <a:tc rowSpan="2">
                  <a:txBody>
                    <a:bodyPr/>
                    <a:lstStyle/>
                    <a:p>
                      <a:pPr algn="ctr" fontAlgn="ctr">
                        <a:buNone/>
                      </a:pPr>
                      <a:r>
                        <a:rPr lang="pl-PL" sz="1100" u="none" strike="noStrike">
                          <a:effectLst/>
                        </a:rPr>
                        <a:t>9:00-10:00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pl-PL" sz="1100" u="none" strike="noStrike">
                          <a:effectLst/>
                        </a:rPr>
                        <a:t>min</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600</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b"/>
                </a:tc>
                <a:tc rowSpan="2">
                  <a:txBody>
                    <a:bodyPr/>
                    <a:lstStyle/>
                    <a:p>
                      <a:pPr algn="ctr" fontAlgn="ctr">
                        <a:buNone/>
                      </a:pPr>
                      <a:r>
                        <a:rPr lang="pl-PL" sz="1100" u="none" strike="noStrike">
                          <a:effectLst/>
                        </a:rPr>
                        <a:t>cost_function</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100614237"/>
                  </a:ext>
                </a:extLst>
              </a:tr>
              <a:tr h="160057">
                <a:tc vMerge="1">
                  <a:txBody>
                    <a:bodyPr/>
                    <a:lstStyle/>
                    <a:p>
                      <a:endParaRPr lang="pl-PL"/>
                    </a:p>
                  </a:txBody>
                  <a:tcPr/>
                </a:tc>
                <a:tc>
                  <a:txBody>
                    <a:bodyPr/>
                    <a:lstStyle/>
                    <a:p>
                      <a:pPr algn="ctr" fontAlgn="b">
                        <a:buNone/>
                      </a:pPr>
                      <a:r>
                        <a:rPr lang="pl-PL" sz="1100" u="none" strike="noStrike">
                          <a:effectLst/>
                        </a:rPr>
                        <a:t>max</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200</a:t>
                      </a:r>
                      <a:endParaRPr lang="pl-PL" sz="1100" b="0" i="0" u="none" strike="noStrike">
                        <a:solidFill>
                          <a:srgbClr val="000000"/>
                        </a:solidFill>
                        <a:effectLst/>
                        <a:latin typeface="Aptos Narrow" panose="020B0004020202020204" pitchFamily="34" charset="0"/>
                      </a:endParaRPr>
                    </a:p>
                  </a:txBody>
                  <a:tcPr marL="6350" marR="6350" marT="6350" marB="0" anchor="b"/>
                </a:tc>
                <a:tc vMerge="1">
                  <a:txBody>
                    <a:bodyPr/>
                    <a:lstStyle/>
                    <a:p>
                      <a:endParaRPr lang="pl-PL"/>
                    </a:p>
                  </a:txBody>
                  <a:tcPr/>
                </a:tc>
                <a:extLst>
                  <a:ext uri="{0D108BD9-81ED-4DB2-BD59-A6C34878D82A}">
                    <a16:rowId xmlns:a16="http://schemas.microsoft.com/office/drawing/2014/main" val="2224443488"/>
                  </a:ext>
                </a:extLst>
              </a:tr>
              <a:tr h="160057">
                <a:tc rowSpan="2">
                  <a:txBody>
                    <a:bodyPr/>
                    <a:lstStyle/>
                    <a:p>
                      <a:pPr algn="ctr" fontAlgn="ctr">
                        <a:buNone/>
                      </a:pPr>
                      <a:r>
                        <a:rPr lang="pl-PL" sz="1100" u="none" strike="noStrike">
                          <a:effectLst/>
                        </a:rPr>
                        <a:t>10:00-11:00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pl-PL" sz="1100" u="none" strike="noStrike">
                          <a:effectLst/>
                        </a:rPr>
                        <a:t>min</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700</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b"/>
                </a:tc>
                <a:tc rowSpan="2">
                  <a:txBody>
                    <a:bodyPr/>
                    <a:lstStyle/>
                    <a:p>
                      <a:pPr algn="ctr" fontAlgn="ctr">
                        <a:buNone/>
                      </a:pPr>
                      <a:r>
                        <a:rPr lang="pl-PL" sz="1100" u="none" strike="noStrike">
                          <a:effectLst/>
                        </a:rPr>
                        <a:t>cost_function</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445768768"/>
                  </a:ext>
                </a:extLst>
              </a:tr>
              <a:tr h="160057">
                <a:tc vMerge="1">
                  <a:txBody>
                    <a:bodyPr/>
                    <a:lstStyle/>
                    <a:p>
                      <a:endParaRPr lang="pl-PL"/>
                    </a:p>
                  </a:txBody>
                  <a:tcPr/>
                </a:tc>
                <a:tc>
                  <a:txBody>
                    <a:bodyPr/>
                    <a:lstStyle/>
                    <a:p>
                      <a:pPr algn="ctr" fontAlgn="b">
                        <a:buNone/>
                      </a:pPr>
                      <a:r>
                        <a:rPr lang="pl-PL" sz="1100" u="none" strike="noStrike">
                          <a:effectLst/>
                        </a:rPr>
                        <a:t>max</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b">
                        <a:buNone/>
                      </a:pPr>
                      <a:r>
                        <a:rPr lang="pl-PL" sz="1100" u="none" strike="noStrike">
                          <a:effectLst/>
                        </a:rPr>
                        <a:t>300</a:t>
                      </a:r>
                      <a:endParaRPr lang="pl-PL" sz="1100" b="0" i="0" u="none" strike="noStrike">
                        <a:solidFill>
                          <a:srgbClr val="000000"/>
                        </a:solidFill>
                        <a:effectLst/>
                        <a:latin typeface="Aptos Narrow" panose="020B0004020202020204" pitchFamily="34" charset="0"/>
                      </a:endParaRPr>
                    </a:p>
                  </a:txBody>
                  <a:tcPr marL="6350" marR="6350" marT="6350" marB="0" anchor="b"/>
                </a:tc>
                <a:tc vMerge="1">
                  <a:txBody>
                    <a:bodyPr/>
                    <a:lstStyle/>
                    <a:p>
                      <a:endParaRPr lang="pl-PL"/>
                    </a:p>
                  </a:txBody>
                  <a:tcPr/>
                </a:tc>
                <a:extLst>
                  <a:ext uri="{0D108BD9-81ED-4DB2-BD59-A6C34878D82A}">
                    <a16:rowId xmlns:a16="http://schemas.microsoft.com/office/drawing/2014/main" val="3872595376"/>
                  </a:ext>
                </a:extLst>
              </a:tr>
            </a:tbl>
          </a:graphicData>
        </a:graphic>
      </p:graphicFrame>
      <p:graphicFrame>
        <p:nvGraphicFramePr>
          <p:cNvPr id="5" name="Tabela 4">
            <a:extLst>
              <a:ext uri="{FF2B5EF4-FFF2-40B4-BE49-F238E27FC236}">
                <a16:creationId xmlns:a16="http://schemas.microsoft.com/office/drawing/2014/main" id="{3220E949-07E9-5673-7993-83A3843BC94D}"/>
              </a:ext>
            </a:extLst>
          </p:cNvPr>
          <p:cNvGraphicFramePr>
            <a:graphicFrameLocks noGrp="1"/>
          </p:cNvGraphicFramePr>
          <p:nvPr>
            <p:extLst>
              <p:ext uri="{D42A27DB-BD31-4B8C-83A1-F6EECF244321}">
                <p14:modId xmlns:p14="http://schemas.microsoft.com/office/powerpoint/2010/main" val="3566046879"/>
              </p:ext>
            </p:extLst>
          </p:nvPr>
        </p:nvGraphicFramePr>
        <p:xfrm>
          <a:off x="1641818" y="3968890"/>
          <a:ext cx="4284244" cy="695960"/>
        </p:xfrm>
        <a:graphic>
          <a:graphicData uri="http://schemas.openxmlformats.org/drawingml/2006/table">
            <a:tbl>
              <a:tblPr>
                <a:tableStyleId>{5C22544A-7EE6-4342-B048-85BDC9FD1C3A}</a:tableStyleId>
              </a:tblPr>
              <a:tblGrid>
                <a:gridCol w="977532">
                  <a:extLst>
                    <a:ext uri="{9D8B030D-6E8A-4147-A177-3AD203B41FA5}">
                      <a16:colId xmlns:a16="http://schemas.microsoft.com/office/drawing/2014/main" val="4227649124"/>
                    </a:ext>
                  </a:extLst>
                </a:gridCol>
                <a:gridCol w="615483">
                  <a:extLst>
                    <a:ext uri="{9D8B030D-6E8A-4147-A177-3AD203B41FA5}">
                      <a16:colId xmlns:a16="http://schemas.microsoft.com/office/drawing/2014/main" val="1696952326"/>
                    </a:ext>
                  </a:extLst>
                </a:gridCol>
                <a:gridCol w="772371">
                  <a:extLst>
                    <a:ext uri="{9D8B030D-6E8A-4147-A177-3AD203B41FA5}">
                      <a16:colId xmlns:a16="http://schemas.microsoft.com/office/drawing/2014/main" val="3456880822"/>
                    </a:ext>
                  </a:extLst>
                </a:gridCol>
                <a:gridCol w="868917">
                  <a:extLst>
                    <a:ext uri="{9D8B030D-6E8A-4147-A177-3AD203B41FA5}">
                      <a16:colId xmlns:a16="http://schemas.microsoft.com/office/drawing/2014/main" val="3186425783"/>
                    </a:ext>
                  </a:extLst>
                </a:gridCol>
                <a:gridCol w="1049941">
                  <a:extLst>
                    <a:ext uri="{9D8B030D-6E8A-4147-A177-3AD203B41FA5}">
                      <a16:colId xmlns:a16="http://schemas.microsoft.com/office/drawing/2014/main" val="2233510844"/>
                    </a:ext>
                  </a:extLst>
                </a:gridCol>
              </a:tblGrid>
              <a:tr h="151501">
                <a:tc>
                  <a:txBody>
                    <a:bodyPr/>
                    <a:lstStyle/>
                    <a:p>
                      <a:pPr algn="ctr" fontAlgn="b">
                        <a:buNone/>
                      </a:pPr>
                      <a:r>
                        <a:rPr lang="pl-PL" sz="1100" u="none" strike="noStrike">
                          <a:effectLst/>
                        </a:rPr>
                        <a:t>Time unit</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Option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Production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Consumption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Add cost</a:t>
                      </a:r>
                      <a:endParaRPr lang="pl-PL" sz="11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855346422"/>
                  </a:ext>
                </a:extLst>
              </a:tr>
              <a:tr h="145654">
                <a:tc>
                  <a:txBody>
                    <a:bodyPr/>
                    <a:lstStyle/>
                    <a:p>
                      <a:pPr algn="ctr" fontAlgn="ctr">
                        <a:buNone/>
                      </a:pPr>
                      <a:r>
                        <a:rPr lang="pl-PL" sz="1100" u="none" strike="noStrike">
                          <a:effectLst/>
                        </a:rPr>
                        <a:t>8:00-9:00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pl-PL" sz="1100" u="none" strike="noStrike">
                          <a:effectLst/>
                        </a:rPr>
                        <a:t> </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ctr">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300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255603933"/>
                  </a:ext>
                </a:extLst>
              </a:tr>
              <a:tr h="145654">
                <a:tc>
                  <a:txBody>
                    <a:bodyPr/>
                    <a:lstStyle/>
                    <a:p>
                      <a:pPr algn="ctr" fontAlgn="ctr">
                        <a:buNone/>
                      </a:pPr>
                      <a:r>
                        <a:rPr lang="pl-PL" sz="1100" u="none" strike="noStrike">
                          <a:effectLst/>
                        </a:rPr>
                        <a:t>9:00-10:00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pl-PL" sz="1100" u="none" strike="noStrike">
                          <a:effectLst/>
                        </a:rPr>
                        <a:t> </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ctr">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200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400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890504656"/>
                  </a:ext>
                </a:extLst>
              </a:tr>
              <a:tr h="145654">
                <a:tc>
                  <a:txBody>
                    <a:bodyPr/>
                    <a:lstStyle/>
                    <a:p>
                      <a:pPr algn="ctr" fontAlgn="ctr">
                        <a:buNone/>
                      </a:pPr>
                      <a:r>
                        <a:rPr lang="pl-PL" sz="1100" u="none" strike="noStrike">
                          <a:effectLst/>
                        </a:rPr>
                        <a:t>10:00-11:00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b">
                        <a:buNone/>
                      </a:pPr>
                      <a:r>
                        <a:rPr lang="pl-PL" sz="1100" u="none" strike="noStrike">
                          <a:effectLst/>
                        </a:rPr>
                        <a:t> </a:t>
                      </a:r>
                      <a:endParaRPr lang="pl-PL" sz="1100" b="0" i="0" u="none" strike="noStrike">
                        <a:solidFill>
                          <a:srgbClr val="000000"/>
                        </a:solidFill>
                        <a:effectLst/>
                        <a:latin typeface="Aptos Narrow" panose="020B0004020202020204" pitchFamily="34" charset="0"/>
                      </a:endParaRPr>
                    </a:p>
                  </a:txBody>
                  <a:tcPr marL="6350" marR="6350" marT="6350" marB="0" anchor="b"/>
                </a:tc>
                <a:tc>
                  <a:txBody>
                    <a:bodyPr/>
                    <a:lstStyle/>
                    <a:p>
                      <a:pPr algn="r" fontAlgn="ctr">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26767881"/>
                  </a:ext>
                </a:extLst>
              </a:tr>
            </a:tbl>
          </a:graphicData>
        </a:graphic>
      </p:graphicFrame>
    </p:spTree>
    <p:extLst>
      <p:ext uri="{BB962C8B-B14F-4D97-AF65-F5344CB8AC3E}">
        <p14:creationId xmlns:p14="http://schemas.microsoft.com/office/powerpoint/2010/main" val="5113948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3EEE3-4AC5-1FE1-E48C-3798EEBAC426}"/>
            </a:ext>
          </a:extLst>
        </p:cNvPr>
        <p:cNvGrpSpPr/>
        <p:nvPr/>
      </p:nvGrpSpPr>
      <p:grpSpPr>
        <a:xfrm>
          <a:off x="0" y="0"/>
          <a:ext cx="0" cy="0"/>
          <a:chOff x="0" y="0"/>
          <a:chExt cx="0" cy="0"/>
        </a:xfrm>
      </p:grpSpPr>
      <p:sp>
        <p:nvSpPr>
          <p:cNvPr id="28" name="Prostokąt 27">
            <a:extLst>
              <a:ext uri="{FF2B5EF4-FFF2-40B4-BE49-F238E27FC236}">
                <a16:creationId xmlns:a16="http://schemas.microsoft.com/office/drawing/2014/main" id="{0CF2FB93-48EB-56B2-A107-1CB7D16CF76F}"/>
              </a:ext>
            </a:extLst>
          </p:cNvPr>
          <p:cNvSpPr/>
          <p:nvPr/>
        </p:nvSpPr>
        <p:spPr>
          <a:xfrm>
            <a:off x="7152383" y="3466991"/>
            <a:ext cx="2524610" cy="2438423"/>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GB"/>
          </a:p>
        </p:txBody>
      </p:sp>
      <p:sp>
        <p:nvSpPr>
          <p:cNvPr id="27" name="Prostokąt 26">
            <a:extLst>
              <a:ext uri="{FF2B5EF4-FFF2-40B4-BE49-F238E27FC236}">
                <a16:creationId xmlns:a16="http://schemas.microsoft.com/office/drawing/2014/main" id="{AD52224E-903C-97D3-2B8E-827C68EFF3FB}"/>
              </a:ext>
            </a:extLst>
          </p:cNvPr>
          <p:cNvSpPr/>
          <p:nvPr/>
        </p:nvSpPr>
        <p:spPr>
          <a:xfrm>
            <a:off x="7144539" y="1044465"/>
            <a:ext cx="2524610" cy="2438423"/>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en-GB"/>
          </a:p>
        </p:txBody>
      </p:sp>
      <p:sp>
        <p:nvSpPr>
          <p:cNvPr id="26" name="Prostokąt 25">
            <a:extLst>
              <a:ext uri="{FF2B5EF4-FFF2-40B4-BE49-F238E27FC236}">
                <a16:creationId xmlns:a16="http://schemas.microsoft.com/office/drawing/2014/main" id="{4EB77FD9-0365-5392-73FA-4D4CB5D72286}"/>
              </a:ext>
            </a:extLst>
          </p:cNvPr>
          <p:cNvSpPr/>
          <p:nvPr/>
        </p:nvSpPr>
        <p:spPr>
          <a:xfrm>
            <a:off x="1135458" y="916543"/>
            <a:ext cx="5955824" cy="486094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GB"/>
          </a:p>
        </p:txBody>
      </p:sp>
      <p:sp>
        <p:nvSpPr>
          <p:cNvPr id="2" name="Tytuł 1">
            <a:extLst>
              <a:ext uri="{FF2B5EF4-FFF2-40B4-BE49-F238E27FC236}">
                <a16:creationId xmlns:a16="http://schemas.microsoft.com/office/drawing/2014/main" id="{60A2F6C9-90B2-46E5-B845-38051110BCCF}"/>
              </a:ext>
            </a:extLst>
          </p:cNvPr>
          <p:cNvSpPr>
            <a:spLocks noGrp="1"/>
          </p:cNvSpPr>
          <p:nvPr>
            <p:ph type="title"/>
          </p:nvPr>
        </p:nvSpPr>
        <p:spPr/>
        <p:txBody>
          <a:bodyPr/>
          <a:lstStyle/>
          <a:p>
            <a:r>
              <a:rPr lang="en-GB" noProof="0"/>
              <a:t>WP5 – </a:t>
            </a:r>
            <a:r>
              <a:rPr lang="pl-PL" noProof="0"/>
              <a:t>third </a:t>
            </a:r>
            <a:r>
              <a:rPr lang="pl-PL" noProof="0" err="1"/>
              <a:t>proposition</a:t>
            </a:r>
            <a:endParaRPr lang="en-GB" noProof="0"/>
          </a:p>
        </p:txBody>
      </p:sp>
      <p:sp>
        <p:nvSpPr>
          <p:cNvPr id="8" name="Prostokąt: zaokrąglone rogi 7">
            <a:extLst>
              <a:ext uri="{FF2B5EF4-FFF2-40B4-BE49-F238E27FC236}">
                <a16:creationId xmlns:a16="http://schemas.microsoft.com/office/drawing/2014/main" id="{5E262F95-1975-32F6-E3A3-2B6CCF26201B}"/>
              </a:ext>
            </a:extLst>
          </p:cNvPr>
          <p:cNvSpPr/>
          <p:nvPr/>
        </p:nvSpPr>
        <p:spPr>
          <a:xfrm>
            <a:off x="5880482" y="2490842"/>
            <a:ext cx="1434517" cy="21098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noProof="0"/>
              <a:t>Trading manager</a:t>
            </a:r>
          </a:p>
          <a:p>
            <a:pPr algn="ctr"/>
            <a:r>
              <a:rPr lang="en-GB" noProof="0"/>
              <a:t>(quantization</a:t>
            </a:r>
          </a:p>
          <a:p>
            <a:pPr algn="ctr"/>
            <a:r>
              <a:rPr lang="en-GB" noProof="0" err="1"/>
              <a:t>proccess</a:t>
            </a:r>
            <a:r>
              <a:rPr lang="en-GB" noProof="0"/>
              <a:t> depends on market) </a:t>
            </a:r>
          </a:p>
        </p:txBody>
      </p:sp>
      <p:sp>
        <p:nvSpPr>
          <p:cNvPr id="9" name="Prostokąt: zaokrąglone rogi 8">
            <a:extLst>
              <a:ext uri="{FF2B5EF4-FFF2-40B4-BE49-F238E27FC236}">
                <a16:creationId xmlns:a16="http://schemas.microsoft.com/office/drawing/2014/main" id="{776332CA-B1E2-D0E8-99D7-90DB80ED72D4}"/>
              </a:ext>
            </a:extLst>
          </p:cNvPr>
          <p:cNvSpPr/>
          <p:nvPr/>
        </p:nvSpPr>
        <p:spPr>
          <a:xfrm>
            <a:off x="10418644" y="1521386"/>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err="1"/>
              <a:t>ToU</a:t>
            </a:r>
            <a:r>
              <a:rPr lang="en-GB"/>
              <a:t> market</a:t>
            </a:r>
          </a:p>
        </p:txBody>
      </p:sp>
      <p:sp>
        <p:nvSpPr>
          <p:cNvPr id="10" name="Prostokąt: zaokrąglone rogi 9">
            <a:extLst>
              <a:ext uri="{FF2B5EF4-FFF2-40B4-BE49-F238E27FC236}">
                <a16:creationId xmlns:a16="http://schemas.microsoft.com/office/drawing/2014/main" id="{1FCD9925-2078-A9D0-41CE-5D2DB6E36A2E}"/>
              </a:ext>
            </a:extLst>
          </p:cNvPr>
          <p:cNvSpPr/>
          <p:nvPr/>
        </p:nvSpPr>
        <p:spPr>
          <a:xfrm>
            <a:off x="10418644" y="2977628"/>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Capacity market</a:t>
            </a:r>
          </a:p>
        </p:txBody>
      </p:sp>
      <p:sp>
        <p:nvSpPr>
          <p:cNvPr id="11" name="Prostokąt: zaokrąglone rogi 10">
            <a:extLst>
              <a:ext uri="{FF2B5EF4-FFF2-40B4-BE49-F238E27FC236}">
                <a16:creationId xmlns:a16="http://schemas.microsoft.com/office/drawing/2014/main" id="{08EE7A4B-5D1F-12BF-07AE-CA96130877C7}"/>
              </a:ext>
            </a:extLst>
          </p:cNvPr>
          <p:cNvSpPr/>
          <p:nvPr/>
        </p:nvSpPr>
        <p:spPr>
          <a:xfrm>
            <a:off x="10418644" y="4433870"/>
            <a:ext cx="1487648" cy="90274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Intraday optimization market</a:t>
            </a:r>
          </a:p>
        </p:txBody>
      </p:sp>
      <p:sp>
        <p:nvSpPr>
          <p:cNvPr id="12" name="Prostokąt: zaokrąglone rogi 11">
            <a:extLst>
              <a:ext uri="{FF2B5EF4-FFF2-40B4-BE49-F238E27FC236}">
                <a16:creationId xmlns:a16="http://schemas.microsoft.com/office/drawing/2014/main" id="{8538A4A0-F0C8-8DDF-2E08-FF60BB3031E5}"/>
              </a:ext>
            </a:extLst>
          </p:cNvPr>
          <p:cNvSpPr/>
          <p:nvPr/>
        </p:nvSpPr>
        <p:spPr>
          <a:xfrm>
            <a:off x="151822" y="2331925"/>
            <a:ext cx="1434517" cy="210983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a:t>Flexibility manager</a:t>
            </a:r>
          </a:p>
        </p:txBody>
      </p:sp>
      <p:cxnSp>
        <p:nvCxnSpPr>
          <p:cNvPr id="13" name="Łącznik prosty ze strzałką 12">
            <a:extLst>
              <a:ext uri="{FF2B5EF4-FFF2-40B4-BE49-F238E27FC236}">
                <a16:creationId xmlns:a16="http://schemas.microsoft.com/office/drawing/2014/main" id="{CB6B0A43-C340-54D6-331E-FEEA866A2419}"/>
              </a:ext>
            </a:extLst>
          </p:cNvPr>
          <p:cNvCxnSpPr>
            <a:cxnSpLocks/>
          </p:cNvCxnSpPr>
          <p:nvPr/>
        </p:nvCxnSpPr>
        <p:spPr>
          <a:xfrm>
            <a:off x="1856819" y="3053819"/>
            <a:ext cx="3767605"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Łącznik prosty ze strzałką 13">
            <a:extLst>
              <a:ext uri="{FF2B5EF4-FFF2-40B4-BE49-F238E27FC236}">
                <a16:creationId xmlns:a16="http://schemas.microsoft.com/office/drawing/2014/main" id="{659F231E-D313-6181-82BF-6127920A9E23}"/>
              </a:ext>
            </a:extLst>
          </p:cNvPr>
          <p:cNvCxnSpPr>
            <a:cxnSpLocks/>
          </p:cNvCxnSpPr>
          <p:nvPr/>
        </p:nvCxnSpPr>
        <p:spPr>
          <a:xfrm flipH="1">
            <a:off x="1877670" y="3779776"/>
            <a:ext cx="3710151" cy="0"/>
          </a:xfrm>
          <a:prstGeom prst="straightConnector1">
            <a:avLst/>
          </a:prstGeom>
          <a:ln w="508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pole tekstowe 14">
            <a:extLst>
              <a:ext uri="{FF2B5EF4-FFF2-40B4-BE49-F238E27FC236}">
                <a16:creationId xmlns:a16="http://schemas.microsoft.com/office/drawing/2014/main" id="{6EB7AD51-6656-D515-170B-9C512A46BB71}"/>
              </a:ext>
            </a:extLst>
          </p:cNvPr>
          <p:cNvSpPr txBox="1"/>
          <p:nvPr/>
        </p:nvSpPr>
        <p:spPr>
          <a:xfrm>
            <a:off x="3201990" y="3546070"/>
            <a:ext cx="1061509" cy="246221"/>
          </a:xfrm>
          <a:prstGeom prst="rect">
            <a:avLst/>
          </a:prstGeom>
          <a:noFill/>
        </p:spPr>
        <p:txBody>
          <a:bodyPr wrap="none" rtlCol="0">
            <a:spAutoFit/>
          </a:bodyPr>
          <a:lstStyle/>
          <a:p>
            <a:r>
              <a:rPr lang="en-GB" sz="1000"/>
              <a:t>Selected option</a:t>
            </a:r>
          </a:p>
        </p:txBody>
      </p:sp>
      <p:cxnSp>
        <p:nvCxnSpPr>
          <p:cNvPr id="18" name="Łącznik prosty ze strzałką 17">
            <a:extLst>
              <a:ext uri="{FF2B5EF4-FFF2-40B4-BE49-F238E27FC236}">
                <a16:creationId xmlns:a16="http://schemas.microsoft.com/office/drawing/2014/main" id="{50E12580-57DA-251C-F059-8ED12ABF1E4D}"/>
              </a:ext>
            </a:extLst>
          </p:cNvPr>
          <p:cNvCxnSpPr>
            <a:cxnSpLocks/>
            <a:endCxn id="9" idx="1"/>
          </p:cNvCxnSpPr>
          <p:nvPr/>
        </p:nvCxnSpPr>
        <p:spPr>
          <a:xfrm flipV="1">
            <a:off x="7417157" y="1972758"/>
            <a:ext cx="3001487" cy="850026"/>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Łącznik prosty ze strzałką 18">
            <a:extLst>
              <a:ext uri="{FF2B5EF4-FFF2-40B4-BE49-F238E27FC236}">
                <a16:creationId xmlns:a16="http://schemas.microsoft.com/office/drawing/2014/main" id="{D3E604DE-41FC-811B-729A-44403356369D}"/>
              </a:ext>
            </a:extLst>
          </p:cNvPr>
          <p:cNvCxnSpPr>
            <a:cxnSpLocks/>
            <a:endCxn id="11" idx="1"/>
          </p:cNvCxnSpPr>
          <p:nvPr/>
        </p:nvCxnSpPr>
        <p:spPr>
          <a:xfrm>
            <a:off x="7431579" y="3007615"/>
            <a:ext cx="2987065" cy="1877627"/>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Łącznik prosty ze strzałką 19">
            <a:extLst>
              <a:ext uri="{FF2B5EF4-FFF2-40B4-BE49-F238E27FC236}">
                <a16:creationId xmlns:a16="http://schemas.microsoft.com/office/drawing/2014/main" id="{62FD49D1-144B-913D-0711-58E37A074E1C}"/>
              </a:ext>
            </a:extLst>
          </p:cNvPr>
          <p:cNvCxnSpPr>
            <a:cxnSpLocks/>
            <a:endCxn id="10" idx="1"/>
          </p:cNvCxnSpPr>
          <p:nvPr/>
        </p:nvCxnSpPr>
        <p:spPr>
          <a:xfrm>
            <a:off x="7417157" y="2913297"/>
            <a:ext cx="3001487" cy="515703"/>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2" name="pole tekstowe 21">
            <a:extLst>
              <a:ext uri="{FF2B5EF4-FFF2-40B4-BE49-F238E27FC236}">
                <a16:creationId xmlns:a16="http://schemas.microsoft.com/office/drawing/2014/main" id="{6112354C-2909-321A-FEA6-0DA00771F8F0}"/>
              </a:ext>
            </a:extLst>
          </p:cNvPr>
          <p:cNvSpPr txBox="1"/>
          <p:nvPr/>
        </p:nvSpPr>
        <p:spPr>
          <a:xfrm>
            <a:off x="6484831" y="1424119"/>
            <a:ext cx="629981" cy="338554"/>
          </a:xfrm>
          <a:prstGeom prst="rect">
            <a:avLst/>
          </a:prstGeom>
          <a:noFill/>
        </p:spPr>
        <p:txBody>
          <a:bodyPr wrap="none" rtlCol="0">
            <a:spAutoFit/>
          </a:bodyPr>
          <a:lstStyle/>
          <a:p>
            <a:r>
              <a:rPr lang="en-GB"/>
              <a:t>T.5.3</a:t>
            </a:r>
          </a:p>
        </p:txBody>
      </p:sp>
      <p:sp>
        <p:nvSpPr>
          <p:cNvPr id="23" name="pole tekstowe 22">
            <a:extLst>
              <a:ext uri="{FF2B5EF4-FFF2-40B4-BE49-F238E27FC236}">
                <a16:creationId xmlns:a16="http://schemas.microsoft.com/office/drawing/2014/main" id="{0ABBB1AD-2D4D-3229-66A5-93507708CC9F}"/>
              </a:ext>
            </a:extLst>
          </p:cNvPr>
          <p:cNvSpPr txBox="1"/>
          <p:nvPr/>
        </p:nvSpPr>
        <p:spPr>
          <a:xfrm>
            <a:off x="7124496" y="1081962"/>
            <a:ext cx="2342503" cy="1077218"/>
          </a:xfrm>
          <a:prstGeom prst="rect">
            <a:avLst/>
          </a:prstGeom>
          <a:noFill/>
        </p:spPr>
        <p:txBody>
          <a:bodyPr wrap="square" rtlCol="0">
            <a:spAutoFit/>
          </a:bodyPr>
          <a:lstStyle/>
          <a:p>
            <a:r>
              <a:rPr lang="en-GB"/>
              <a:t>T.5.1</a:t>
            </a:r>
          </a:p>
          <a:p>
            <a:r>
              <a:rPr lang="en-GB"/>
              <a:t>for pilots that do not yet have a connection to energy markets</a:t>
            </a:r>
          </a:p>
        </p:txBody>
      </p:sp>
      <p:sp>
        <p:nvSpPr>
          <p:cNvPr id="25" name="pole tekstowe 24">
            <a:extLst>
              <a:ext uri="{FF2B5EF4-FFF2-40B4-BE49-F238E27FC236}">
                <a16:creationId xmlns:a16="http://schemas.microsoft.com/office/drawing/2014/main" id="{67FA6BBA-CFCA-C7AD-F24F-B6A00ADF2C6A}"/>
              </a:ext>
            </a:extLst>
          </p:cNvPr>
          <p:cNvSpPr txBox="1"/>
          <p:nvPr/>
        </p:nvSpPr>
        <p:spPr>
          <a:xfrm>
            <a:off x="7179975" y="4835956"/>
            <a:ext cx="2492953" cy="1077218"/>
          </a:xfrm>
          <a:prstGeom prst="rect">
            <a:avLst/>
          </a:prstGeom>
          <a:noFill/>
        </p:spPr>
        <p:txBody>
          <a:bodyPr wrap="square" rtlCol="0">
            <a:spAutoFit/>
          </a:bodyPr>
          <a:lstStyle/>
          <a:p>
            <a:r>
              <a:rPr lang="en-GB"/>
              <a:t>T.5.2</a:t>
            </a:r>
          </a:p>
          <a:p>
            <a:r>
              <a:rPr lang="pl-PL"/>
              <a:t>f</a:t>
            </a:r>
            <a:r>
              <a:rPr lang="en-GB"/>
              <a:t>or pilots which already have a connection to energy markets</a:t>
            </a:r>
          </a:p>
        </p:txBody>
      </p:sp>
      <p:cxnSp>
        <p:nvCxnSpPr>
          <p:cNvPr id="36" name="Łącznik prosty ze strzałką 35">
            <a:extLst>
              <a:ext uri="{FF2B5EF4-FFF2-40B4-BE49-F238E27FC236}">
                <a16:creationId xmlns:a16="http://schemas.microsoft.com/office/drawing/2014/main" id="{70DD4F1C-BD47-2F67-4380-B04666296E20}"/>
              </a:ext>
            </a:extLst>
          </p:cNvPr>
          <p:cNvCxnSpPr>
            <a:cxnSpLocks/>
            <a:endCxn id="9" idx="1"/>
          </p:cNvCxnSpPr>
          <p:nvPr/>
        </p:nvCxnSpPr>
        <p:spPr>
          <a:xfrm flipV="1">
            <a:off x="7342886" y="1972758"/>
            <a:ext cx="3075758" cy="1864914"/>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Łącznik prosty ze strzałką 37">
            <a:extLst>
              <a:ext uri="{FF2B5EF4-FFF2-40B4-BE49-F238E27FC236}">
                <a16:creationId xmlns:a16="http://schemas.microsoft.com/office/drawing/2014/main" id="{AE9920C5-8AD6-AE32-1B9E-8A6FC3C78C32}"/>
              </a:ext>
            </a:extLst>
          </p:cNvPr>
          <p:cNvCxnSpPr>
            <a:cxnSpLocks/>
            <a:endCxn id="10" idx="1"/>
          </p:cNvCxnSpPr>
          <p:nvPr/>
        </p:nvCxnSpPr>
        <p:spPr>
          <a:xfrm flipV="1">
            <a:off x="7351271" y="3429000"/>
            <a:ext cx="3067373" cy="53989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Łącznik prosty ze strzałką 39">
            <a:extLst>
              <a:ext uri="{FF2B5EF4-FFF2-40B4-BE49-F238E27FC236}">
                <a16:creationId xmlns:a16="http://schemas.microsoft.com/office/drawing/2014/main" id="{BB529AF9-710F-7F3A-88F9-1355C6696649}"/>
              </a:ext>
            </a:extLst>
          </p:cNvPr>
          <p:cNvCxnSpPr>
            <a:cxnSpLocks/>
            <a:stCxn id="11" idx="1"/>
          </p:cNvCxnSpPr>
          <p:nvPr/>
        </p:nvCxnSpPr>
        <p:spPr>
          <a:xfrm flipH="1" flipV="1">
            <a:off x="7376100" y="4098391"/>
            <a:ext cx="3042544" cy="786851"/>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aphicFrame>
        <p:nvGraphicFramePr>
          <p:cNvPr id="4" name="Tabela 3">
            <a:extLst>
              <a:ext uri="{FF2B5EF4-FFF2-40B4-BE49-F238E27FC236}">
                <a16:creationId xmlns:a16="http://schemas.microsoft.com/office/drawing/2014/main" id="{655D09D1-7589-0E52-2002-8C004F11AED5}"/>
              </a:ext>
            </a:extLst>
          </p:cNvPr>
          <p:cNvGraphicFramePr>
            <a:graphicFrameLocks noGrp="1"/>
          </p:cNvGraphicFramePr>
          <p:nvPr>
            <p:extLst>
              <p:ext uri="{D42A27DB-BD31-4B8C-83A1-F6EECF244321}">
                <p14:modId xmlns:p14="http://schemas.microsoft.com/office/powerpoint/2010/main" val="3067338910"/>
              </p:ext>
            </p:extLst>
          </p:nvPr>
        </p:nvGraphicFramePr>
        <p:xfrm>
          <a:off x="1565992" y="1945391"/>
          <a:ext cx="4809009" cy="496967"/>
        </p:xfrm>
        <a:graphic>
          <a:graphicData uri="http://schemas.openxmlformats.org/drawingml/2006/table">
            <a:tbl>
              <a:tblPr>
                <a:tableStyleId>{5C22544A-7EE6-4342-B048-85BDC9FD1C3A}</a:tableStyleId>
              </a:tblPr>
              <a:tblGrid>
                <a:gridCol w="687001">
                  <a:extLst>
                    <a:ext uri="{9D8B030D-6E8A-4147-A177-3AD203B41FA5}">
                      <a16:colId xmlns:a16="http://schemas.microsoft.com/office/drawing/2014/main" val="2236259121"/>
                    </a:ext>
                  </a:extLst>
                </a:gridCol>
                <a:gridCol w="1252767">
                  <a:extLst>
                    <a:ext uri="{9D8B030D-6E8A-4147-A177-3AD203B41FA5}">
                      <a16:colId xmlns:a16="http://schemas.microsoft.com/office/drawing/2014/main" val="4132221658"/>
                    </a:ext>
                  </a:extLst>
                </a:gridCol>
                <a:gridCol w="1387473">
                  <a:extLst>
                    <a:ext uri="{9D8B030D-6E8A-4147-A177-3AD203B41FA5}">
                      <a16:colId xmlns:a16="http://schemas.microsoft.com/office/drawing/2014/main" val="191846299"/>
                    </a:ext>
                  </a:extLst>
                </a:gridCol>
                <a:gridCol w="1481768">
                  <a:extLst>
                    <a:ext uri="{9D8B030D-6E8A-4147-A177-3AD203B41FA5}">
                      <a16:colId xmlns:a16="http://schemas.microsoft.com/office/drawing/2014/main" val="265481811"/>
                    </a:ext>
                  </a:extLst>
                </a:gridCol>
              </a:tblGrid>
              <a:tr h="253373">
                <a:tc>
                  <a:txBody>
                    <a:bodyPr/>
                    <a:lstStyle/>
                    <a:p>
                      <a:pPr algn="ctr" fontAlgn="b">
                        <a:buNone/>
                      </a:pPr>
                      <a:r>
                        <a:rPr lang="pl-PL" sz="1100" u="none" strike="noStrike">
                          <a:effectLst/>
                        </a:rPr>
                        <a:t>Time unit</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err="1">
                          <a:effectLst/>
                        </a:rPr>
                        <a:t>Production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Consumption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Add cost</a:t>
                      </a:r>
                      <a:endParaRPr lang="pl-PL" sz="11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2135913278"/>
                  </a:ext>
                </a:extLst>
              </a:tr>
              <a:tr h="243594">
                <a:tc>
                  <a:txBody>
                    <a:bodyPr/>
                    <a:lstStyle/>
                    <a:p>
                      <a:pPr algn="ctr" fontAlgn="ctr">
                        <a:buNone/>
                      </a:pPr>
                      <a:r>
                        <a:rPr lang="pl-PL" sz="1100" u="none" strike="noStrike">
                          <a:effectLst/>
                        </a:rPr>
                        <a:t>8:00-16:00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production function</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consumption function</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additional </a:t>
                      </a:r>
                      <a:r>
                        <a:rPr lang="pl-PL" sz="1100" u="none" strike="noStrike" err="1">
                          <a:effectLst/>
                        </a:rPr>
                        <a:t>cost</a:t>
                      </a:r>
                      <a:r>
                        <a:rPr lang="pl-PL" sz="1100" u="none" strike="noStrike">
                          <a:effectLst/>
                        </a:rPr>
                        <a:t> function</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197426393"/>
                  </a:ext>
                </a:extLst>
              </a:tr>
            </a:tbl>
          </a:graphicData>
        </a:graphic>
      </p:graphicFrame>
      <p:graphicFrame>
        <p:nvGraphicFramePr>
          <p:cNvPr id="17" name="Tabela 16">
            <a:extLst>
              <a:ext uri="{FF2B5EF4-FFF2-40B4-BE49-F238E27FC236}">
                <a16:creationId xmlns:a16="http://schemas.microsoft.com/office/drawing/2014/main" id="{8657DD84-D250-1243-DB6E-483977A8A663}"/>
              </a:ext>
            </a:extLst>
          </p:cNvPr>
          <p:cNvGraphicFramePr>
            <a:graphicFrameLocks noGrp="1"/>
          </p:cNvGraphicFramePr>
          <p:nvPr>
            <p:extLst>
              <p:ext uri="{D42A27DB-BD31-4B8C-83A1-F6EECF244321}">
                <p14:modId xmlns:p14="http://schemas.microsoft.com/office/powerpoint/2010/main" val="2975739222"/>
              </p:ext>
            </p:extLst>
          </p:nvPr>
        </p:nvGraphicFramePr>
        <p:xfrm>
          <a:off x="1773356" y="3992187"/>
          <a:ext cx="4000500" cy="1572895"/>
        </p:xfrm>
        <a:graphic>
          <a:graphicData uri="http://schemas.openxmlformats.org/drawingml/2006/table">
            <a:tbl>
              <a:tblPr>
                <a:tableStyleId>{5C22544A-7EE6-4342-B048-85BDC9FD1C3A}</a:tableStyleId>
              </a:tblPr>
              <a:tblGrid>
                <a:gridCol w="1028700">
                  <a:extLst>
                    <a:ext uri="{9D8B030D-6E8A-4147-A177-3AD203B41FA5}">
                      <a16:colId xmlns:a16="http://schemas.microsoft.com/office/drawing/2014/main" val="1406233039"/>
                    </a:ext>
                  </a:extLst>
                </a:gridCol>
                <a:gridCol w="1066800">
                  <a:extLst>
                    <a:ext uri="{9D8B030D-6E8A-4147-A177-3AD203B41FA5}">
                      <a16:colId xmlns:a16="http://schemas.microsoft.com/office/drawing/2014/main" val="1049876262"/>
                    </a:ext>
                  </a:extLst>
                </a:gridCol>
                <a:gridCol w="990600">
                  <a:extLst>
                    <a:ext uri="{9D8B030D-6E8A-4147-A177-3AD203B41FA5}">
                      <a16:colId xmlns:a16="http://schemas.microsoft.com/office/drawing/2014/main" val="2750503306"/>
                    </a:ext>
                  </a:extLst>
                </a:gridCol>
                <a:gridCol w="914400">
                  <a:extLst>
                    <a:ext uri="{9D8B030D-6E8A-4147-A177-3AD203B41FA5}">
                      <a16:colId xmlns:a16="http://schemas.microsoft.com/office/drawing/2014/main" val="1988096498"/>
                    </a:ext>
                  </a:extLst>
                </a:gridCol>
              </a:tblGrid>
              <a:tr h="180975">
                <a:tc>
                  <a:txBody>
                    <a:bodyPr/>
                    <a:lstStyle/>
                    <a:p>
                      <a:pPr algn="ctr" fontAlgn="b">
                        <a:buNone/>
                      </a:pPr>
                      <a:r>
                        <a:rPr lang="pl-PL" sz="1100" u="none" strike="noStrike">
                          <a:effectLst/>
                        </a:rPr>
                        <a:t>Time unit</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Production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Consumption</a:t>
                      </a:r>
                      <a:endParaRPr lang="pl-PL" sz="1100" b="1" i="0" u="none" strike="noStrike">
                        <a:solidFill>
                          <a:srgbClr val="000000"/>
                        </a:solidFill>
                        <a:effectLst/>
                        <a:latin typeface="Aptos Narrow" panose="020B0004020202020204" pitchFamily="34" charset="0"/>
                      </a:endParaRPr>
                    </a:p>
                  </a:txBody>
                  <a:tcPr marL="6350" marR="6350" marT="6350" marB="0" anchor="b"/>
                </a:tc>
                <a:tc>
                  <a:txBody>
                    <a:bodyPr/>
                    <a:lstStyle/>
                    <a:p>
                      <a:pPr algn="ctr" fontAlgn="b">
                        <a:buNone/>
                      </a:pPr>
                      <a:r>
                        <a:rPr lang="pl-PL" sz="1100" u="none" strike="noStrike">
                          <a:effectLst/>
                        </a:rPr>
                        <a:t>Add cost</a:t>
                      </a:r>
                      <a:endParaRPr lang="pl-PL" sz="1100" b="1" i="0" u="none" strike="noStrike">
                        <a:solidFill>
                          <a:srgbClr val="000000"/>
                        </a:solidFill>
                        <a:effectLst/>
                        <a:latin typeface="Aptos Narrow" panose="020B0004020202020204" pitchFamily="34" charset="0"/>
                      </a:endParaRPr>
                    </a:p>
                  </a:txBody>
                  <a:tcPr marL="6350" marR="6350" marT="6350" marB="0" anchor="b"/>
                </a:tc>
                <a:extLst>
                  <a:ext uri="{0D108BD9-81ED-4DB2-BD59-A6C34878D82A}">
                    <a16:rowId xmlns:a16="http://schemas.microsoft.com/office/drawing/2014/main" val="1993544112"/>
                  </a:ext>
                </a:extLst>
              </a:tr>
              <a:tr h="0">
                <a:tc>
                  <a:txBody>
                    <a:bodyPr/>
                    <a:lstStyle/>
                    <a:p>
                      <a:pPr algn="ctr" fontAlgn="ctr">
                        <a:buNone/>
                      </a:pPr>
                      <a:r>
                        <a:rPr lang="pl-PL" sz="1100" u="none" strike="noStrike">
                          <a:effectLst/>
                        </a:rPr>
                        <a:t>8:00-9:00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300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213852710"/>
                  </a:ext>
                </a:extLst>
              </a:tr>
              <a:tr h="0">
                <a:tc>
                  <a:txBody>
                    <a:bodyPr/>
                    <a:lstStyle/>
                    <a:p>
                      <a:pPr algn="ctr" fontAlgn="ctr">
                        <a:buNone/>
                      </a:pPr>
                      <a:r>
                        <a:rPr lang="pl-PL" sz="1100" u="none" strike="noStrike">
                          <a:effectLst/>
                        </a:rPr>
                        <a:t>9:00-10:00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200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400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01501070"/>
                  </a:ext>
                </a:extLst>
              </a:tr>
              <a:tr h="0">
                <a:tc>
                  <a:txBody>
                    <a:bodyPr/>
                    <a:lstStyle/>
                    <a:p>
                      <a:pPr algn="ctr" fontAlgn="ctr">
                        <a:buNone/>
                      </a:pPr>
                      <a:r>
                        <a:rPr lang="pl-PL" sz="1100" u="none" strike="noStrike">
                          <a:effectLst/>
                        </a:rPr>
                        <a:t>10:00-11:00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532356780"/>
                  </a:ext>
                </a:extLst>
              </a:tr>
              <a:tr h="0">
                <a:tc>
                  <a:txBody>
                    <a:bodyPr/>
                    <a:lstStyle/>
                    <a:p>
                      <a:pPr algn="ctr" fontAlgn="ctr">
                        <a:buNone/>
                      </a:pPr>
                      <a:r>
                        <a:rPr lang="pl-PL" sz="1100" u="none" strike="noStrike">
                          <a:effectLst/>
                        </a:rPr>
                        <a:t>11:00-12:00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300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290572673"/>
                  </a:ext>
                </a:extLst>
              </a:tr>
              <a:tr h="0">
                <a:tc>
                  <a:txBody>
                    <a:bodyPr/>
                    <a:lstStyle/>
                    <a:p>
                      <a:pPr algn="ctr" fontAlgn="ctr">
                        <a:buNone/>
                      </a:pPr>
                      <a:r>
                        <a:rPr lang="pl-PL" sz="1100" u="none" strike="noStrike">
                          <a:effectLst/>
                        </a:rPr>
                        <a:t>12:00-13:00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200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400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267761561"/>
                  </a:ext>
                </a:extLst>
              </a:tr>
              <a:tr h="0">
                <a:tc>
                  <a:txBody>
                    <a:bodyPr/>
                    <a:lstStyle/>
                    <a:p>
                      <a:pPr algn="ctr" fontAlgn="ctr">
                        <a:buNone/>
                      </a:pPr>
                      <a:r>
                        <a:rPr lang="pl-PL" sz="1100" u="none" strike="noStrike">
                          <a:effectLst/>
                        </a:rPr>
                        <a:t>13:00-14:00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1532726989"/>
                  </a:ext>
                </a:extLst>
              </a:tr>
              <a:tr h="0">
                <a:tc>
                  <a:txBody>
                    <a:bodyPr/>
                    <a:lstStyle/>
                    <a:p>
                      <a:pPr algn="ctr" fontAlgn="ctr">
                        <a:buNone/>
                      </a:pPr>
                      <a:r>
                        <a:rPr lang="pl-PL" sz="1100" u="none" strike="noStrike">
                          <a:effectLst/>
                        </a:rPr>
                        <a:t>14:00-15:00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500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100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300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3426521629"/>
                  </a:ext>
                </a:extLst>
              </a:tr>
              <a:tr h="0">
                <a:tc>
                  <a:txBody>
                    <a:bodyPr/>
                    <a:lstStyle/>
                    <a:p>
                      <a:pPr algn="ctr" fontAlgn="ctr">
                        <a:buNone/>
                      </a:pPr>
                      <a:r>
                        <a:rPr lang="pl-PL" sz="1100" u="none" strike="noStrike">
                          <a:effectLst/>
                        </a:rPr>
                        <a:t>15:00-16:00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900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r" fontAlgn="ctr">
                        <a:buNone/>
                      </a:pPr>
                      <a:r>
                        <a:rPr lang="pl-PL" sz="1100" u="none" strike="noStrike">
                          <a:effectLst/>
                        </a:rPr>
                        <a:t>200</a:t>
                      </a:r>
                      <a:endParaRPr lang="pl-PL" sz="1100" b="0" i="0" u="none" strike="noStrike">
                        <a:solidFill>
                          <a:srgbClr val="000000"/>
                        </a:solidFill>
                        <a:effectLst/>
                        <a:latin typeface="Aptos Narrow" panose="020B0004020202020204" pitchFamily="34" charset="0"/>
                      </a:endParaRPr>
                    </a:p>
                  </a:txBody>
                  <a:tcPr marL="6350" marR="6350" marT="6350" marB="0" anchor="ctr"/>
                </a:tc>
                <a:tc>
                  <a:txBody>
                    <a:bodyPr/>
                    <a:lstStyle/>
                    <a:p>
                      <a:pPr algn="ctr" fontAlgn="ctr">
                        <a:buNone/>
                      </a:pPr>
                      <a:r>
                        <a:rPr lang="pl-PL" sz="1100" u="none" strike="noStrike">
                          <a:effectLst/>
                        </a:rPr>
                        <a:t>400</a:t>
                      </a:r>
                      <a:endParaRPr lang="pl-PL" sz="1100" b="0" i="0" u="none" strike="noStrike">
                        <a:solidFill>
                          <a:srgbClr val="000000"/>
                        </a:solidFill>
                        <a:effectLst/>
                        <a:latin typeface="Aptos Narrow" panose="020B0004020202020204" pitchFamily="34" charset="0"/>
                      </a:endParaRPr>
                    </a:p>
                  </a:txBody>
                  <a:tcPr marL="6350" marR="6350" marT="6350" marB="0" anchor="ctr"/>
                </a:tc>
                <a:extLst>
                  <a:ext uri="{0D108BD9-81ED-4DB2-BD59-A6C34878D82A}">
                    <a16:rowId xmlns:a16="http://schemas.microsoft.com/office/drawing/2014/main" val="4000173108"/>
                  </a:ext>
                </a:extLst>
              </a:tr>
            </a:tbl>
          </a:graphicData>
        </a:graphic>
      </p:graphicFrame>
    </p:spTree>
    <p:extLst>
      <p:ext uri="{BB962C8B-B14F-4D97-AF65-F5344CB8AC3E}">
        <p14:creationId xmlns:p14="http://schemas.microsoft.com/office/powerpoint/2010/main" val="1018012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86AC56-96FD-8B79-7EBF-B474D3F7EDD3}"/>
              </a:ext>
            </a:extLst>
          </p:cNvPr>
          <p:cNvSpPr>
            <a:spLocks noGrp="1"/>
          </p:cNvSpPr>
          <p:nvPr>
            <p:ph type="title"/>
          </p:nvPr>
        </p:nvSpPr>
        <p:spPr>
          <a:xfrm>
            <a:off x="476213" y="-181"/>
            <a:ext cx="11430079" cy="836613"/>
          </a:xfrm>
        </p:spPr>
        <p:txBody>
          <a:bodyPr/>
          <a:lstStyle/>
          <a:p>
            <a:r>
              <a:rPr lang="pl-PL" err="1"/>
              <a:t>Explicit</a:t>
            </a:r>
            <a:r>
              <a:rPr lang="pl-PL"/>
              <a:t> vs </a:t>
            </a:r>
            <a:r>
              <a:rPr lang="pl-PL" err="1"/>
              <a:t>implicit</a:t>
            </a:r>
            <a:r>
              <a:rPr lang="pl-PL"/>
              <a:t> </a:t>
            </a:r>
            <a:r>
              <a:rPr lang="pl-PL" err="1"/>
              <a:t>distribution</a:t>
            </a:r>
            <a:r>
              <a:rPr lang="pl-PL"/>
              <a:t> </a:t>
            </a:r>
            <a:r>
              <a:rPr lang="pl-PL" err="1"/>
              <a:t>flexibility</a:t>
            </a:r>
            <a:endParaRPr lang="nl-BE"/>
          </a:p>
        </p:txBody>
      </p:sp>
      <p:sp>
        <p:nvSpPr>
          <p:cNvPr id="5" name="pole tekstowe 4">
            <a:extLst>
              <a:ext uri="{FF2B5EF4-FFF2-40B4-BE49-F238E27FC236}">
                <a16:creationId xmlns:a16="http://schemas.microsoft.com/office/drawing/2014/main" id="{13A646A6-6A0F-4741-4643-922641A6FC6A}"/>
              </a:ext>
            </a:extLst>
          </p:cNvPr>
          <p:cNvSpPr txBox="1"/>
          <p:nvPr/>
        </p:nvSpPr>
        <p:spPr>
          <a:xfrm>
            <a:off x="5398367" y="6357830"/>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BE" sz="1000">
                <a:solidFill>
                  <a:srgbClr val="7B89CB"/>
                </a:solidFill>
                <a:latin typeface="Gill Sans MT"/>
              </a:rPr>
              <a:t>WP5 Meeting, </a:t>
            </a:r>
            <a:r>
              <a:rPr lang="pl-PL" sz="1000">
                <a:solidFill>
                  <a:srgbClr val="7B89CB"/>
                </a:solidFill>
                <a:latin typeface="Gill Sans MT"/>
              </a:rPr>
              <a:t>23</a:t>
            </a:r>
            <a:r>
              <a:rPr lang="nl-BE" sz="1000">
                <a:solidFill>
                  <a:srgbClr val="7B89CB"/>
                </a:solidFill>
                <a:latin typeface="Gill Sans MT"/>
              </a:rPr>
              <a:t>.0</a:t>
            </a:r>
            <a:r>
              <a:rPr lang="pl-PL" sz="1000">
                <a:solidFill>
                  <a:srgbClr val="7B89CB"/>
                </a:solidFill>
                <a:latin typeface="Gill Sans MT"/>
              </a:rPr>
              <a:t>9</a:t>
            </a:r>
            <a:r>
              <a:rPr lang="nl-BE" sz="1000">
                <a:solidFill>
                  <a:srgbClr val="7B89CB"/>
                </a:solidFill>
                <a:latin typeface="Gill Sans MT"/>
              </a:rPr>
              <a:t>.2025</a:t>
            </a:r>
            <a:r>
              <a:rPr lang="pl-PL" sz="1000">
                <a:latin typeface="Gill Sans MT"/>
              </a:rPr>
              <a:t>​</a:t>
            </a:r>
            <a:endParaRPr lang="pl-PL"/>
          </a:p>
        </p:txBody>
      </p:sp>
      <p:pic>
        <p:nvPicPr>
          <p:cNvPr id="8" name="Obraz 7"/>
          <p:cNvPicPr>
            <a:picLocks noChangeAspect="1"/>
          </p:cNvPicPr>
          <p:nvPr/>
        </p:nvPicPr>
        <p:blipFill>
          <a:blip r:embed="rId3"/>
          <a:stretch>
            <a:fillRect/>
          </a:stretch>
        </p:blipFill>
        <p:spPr>
          <a:xfrm>
            <a:off x="2210885" y="770739"/>
            <a:ext cx="8455186" cy="5106488"/>
          </a:xfrm>
          <a:prstGeom prst="rect">
            <a:avLst/>
          </a:prstGeom>
        </p:spPr>
      </p:pic>
      <p:sp>
        <p:nvSpPr>
          <p:cNvPr id="9" name="Prostokąt 8"/>
          <p:cNvSpPr/>
          <p:nvPr/>
        </p:nvSpPr>
        <p:spPr>
          <a:xfrm>
            <a:off x="3424176" y="5877227"/>
            <a:ext cx="7552481" cy="276999"/>
          </a:xfrm>
          <a:prstGeom prst="rect">
            <a:avLst/>
          </a:prstGeom>
        </p:spPr>
        <p:txBody>
          <a:bodyPr wrap="square">
            <a:spAutoFit/>
          </a:bodyPr>
          <a:lstStyle/>
          <a:p>
            <a:r>
              <a:rPr lang="pl-PL" sz="1200"/>
              <a:t>Source: https://www.usef.energy/app/uploads/2021/05/USEF-The-Framework-Explained-update-2021.pdf</a:t>
            </a:r>
          </a:p>
        </p:txBody>
      </p:sp>
    </p:spTree>
    <p:extLst>
      <p:ext uri="{BB962C8B-B14F-4D97-AF65-F5344CB8AC3E}">
        <p14:creationId xmlns:p14="http://schemas.microsoft.com/office/powerpoint/2010/main" val="535164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86AC56-96FD-8B79-7EBF-B474D3F7EDD3}"/>
              </a:ext>
            </a:extLst>
          </p:cNvPr>
          <p:cNvSpPr>
            <a:spLocks noGrp="1"/>
          </p:cNvSpPr>
          <p:nvPr>
            <p:ph type="title"/>
          </p:nvPr>
        </p:nvSpPr>
        <p:spPr>
          <a:xfrm>
            <a:off x="406765" y="312335"/>
            <a:ext cx="11430079" cy="836613"/>
          </a:xfrm>
        </p:spPr>
        <p:txBody>
          <a:bodyPr/>
          <a:lstStyle/>
          <a:p>
            <a:r>
              <a:rPr lang="pl-PL" err="1"/>
              <a:t>Markets</a:t>
            </a:r>
            <a:r>
              <a:rPr lang="pl-PL"/>
              <a:t> </a:t>
            </a:r>
            <a:r>
              <a:rPr lang="pl-PL" err="1"/>
              <a:t>indicated</a:t>
            </a:r>
            <a:r>
              <a:rPr lang="pl-PL"/>
              <a:t> by </a:t>
            </a:r>
            <a:r>
              <a:rPr lang="pl-PL" err="1"/>
              <a:t>pilots</a:t>
            </a:r>
            <a:r>
              <a:rPr lang="pl-PL"/>
              <a:t> for trading manager - </a:t>
            </a:r>
            <a:r>
              <a:rPr lang="pl-PL" err="1"/>
              <a:t>summary</a:t>
            </a:r>
            <a:endParaRPr lang="nl-BE"/>
          </a:p>
        </p:txBody>
      </p:sp>
      <p:sp>
        <p:nvSpPr>
          <p:cNvPr id="5" name="pole tekstowe 4">
            <a:extLst>
              <a:ext uri="{FF2B5EF4-FFF2-40B4-BE49-F238E27FC236}">
                <a16:creationId xmlns:a16="http://schemas.microsoft.com/office/drawing/2014/main" id="{13A646A6-6A0F-4741-4643-922641A6FC6A}"/>
              </a:ext>
            </a:extLst>
          </p:cNvPr>
          <p:cNvSpPr txBox="1"/>
          <p:nvPr/>
        </p:nvSpPr>
        <p:spPr>
          <a:xfrm>
            <a:off x="5398367" y="6357830"/>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BE" sz="1000">
                <a:solidFill>
                  <a:srgbClr val="7B89CB"/>
                </a:solidFill>
                <a:latin typeface="Gill Sans MT"/>
              </a:rPr>
              <a:t>WP5 Meeting, </a:t>
            </a:r>
            <a:r>
              <a:rPr lang="pl-PL" sz="1000">
                <a:solidFill>
                  <a:srgbClr val="7B89CB"/>
                </a:solidFill>
                <a:latin typeface="Gill Sans MT"/>
              </a:rPr>
              <a:t>23</a:t>
            </a:r>
            <a:r>
              <a:rPr lang="nl-BE" sz="1000">
                <a:solidFill>
                  <a:srgbClr val="7B89CB"/>
                </a:solidFill>
                <a:latin typeface="Gill Sans MT"/>
              </a:rPr>
              <a:t>.0</a:t>
            </a:r>
            <a:r>
              <a:rPr lang="pl-PL" sz="1000">
                <a:solidFill>
                  <a:srgbClr val="7B89CB"/>
                </a:solidFill>
                <a:latin typeface="Gill Sans MT"/>
              </a:rPr>
              <a:t>9</a:t>
            </a:r>
            <a:r>
              <a:rPr lang="nl-BE" sz="1000">
                <a:solidFill>
                  <a:srgbClr val="7B89CB"/>
                </a:solidFill>
                <a:latin typeface="Gill Sans MT"/>
              </a:rPr>
              <a:t>.2025</a:t>
            </a:r>
            <a:r>
              <a:rPr lang="pl-PL" sz="1000">
                <a:latin typeface="Gill Sans MT"/>
              </a:rPr>
              <a:t>​</a:t>
            </a:r>
            <a:endParaRPr lang="pl-PL"/>
          </a:p>
        </p:txBody>
      </p:sp>
      <p:sp>
        <p:nvSpPr>
          <p:cNvPr id="6" name="Tijdelijke aanduiding voor inhoud 2">
            <a:extLst>
              <a:ext uri="{FF2B5EF4-FFF2-40B4-BE49-F238E27FC236}">
                <a16:creationId xmlns:a16="http://schemas.microsoft.com/office/drawing/2014/main" id="{C50EC5E9-5E7A-150A-A9A2-626FBA1FFC07}"/>
              </a:ext>
            </a:extLst>
          </p:cNvPr>
          <p:cNvSpPr>
            <a:spLocks noGrp="1"/>
          </p:cNvSpPr>
          <p:nvPr>
            <p:ph idx="1"/>
          </p:nvPr>
        </p:nvSpPr>
        <p:spPr>
          <a:xfrm>
            <a:off x="476211" y="1359878"/>
            <a:ext cx="11400407" cy="4594873"/>
          </a:xfrm>
        </p:spPr>
        <p:txBody>
          <a:bodyPr/>
          <a:lstStyle/>
          <a:p>
            <a:r>
              <a:rPr lang="pl-PL" sz="2800" b="1" err="1">
                <a:solidFill>
                  <a:schemeClr val="accent2"/>
                </a:solidFill>
              </a:rPr>
              <a:t>Implicit</a:t>
            </a:r>
            <a:r>
              <a:rPr lang="pl-PL" sz="2800">
                <a:effectLst/>
              </a:rPr>
              <a:t> </a:t>
            </a:r>
            <a:r>
              <a:rPr lang="pl-PL" sz="2800" err="1">
                <a:effectLst/>
              </a:rPr>
              <a:t>distribution</a:t>
            </a:r>
            <a:r>
              <a:rPr lang="pl-PL" sz="2800">
                <a:effectLst/>
              </a:rPr>
              <a:t> </a:t>
            </a:r>
            <a:r>
              <a:rPr lang="pl-PL" sz="2800" err="1">
                <a:effectLst/>
              </a:rPr>
              <a:t>flexibility</a:t>
            </a:r>
            <a:endParaRPr lang="pl-PL" sz="2800">
              <a:effectLst/>
            </a:endParaRPr>
          </a:p>
          <a:p>
            <a:pPr lvl="1"/>
            <a:r>
              <a:rPr lang="pl-PL" sz="2400" err="1"/>
              <a:t>ToU</a:t>
            </a:r>
            <a:r>
              <a:rPr lang="pl-PL" sz="2400"/>
              <a:t> </a:t>
            </a:r>
            <a:r>
              <a:rPr lang="pl-PL" sz="2400" err="1"/>
              <a:t>optimization</a:t>
            </a:r>
            <a:r>
              <a:rPr lang="pl-PL" sz="2400"/>
              <a:t> </a:t>
            </a:r>
          </a:p>
          <a:p>
            <a:pPr lvl="2"/>
            <a:r>
              <a:rPr lang="pl-PL" sz="2400"/>
              <a:t>AMB</a:t>
            </a:r>
          </a:p>
          <a:p>
            <a:pPr lvl="2"/>
            <a:r>
              <a:rPr lang="pl-PL" sz="2400" err="1"/>
              <a:t>WeSmart</a:t>
            </a:r>
            <a:r>
              <a:rPr lang="pl-PL" sz="2400"/>
              <a:t> (with test of </a:t>
            </a:r>
            <a:r>
              <a:rPr lang="pl-PL" sz="2400" err="1"/>
              <a:t>Interconnect</a:t>
            </a:r>
            <a:r>
              <a:rPr lang="pl-PL" sz="2400"/>
              <a:t> DSO </a:t>
            </a:r>
            <a:r>
              <a:rPr lang="pl-PL" sz="2400" err="1"/>
              <a:t>interface</a:t>
            </a:r>
            <a:r>
              <a:rPr lang="pl-PL" sz="2400"/>
              <a:t>) </a:t>
            </a:r>
          </a:p>
          <a:p>
            <a:pPr lvl="2"/>
            <a:r>
              <a:rPr lang="pl-PL" sz="2400"/>
              <a:t>EWH</a:t>
            </a:r>
          </a:p>
          <a:p>
            <a:pPr marL="0" indent="0">
              <a:buNone/>
            </a:pPr>
            <a:br>
              <a:rPr lang="en-GB">
                <a:effectLst/>
              </a:rPr>
            </a:br>
            <a:endParaRPr lang="en-GB"/>
          </a:p>
          <a:p>
            <a:endParaRPr lang="nl-BE"/>
          </a:p>
          <a:p>
            <a:pPr marL="0" indent="0">
              <a:buNone/>
            </a:pPr>
            <a:endParaRPr lang="nl-BE"/>
          </a:p>
        </p:txBody>
      </p:sp>
    </p:spTree>
    <p:extLst>
      <p:ext uri="{BB962C8B-B14F-4D97-AF65-F5344CB8AC3E}">
        <p14:creationId xmlns:p14="http://schemas.microsoft.com/office/powerpoint/2010/main" val="14382067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86AC56-96FD-8B79-7EBF-B474D3F7EDD3}"/>
              </a:ext>
            </a:extLst>
          </p:cNvPr>
          <p:cNvSpPr>
            <a:spLocks noGrp="1"/>
          </p:cNvSpPr>
          <p:nvPr>
            <p:ph type="title"/>
          </p:nvPr>
        </p:nvSpPr>
        <p:spPr>
          <a:xfrm>
            <a:off x="406765" y="312335"/>
            <a:ext cx="11430079" cy="836613"/>
          </a:xfrm>
        </p:spPr>
        <p:txBody>
          <a:bodyPr/>
          <a:lstStyle/>
          <a:p>
            <a:r>
              <a:rPr lang="pl-PL" err="1"/>
              <a:t>Markets</a:t>
            </a:r>
            <a:r>
              <a:rPr lang="pl-PL"/>
              <a:t> </a:t>
            </a:r>
            <a:r>
              <a:rPr lang="pl-PL" err="1"/>
              <a:t>indicated</a:t>
            </a:r>
            <a:r>
              <a:rPr lang="pl-PL"/>
              <a:t> by </a:t>
            </a:r>
            <a:r>
              <a:rPr lang="pl-PL" err="1"/>
              <a:t>pilots</a:t>
            </a:r>
            <a:r>
              <a:rPr lang="pl-PL"/>
              <a:t> for trading manager - </a:t>
            </a:r>
            <a:r>
              <a:rPr lang="pl-PL" err="1"/>
              <a:t>summary</a:t>
            </a:r>
            <a:endParaRPr lang="nl-BE"/>
          </a:p>
        </p:txBody>
      </p:sp>
      <p:sp>
        <p:nvSpPr>
          <p:cNvPr id="5" name="pole tekstowe 4">
            <a:extLst>
              <a:ext uri="{FF2B5EF4-FFF2-40B4-BE49-F238E27FC236}">
                <a16:creationId xmlns:a16="http://schemas.microsoft.com/office/drawing/2014/main" id="{13A646A6-6A0F-4741-4643-922641A6FC6A}"/>
              </a:ext>
            </a:extLst>
          </p:cNvPr>
          <p:cNvSpPr txBox="1"/>
          <p:nvPr/>
        </p:nvSpPr>
        <p:spPr>
          <a:xfrm>
            <a:off x="5398367" y="6357830"/>
            <a:ext cx="2743200"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nl-BE" sz="1000">
                <a:solidFill>
                  <a:srgbClr val="7B89CB"/>
                </a:solidFill>
                <a:latin typeface="Gill Sans MT"/>
              </a:rPr>
              <a:t>WP5 Meeting, </a:t>
            </a:r>
            <a:r>
              <a:rPr lang="pl-PL" sz="1000">
                <a:solidFill>
                  <a:srgbClr val="7B89CB"/>
                </a:solidFill>
                <a:latin typeface="Gill Sans MT"/>
              </a:rPr>
              <a:t>23</a:t>
            </a:r>
            <a:r>
              <a:rPr lang="nl-BE" sz="1000">
                <a:solidFill>
                  <a:srgbClr val="7B89CB"/>
                </a:solidFill>
                <a:latin typeface="Gill Sans MT"/>
              </a:rPr>
              <a:t>.0</a:t>
            </a:r>
            <a:r>
              <a:rPr lang="pl-PL" sz="1000">
                <a:solidFill>
                  <a:srgbClr val="7B89CB"/>
                </a:solidFill>
                <a:latin typeface="Gill Sans MT"/>
              </a:rPr>
              <a:t>9</a:t>
            </a:r>
            <a:r>
              <a:rPr lang="nl-BE" sz="1000">
                <a:solidFill>
                  <a:srgbClr val="7B89CB"/>
                </a:solidFill>
                <a:latin typeface="Gill Sans MT"/>
              </a:rPr>
              <a:t>.2025</a:t>
            </a:r>
            <a:r>
              <a:rPr lang="pl-PL" sz="1000">
                <a:latin typeface="Gill Sans MT"/>
              </a:rPr>
              <a:t>​</a:t>
            </a:r>
            <a:endParaRPr lang="pl-PL"/>
          </a:p>
        </p:txBody>
      </p:sp>
      <p:sp>
        <p:nvSpPr>
          <p:cNvPr id="6" name="Tijdelijke aanduiding voor inhoud 2">
            <a:extLst>
              <a:ext uri="{FF2B5EF4-FFF2-40B4-BE49-F238E27FC236}">
                <a16:creationId xmlns:a16="http://schemas.microsoft.com/office/drawing/2014/main" id="{C50EC5E9-5E7A-150A-A9A2-626FBA1FFC07}"/>
              </a:ext>
            </a:extLst>
          </p:cNvPr>
          <p:cNvSpPr>
            <a:spLocks noGrp="1"/>
          </p:cNvSpPr>
          <p:nvPr>
            <p:ph idx="1"/>
          </p:nvPr>
        </p:nvSpPr>
        <p:spPr>
          <a:xfrm>
            <a:off x="476211" y="1359878"/>
            <a:ext cx="11400407" cy="4594873"/>
          </a:xfrm>
        </p:spPr>
        <p:txBody>
          <a:bodyPr/>
          <a:lstStyle/>
          <a:p>
            <a:r>
              <a:rPr lang="pl-PL" sz="2800" b="1" err="1">
                <a:solidFill>
                  <a:schemeClr val="accent2"/>
                </a:solidFill>
              </a:rPr>
              <a:t>Explicit</a:t>
            </a:r>
            <a:r>
              <a:rPr lang="pl-PL" sz="2800">
                <a:effectLst/>
              </a:rPr>
              <a:t> </a:t>
            </a:r>
            <a:r>
              <a:rPr lang="pl-PL" sz="2800" err="1">
                <a:effectLst/>
              </a:rPr>
              <a:t>distribution</a:t>
            </a:r>
            <a:r>
              <a:rPr lang="pl-PL" sz="2800">
                <a:effectLst/>
              </a:rPr>
              <a:t> </a:t>
            </a:r>
            <a:r>
              <a:rPr lang="pl-PL" sz="2800" err="1">
                <a:effectLst/>
              </a:rPr>
              <a:t>flexibility</a:t>
            </a:r>
            <a:endParaRPr lang="pl-PL" sz="2800">
              <a:effectLst/>
            </a:endParaRPr>
          </a:p>
          <a:p>
            <a:pPr lvl="1"/>
            <a:r>
              <a:rPr lang="pl-PL" sz="2400"/>
              <a:t>Day-</a:t>
            </a:r>
            <a:r>
              <a:rPr lang="pl-PL" sz="2400" err="1"/>
              <a:t>ahead</a:t>
            </a:r>
            <a:r>
              <a:rPr lang="pl-PL" sz="2400"/>
              <a:t> </a:t>
            </a:r>
            <a:r>
              <a:rPr lang="pl-PL" sz="2400" err="1"/>
              <a:t>optimization</a:t>
            </a:r>
            <a:r>
              <a:rPr lang="pl-PL" sz="2400"/>
              <a:t> </a:t>
            </a:r>
          </a:p>
          <a:p>
            <a:pPr lvl="2"/>
            <a:r>
              <a:rPr lang="pl-PL" sz="2400" err="1">
                <a:effectLst/>
              </a:rPr>
              <a:t>WeSmart</a:t>
            </a:r>
            <a:endParaRPr lang="pl-PL" sz="2400">
              <a:effectLst/>
            </a:endParaRPr>
          </a:p>
          <a:p>
            <a:pPr lvl="2"/>
            <a:r>
              <a:rPr lang="pl-PL" sz="2400"/>
              <a:t>ENK </a:t>
            </a:r>
            <a:r>
              <a:rPr lang="pl-PL" sz="2400" err="1"/>
              <a:t>Enlion</a:t>
            </a:r>
            <a:endParaRPr lang="pl-PL" sz="2400"/>
          </a:p>
          <a:p>
            <a:pPr lvl="1"/>
            <a:r>
              <a:rPr lang="pl-PL" sz="2400" err="1"/>
              <a:t>Intraday</a:t>
            </a:r>
            <a:r>
              <a:rPr lang="pl-PL" sz="2400"/>
              <a:t> </a:t>
            </a:r>
            <a:r>
              <a:rPr lang="pl-PL" sz="2400" err="1"/>
              <a:t>optimization</a:t>
            </a:r>
            <a:r>
              <a:rPr lang="pl-PL" sz="2400"/>
              <a:t> </a:t>
            </a:r>
          </a:p>
          <a:p>
            <a:pPr lvl="2"/>
            <a:r>
              <a:rPr lang="pl-PL" sz="2400"/>
              <a:t>AMB (2 </a:t>
            </a:r>
            <a:r>
              <a:rPr lang="pl-PL" sz="2400" err="1"/>
              <a:t>intraday</a:t>
            </a:r>
            <a:r>
              <a:rPr lang="pl-PL" sz="2400"/>
              <a:t> </a:t>
            </a:r>
            <a:r>
              <a:rPr lang="pl-PL" sz="2400" err="1"/>
              <a:t>markets</a:t>
            </a:r>
            <a:r>
              <a:rPr lang="pl-PL" sz="2400"/>
              <a:t>)</a:t>
            </a:r>
          </a:p>
          <a:p>
            <a:pPr lvl="2"/>
            <a:r>
              <a:rPr lang="pl-PL" sz="2400"/>
              <a:t>ENK </a:t>
            </a:r>
            <a:r>
              <a:rPr lang="pl-PL" sz="2400" err="1"/>
              <a:t>Enlion</a:t>
            </a:r>
            <a:endParaRPr lang="pl-PL" sz="2400"/>
          </a:p>
          <a:p>
            <a:pPr lvl="1"/>
            <a:r>
              <a:rPr lang="pl-PL" sz="2400" err="1"/>
              <a:t>Grid</a:t>
            </a:r>
            <a:r>
              <a:rPr lang="pl-PL" sz="2400"/>
              <a:t> </a:t>
            </a:r>
            <a:r>
              <a:rPr lang="pl-PL" sz="2400" err="1"/>
              <a:t>capacity</a:t>
            </a:r>
            <a:r>
              <a:rPr lang="pl-PL" sz="2400"/>
              <a:t> management</a:t>
            </a:r>
          </a:p>
          <a:p>
            <a:pPr lvl="2"/>
            <a:r>
              <a:rPr lang="pl-PL" sz="2400"/>
              <a:t>AMB</a:t>
            </a:r>
          </a:p>
          <a:p>
            <a:pPr lvl="2"/>
            <a:r>
              <a:rPr lang="pl-PL" sz="2400"/>
              <a:t>Enea Operator </a:t>
            </a:r>
            <a:r>
              <a:rPr lang="pl-PL" sz="2400" err="1"/>
              <a:t>Grid</a:t>
            </a:r>
            <a:endParaRPr lang="pl-PL" sz="2400"/>
          </a:p>
          <a:p>
            <a:pPr marL="0" indent="0">
              <a:buNone/>
            </a:pPr>
            <a:br>
              <a:rPr lang="en-GB">
                <a:effectLst/>
              </a:rPr>
            </a:br>
            <a:endParaRPr lang="en-GB"/>
          </a:p>
          <a:p>
            <a:endParaRPr lang="nl-BE"/>
          </a:p>
          <a:p>
            <a:pPr marL="0" indent="0">
              <a:buNone/>
            </a:pPr>
            <a:endParaRPr lang="nl-BE"/>
          </a:p>
        </p:txBody>
      </p:sp>
    </p:spTree>
    <p:extLst>
      <p:ext uri="{BB962C8B-B14F-4D97-AF65-F5344CB8AC3E}">
        <p14:creationId xmlns:p14="http://schemas.microsoft.com/office/powerpoint/2010/main" val="23701223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2236280" y="1249148"/>
            <a:ext cx="7772400" cy="1780813"/>
          </a:xfrm>
        </p:spPr>
        <p:txBody>
          <a:bodyPr anchor="b"/>
          <a:lstStyle/>
          <a:p>
            <a:pPr>
              <a:lnSpc>
                <a:spcPct val="80000"/>
              </a:lnSpc>
            </a:pPr>
            <a:r>
              <a:rPr lang="en-US" sz="6000"/>
              <a:t>Thank you!</a:t>
            </a:r>
            <a:br>
              <a:rPr lang="en-US" sz="6000"/>
            </a:br>
            <a:r>
              <a:rPr lang="en-US" sz="6000"/>
              <a:t>Any questions?</a:t>
            </a:r>
          </a:p>
        </p:txBody>
      </p:sp>
      <p:sp>
        <p:nvSpPr>
          <p:cNvPr id="2" name="Footer Placeholder 1">
            <a:extLst>
              <a:ext uri="{FF2B5EF4-FFF2-40B4-BE49-F238E27FC236}">
                <a16:creationId xmlns:a16="http://schemas.microsoft.com/office/drawing/2014/main" id="{6943F6AE-46F6-E87B-2C52-814676C24767}"/>
              </a:ext>
            </a:extLst>
          </p:cNvPr>
          <p:cNvSpPr>
            <a:spLocks noGrp="1"/>
          </p:cNvSpPr>
          <p:nvPr>
            <p:ph type="ftr" sz="quarter" idx="10"/>
          </p:nvPr>
        </p:nvSpPr>
        <p:spPr>
          <a:xfrm>
            <a:off x="1692993" y="6198698"/>
            <a:ext cx="9394108" cy="406400"/>
          </a:xfrm>
        </p:spPr>
        <p:txBody>
          <a:bodyPr/>
          <a:lstStyle/>
          <a:p>
            <a:pPr>
              <a:defRPr/>
            </a:pPr>
            <a:r>
              <a:rPr lang="nl-BE"/>
              <a:t>C. Develder, et al., "Home Energy Management in the context of consumer-centric power systems", Daikin TIC, Osaka, Japan, 30 Oct. 2024</a:t>
            </a:r>
            <a:endParaRPr lang="en-US"/>
          </a:p>
        </p:txBody>
      </p:sp>
      <p:sp>
        <p:nvSpPr>
          <p:cNvPr id="3" name="Symbol zastępczy tekstu 2"/>
          <p:cNvSpPr>
            <a:spLocks noGrp="1"/>
          </p:cNvSpPr>
          <p:nvPr>
            <p:ph type="body" idx="1"/>
          </p:nvPr>
        </p:nvSpPr>
        <p:spPr/>
        <p:txBody>
          <a:bodyPr/>
          <a:lstStyle/>
          <a:p>
            <a:endParaRPr lang="pl-PL"/>
          </a:p>
        </p:txBody>
      </p:sp>
    </p:spTree>
    <p:extLst>
      <p:ext uri="{BB962C8B-B14F-4D97-AF65-F5344CB8AC3E}">
        <p14:creationId xmlns:p14="http://schemas.microsoft.com/office/powerpoint/2010/main" val="1189421481"/>
      </p:ext>
    </p:extLst>
  </p:cSld>
  <p:clrMapOvr>
    <a:masterClrMapping/>
  </p:clrMapOvr>
</p:sld>
</file>

<file path=ppt/theme/theme1.xml><?xml version="1.0" encoding="utf-8"?>
<a:theme xmlns:a="http://schemas.openxmlformats.org/drawingml/2006/main" name="Presentation">
  <a:themeElements>
    <a:clrScheme name="BlueBird">
      <a:dk1>
        <a:srgbClr val="000000"/>
      </a:dk1>
      <a:lt1>
        <a:srgbClr val="FFFFFF"/>
      </a:lt1>
      <a:dk2>
        <a:srgbClr val="000000"/>
      </a:dk2>
      <a:lt2>
        <a:srgbClr val="808080"/>
      </a:lt2>
      <a:accent1>
        <a:srgbClr val="277E51"/>
      </a:accent1>
      <a:accent2>
        <a:srgbClr val="394992"/>
      </a:accent2>
      <a:accent3>
        <a:srgbClr val="C00000"/>
      </a:accent3>
      <a:accent4>
        <a:srgbClr val="FAC05E"/>
      </a:accent4>
      <a:accent5>
        <a:srgbClr val="75B594"/>
      </a:accent5>
      <a:accent6>
        <a:srgbClr val="5D3612"/>
      </a:accent6>
      <a:hlink>
        <a:srgbClr val="394992"/>
      </a:hlink>
      <a:folHlink>
        <a:srgbClr val="394992"/>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Presentation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Presentation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Presentation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Presentation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Presentation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Presentation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Presentation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
      <a:clrScheme name="Presentation 11">
        <a:dk1>
          <a:srgbClr val="000000"/>
        </a:dk1>
        <a:lt1>
          <a:srgbClr val="FFFFFF"/>
        </a:lt1>
        <a:dk2>
          <a:srgbClr val="CC00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Presentation 12">
        <a:dk1>
          <a:srgbClr val="000000"/>
        </a:dk1>
        <a:lt1>
          <a:srgbClr val="FFFFFF"/>
        </a:lt1>
        <a:dk2>
          <a:srgbClr val="CC0066"/>
        </a:dk2>
        <a:lt2>
          <a:srgbClr val="BFB5B3"/>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Presentation 13">
        <a:dk1>
          <a:srgbClr val="000000"/>
        </a:dk1>
        <a:lt1>
          <a:srgbClr val="FFFFFF"/>
        </a:lt1>
        <a:dk2>
          <a:srgbClr val="CC0066"/>
        </a:dk2>
        <a:lt2>
          <a:srgbClr val="BFB5B3"/>
        </a:lt2>
        <a:accent1>
          <a:srgbClr val="97CDCC"/>
        </a:accent1>
        <a:accent2>
          <a:srgbClr val="D6E0E0"/>
        </a:accent2>
        <a:accent3>
          <a:srgbClr val="FFFFFF"/>
        </a:accent3>
        <a:accent4>
          <a:srgbClr val="000000"/>
        </a:accent4>
        <a:accent5>
          <a:srgbClr val="C9E3E2"/>
        </a:accent5>
        <a:accent6>
          <a:srgbClr val="C2CBCB"/>
        </a:accent6>
        <a:hlink>
          <a:srgbClr val="BED649"/>
        </a:hlink>
        <a:folHlink>
          <a:srgbClr val="8EA325"/>
        </a:folHlink>
      </a:clrScheme>
      <a:clrMap bg1="lt1" tx1="dk1" bg2="lt2" tx2="dk2" accent1="accent1" accent2="accent2" accent3="accent3" accent4="accent4" accent5="accent5" accent6="accent6" hlink="hlink" folHlink="folHlink"/>
    </a:extraClrScheme>
    <a:extraClrScheme>
      <a:clrScheme name="Presentation 14">
        <a:dk1>
          <a:srgbClr val="000000"/>
        </a:dk1>
        <a:lt1>
          <a:srgbClr val="FFFFFF"/>
        </a:lt1>
        <a:dk2>
          <a:srgbClr val="CC0066"/>
        </a:dk2>
        <a:lt2>
          <a:srgbClr val="BFB5B3"/>
        </a:lt2>
        <a:accent1>
          <a:srgbClr val="BED649"/>
        </a:accent1>
        <a:accent2>
          <a:srgbClr val="FF3300"/>
        </a:accent2>
        <a:accent3>
          <a:srgbClr val="FFFFFF"/>
        </a:accent3>
        <a:accent4>
          <a:srgbClr val="000000"/>
        </a:accent4>
        <a:accent5>
          <a:srgbClr val="DBE8B1"/>
        </a:accent5>
        <a:accent6>
          <a:srgbClr val="E72D00"/>
        </a:accent6>
        <a:hlink>
          <a:srgbClr val="CC0066"/>
        </a:hlink>
        <a:folHlink>
          <a:srgbClr val="FF9900"/>
        </a:folHlink>
      </a:clrScheme>
      <a:clrMap bg1="lt1" tx1="dk1" bg2="lt2" tx2="dk2" accent1="accent1" accent2="accent2" accent3="accent3" accent4="accent4" accent5="accent5" accent6="accent6" hlink="hlink" folHlink="folHlink"/>
    </a:extraClrScheme>
    <a:extraClrScheme>
      <a:clrScheme name="Presentation 15">
        <a:dk1>
          <a:srgbClr val="000000"/>
        </a:dk1>
        <a:lt1>
          <a:srgbClr val="FFFFFF"/>
        </a:lt1>
        <a:dk2>
          <a:srgbClr val="D40056"/>
        </a:dk2>
        <a:lt2>
          <a:srgbClr val="BFB5B3"/>
        </a:lt2>
        <a:accent1>
          <a:srgbClr val="BED649"/>
        </a:accent1>
        <a:accent2>
          <a:srgbClr val="FF3300"/>
        </a:accent2>
        <a:accent3>
          <a:srgbClr val="FFFFFF"/>
        </a:accent3>
        <a:accent4>
          <a:srgbClr val="000000"/>
        </a:accent4>
        <a:accent5>
          <a:srgbClr val="DBE8B1"/>
        </a:accent5>
        <a:accent6>
          <a:srgbClr val="E72D00"/>
        </a:accent6>
        <a:hlink>
          <a:srgbClr val="C81E73"/>
        </a:hlink>
        <a:folHlink>
          <a:srgbClr val="FF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012D056080BC47A87695EC0204DC7E" ma:contentTypeVersion="12" ma:contentTypeDescription="Create a new document." ma:contentTypeScope="" ma:versionID="9c272e208818bc18d54797ce59aedcf3">
  <xsd:schema xmlns:xsd="http://www.w3.org/2001/XMLSchema" xmlns:xs="http://www.w3.org/2001/XMLSchema" xmlns:p="http://schemas.microsoft.com/office/2006/metadata/properties" xmlns:ns2="6eed4265-3024-4e76-939f-b50d44f98f45" xmlns:ns3="35fc29c8-c736-43f7-b2d0-7091e39bc605" targetNamespace="http://schemas.microsoft.com/office/2006/metadata/properties" ma:root="true" ma:fieldsID="8158cf7cf84d9ec443e081a650484ce3" ns2:_="" ns3:_="">
    <xsd:import namespace="6eed4265-3024-4e76-939f-b50d44f98f45"/>
    <xsd:import namespace="35fc29c8-c736-43f7-b2d0-7091e39bc60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ed4265-3024-4e76-939f-b50d44f98f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ece1a9e-e829-42a2-80ca-4303f8678dea"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5fc29c8-c736-43f7-b2d0-7091e39bc60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e68ac6d-c18a-43cc-96dd-008f92a2b2f5}" ma:internalName="TaxCatchAll" ma:showField="CatchAllData" ma:web="35fc29c8-c736-43f7-b2d0-7091e39bc60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eed4265-3024-4e76-939f-b50d44f98f45">
      <Terms xmlns="http://schemas.microsoft.com/office/infopath/2007/PartnerControls"/>
    </lcf76f155ced4ddcb4097134ff3c332f>
    <TaxCatchAll xmlns="35fc29c8-c736-43f7-b2d0-7091e39bc605" xsi:nil="true"/>
  </documentManagement>
</p:properties>
</file>

<file path=customXml/itemProps1.xml><?xml version="1.0" encoding="utf-8"?>
<ds:datastoreItem xmlns:ds="http://schemas.openxmlformats.org/officeDocument/2006/customXml" ds:itemID="{E9F5DC6B-A991-4DD6-8B04-0AD27099D617}">
  <ds:schemaRefs>
    <ds:schemaRef ds:uri="http://schemas.microsoft.com/sharepoint/v3/contenttype/forms"/>
  </ds:schemaRefs>
</ds:datastoreItem>
</file>

<file path=customXml/itemProps2.xml><?xml version="1.0" encoding="utf-8"?>
<ds:datastoreItem xmlns:ds="http://schemas.openxmlformats.org/officeDocument/2006/customXml" ds:itemID="{C373C59A-E2B6-45A4-8702-81F121B0C081}">
  <ds:schemaRefs>
    <ds:schemaRef ds:uri="35fc29c8-c736-43f7-b2d0-7091e39bc605"/>
    <ds:schemaRef ds:uri="6eed4265-3024-4e76-939f-b50d44f98f4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2978897-EC20-4B14-918E-1C1FAC289895}">
  <ds:schemaRefs>
    <ds:schemaRef ds:uri="35fc29c8-c736-43f7-b2d0-7091e39bc605"/>
    <ds:schemaRef ds:uri="6eed4265-3024-4e76-939f-b50d44f98f45"/>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6c04a875-6eb2-484b-a14b-e2519851b720}" enabled="1" method="Standard" siteId="{14cb4ab4-62b8-45a2-a944-e225383ee1f9}" removed="0"/>
</clbl:labelList>
</file>

<file path=docProps/app.xml><?xml version="1.0" encoding="utf-8"?>
<Properties xmlns="http://schemas.openxmlformats.org/officeDocument/2006/extended-properties" xmlns:vt="http://schemas.openxmlformats.org/officeDocument/2006/docPropsVTypes">
  <Template>Theme_UGent</Template>
  <Application>Microsoft Office PowerPoint</Application>
  <PresentationFormat>Widescreen</PresentationFormat>
  <Slides>23</Slides>
  <Notes>18</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Presentation</vt:lpstr>
      <vt:lpstr>WP5 – meeting</vt:lpstr>
      <vt:lpstr>WP5 – agenda</vt:lpstr>
      <vt:lpstr>WP5 - Timing &amp; Efforts</vt:lpstr>
      <vt:lpstr>WP5 – Work Plan - T5.1</vt:lpstr>
      <vt:lpstr>InterConnect DSO interface + Intoduction to the Knowledge Engine</vt:lpstr>
      <vt:lpstr>Short self-Introduction – Youssef Dahman</vt:lpstr>
      <vt:lpstr>Short Introduction of InterConnect – Greek pilot</vt:lpstr>
      <vt:lpstr>InterConnect DSO interface</vt:lpstr>
      <vt:lpstr>What is Knowledge Engine?</vt:lpstr>
      <vt:lpstr>Knowledge Engine introduction</vt:lpstr>
      <vt:lpstr>Knowledge Engine interactions</vt:lpstr>
      <vt:lpstr>RDF Graph pattern &amp; SAREF Ontology</vt:lpstr>
      <vt:lpstr>Thank you!</vt:lpstr>
      <vt:lpstr>PowerPoint Presentation</vt:lpstr>
      <vt:lpstr>WP5 – Work Plan - T5.2</vt:lpstr>
      <vt:lpstr>WP5 – Work Plan - T5.3</vt:lpstr>
      <vt:lpstr>WP5 – first proposition</vt:lpstr>
      <vt:lpstr>WP5 – next proposition</vt:lpstr>
      <vt:lpstr>WP5 – third proposition</vt:lpstr>
      <vt:lpstr>Explicit vs implicit distribution flexibility</vt:lpstr>
      <vt:lpstr>Markets indicated by pilots for trading manager - summary</vt:lpstr>
      <vt:lpstr>Markets indicated by pilots for trading manager - summary</vt:lpstr>
      <vt:lpstr>Thank you! Any questions?</vt:lpstr>
    </vt:vector>
  </TitlesOfParts>
  <Company>INTEC-UGENT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IBBT-UGent template simple</dc:title>
  <dc:creator>Chris Develder</dc:creator>
  <cp:revision>8</cp:revision>
  <cp:lastPrinted>2024-10-30T09:38:46Z</cp:lastPrinted>
  <dcterms:created xsi:type="dcterms:W3CDTF">2008-06-23T13:32:26Z</dcterms:created>
  <dcterms:modified xsi:type="dcterms:W3CDTF">2025-11-14T04:18:21Z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5</vt:i4>
  </property>
  <property fmtid="{D5CDD505-2E9C-101B-9397-08002B2CF9AE}" pid="3" name="ContentTypeId">
    <vt:lpwstr>0x01010038012D056080BC47A87695EC0204DC7E</vt:lpwstr>
  </property>
  <property fmtid="{D5CDD505-2E9C-101B-9397-08002B2CF9AE}" pid="4" name="MediaServiceImageTags">
    <vt:lpwstr/>
  </property>
</Properties>
</file>